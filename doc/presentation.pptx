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groupe et le sujet : une petite application Flask qui fabrique des factures d'offres de logement pour une commune refuge climatique, La Clusaz. Le fil rouge : la même donnée traverse plusieurs formats structurés.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le choix de la ville (doc/choix_de_la_ville.md) : altitude, beaucoup de logements saisonniers mobilisables, accès depuis les villes touchées par la chaleur. L'application se concentre sur la facture d'une offre de logement.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cœur du projet : une facture saisie dans un formulaire devient un objet JSON, est validée puis insérée dans SQLite, relue et convertie en XML, puis transformée en HTML par la feuille XSLT. Le second parcours remplace le formulaire par une description en texte libre envoyée au LLM ILaaS, qui renvoie un JSON validé par le même schéma.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tables. On a factorisé les adresses dans une seule table. La facture a pour clé son numéro (FAC-…), le logement sa référence (LOG-…). Les lignes de facture font le pont entre une facture et le logement concerné.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contraintes CHECK protègent la base même si un appel contournait la validation applicative : montants positifs, valeur de meublé limitée à oui ou non, usage du téléphone limité à personnel, professionnel ou mobile, et un téléphone rattaché à une seule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graphe montre l'exemple FAC-001. Liens sémantiques : émise par, destinée à, adresse, situé à. Composition : la facture contient l'offre, les lignes et le total. Références : chaque ligne pointe vers le logement. Les lignes se suivent (suivant / précédent). Le lien pointillé indique que l'agence et le logement sont dans la même ville, La Clusaz.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valider_facture() lit le schéma JSON, contrôle la date au format AAAA-MM-JJ, les références entre lignes et logements, puis compare le total calculé au total annoncé. inserer_facture() insère adresses, émetteur, client, téléphones, logements, facture et lignes dans une transaction : si une étape échoue, rien n'est enregistré.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Lancer l'application avant la présentation (make run) et garder le navigateur ouvert sur l'accueil. Prévoir la clé ILaaS exportée dans le terminal pour la partie Texte libre.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 formulaire, remplir un exemple proche de FAC-001 (Agence des Aravis, Élodie Martin, logement à 600 € + 50 € de charges + 200 € de dépôt). Pointer l'aperçu JSON qui se met à jour. Enregistrer et montrer la réponse avec les trois liens. Option : modifier le total pour montrer l'erreur 400 renvoyée par la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Depuis l'accueil, ouvrir les liens JSON, XML puis Voir la facture. Sur le XML, montrer l'instruction xml-stylesheet qui pointe vers /xslt/facture.xsl : le navigateur peut appliquer la transformation lui-même. La version .html fait la même transformation côté serveur avec lxml.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Texte libre, bouton Envoyer à ILaaS et enregistrer. ilaas.py construit la consigne avec le schéma et l'exemple facture.json, appelle l'API compatible OpenAI d'ILaaS, retire un éventuel bloc Markdown et parse le JSON. Ensuite on réutilise exactement inserer_facture : le LLM ne peut pas écrire dans la base sans passer la validation. Le JSON généré s'affiche dans la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ILaaS n'est nécessaire que pour la page Texte libre ; elle reste côté serveur et n'est jamais commitée. La base SQLite est créée dans src/server/instance/refuge_climatique.sqlite.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Conclure sur l'idée centrale : une seule source de vérité (SQLite) et plusieurs documents structurés produits à partir d'elle, avec une validation commune aux deux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A2630"/>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8280"/>
            <a:ext cx="10566400" cy="4086920"/>
          </a:xfrm>
          <a:prstGeom prst="rect">
            <a:avLst/>
          </a:prstGeom>
          <a:noFill/>
          <a:ln/>
        </p:spPr>
        <p:txBody>
          <a:bodyPr wrap="square" lIns="0" tIns="0" rIns="0" bIns="0" rtlCol="0" anchor="t"/>
          <a:lstStyle>
            <a:lvl1pPr algn="l" indent="0" marL="0">
              <a:lnSpc>
                <a:spcPct val="140000"/>
              </a:lnSpc>
              <a:buNone/>
              <a:defRPr lang="en-US" sz="1600" dirty="0">
                <a:solidFill>
                  <a:srgbClr val="1A263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A2630"/>
                </a:solidFill>
                <a:latin typeface="Arial" pitchFamily="34" charset="0"/>
                <a:ea typeface="Arial" pitchFamily="34" charset="-122"/>
                <a:cs typeface="Arial"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8280"/>
            <a:ext cx="10566400" cy="4086920"/>
          </a:xfrm>
          <a:prstGeom prst="rect">
            <a:avLst/>
          </a:prstGeom>
          <a:noFill/>
          <a:ln/>
        </p:spPr>
        <p:txBody>
          <a:bodyPr wrap="square" lIns="0" tIns="0" rIns="0" bIns="0" rtlCol="0" anchor="t"/>
          <a:lstStyle>
            <a:lvl1pPr algn="l" indent="0" marL="0">
              <a:lnSpc>
                <a:spcPct val="140000"/>
              </a:lnSpc>
              <a:buNone/>
              <a:defRPr lang="en-US" sz="1600" dirty="0">
                <a:solidFill>
                  <a:srgbClr val="1A263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webp"/><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FD1B5"/>
          </a:solidFill>
          <a:ln/>
        </p:spPr>
      </p:sp>
      <p:sp>
        <p:nvSpPr>
          <p:cNvPr id="3" name="Text 1"/>
          <p:cNvSpPr/>
          <p:nvPr/>
        </p:nvSpPr>
        <p:spPr>
          <a:xfrm>
            <a:off x="812800" y="196344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FD1B5"/>
                </a:solidFill>
                <a:latin typeface="Arial" pitchFamily="34" charset="0"/>
                <a:ea typeface="Arial" pitchFamily="34" charset="-122"/>
                <a:cs typeface="Arial" pitchFamily="34" charset="-120"/>
              </a:rPr>
              <a:t>DONNÉES ET DOCUMENTS STRUCTURÉS · PROJET DE GROUPE</a:t>
            </a:r>
            <a:endParaRPr lang="en-US" sz="1200" dirty="0"/>
          </a:p>
        </p:txBody>
      </p:sp>
      <p:sp>
        <p:nvSpPr>
          <p:cNvPr id="4" name="Text 2"/>
          <p:cNvSpPr/>
          <p:nvPr>
            <p:ph type="title"/>
          </p:nvPr>
        </p:nvSpPr>
        <p:spPr>
          <a:xfrm>
            <a:off x="812800" y="243076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3EE"/>
                </a:solidFill>
                <a:latin typeface="Arial" pitchFamily="34" charset="0"/>
                <a:ea typeface="Arial" pitchFamily="34" charset="-122"/>
                <a:cs typeface="Arial" pitchFamily="34" charset="-120"/>
              </a:rPr>
              <a:t>Refuge climatique</a:t>
            </a:r>
            <a:endParaRPr lang="en-US" sz="6000" dirty="0"/>
          </a:p>
        </p:txBody>
      </p:sp>
      <p:sp>
        <p:nvSpPr>
          <p:cNvPr id="5" name="Text 3"/>
          <p:cNvSpPr/>
          <p:nvPr/>
        </p:nvSpPr>
        <p:spPr>
          <a:xfrm>
            <a:off x="812800" y="3484860"/>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6CF"/>
                </a:solidFill>
                <a:latin typeface="Arial" pitchFamily="34" charset="0"/>
                <a:ea typeface="Arial" pitchFamily="34" charset="-122"/>
                <a:cs typeface="Arial" pitchFamily="34" charset="-120"/>
              </a:rPr>
              <a:t>Factures d'offres de logement à La Clusaz</a:t>
            </a:r>
            <a:endParaRPr lang="en-US" sz="2200" dirty="0"/>
          </a:p>
        </p:txBody>
      </p:sp>
      <p:sp>
        <p:nvSpPr>
          <p:cNvPr id="6" name="Text 4"/>
          <p:cNvSpPr/>
          <p:nvPr/>
        </p:nvSpPr>
        <p:spPr>
          <a:xfrm>
            <a:off x="812800" y="4102050"/>
            <a:ext cx="6015633" cy="589260"/>
          </a:xfrm>
          <a:prstGeom prst="roundRect">
            <a:avLst>
              <a:gd name="adj" fmla="val 12931"/>
            </a:avLst>
          </a:prstGeom>
          <a:solidFill>
            <a:srgbClr val="1E2F3D"/>
          </a:solidFill>
          <a:ln/>
        </p:spPr>
        <p:txBody>
          <a:bodyPr wrap="none" lIns="0" tIns="0" rIns="0" bIns="0" rtlCol="0" anchor="ctr">
            <a:normAutofit/>
          </a:bodyPr>
          <a:lstStyle/>
          <a:p>
            <a:pPr algn="ctr" indent="0" marL="0">
              <a:lnSpc>
                <a:spcPts val="2240"/>
              </a:lnSpc>
              <a:buNone/>
            </a:pPr>
            <a:r>
              <a:rPr lang="en-US" sz="1600" dirty="0">
                <a:solidFill>
                  <a:srgbClr val="F5F3EE"/>
                </a:solidFill>
                <a:latin typeface="Courier New" pitchFamily="49" charset="0"/>
                <a:ea typeface="Courier New" pitchFamily="49" charset="-122"/>
                <a:cs typeface="Courier New" pitchFamily="49" charset="-120"/>
              </a:rPr>
              <a:t>Formulaire → JSON → SQLite → XML → XSLT → HTML</a:t>
            </a:r>
            <a:endParaRPr lang="en-US" sz="16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AD"/>
                </a:solidFill>
                <a:latin typeface="Arial" pitchFamily="34" charset="0"/>
                <a:ea typeface="Arial" pitchFamily="34" charset="-122"/>
                <a:cs typeface="Arial" pitchFamily="34" charset="-120"/>
              </a:rPr>
              <a:t>Mohamed Benguezzou, Rayan La Monica, Giovanni Cinque, Jughurta Mehenni, Mohamed-Amine Benkacem · Octobre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6F5E"/>
                </a:solidFill>
                <a:latin typeface="Arial" pitchFamily="34" charset="0"/>
                <a:ea typeface="Arial" pitchFamily="34" charset="-122"/>
                <a:cs typeface="Arial" pitchFamily="34" charset="-120"/>
              </a:rPr>
              <a:t>CONTEXTE</a:t>
            </a:r>
            <a:endParaRPr lang="en-US" sz="1200" dirty="0"/>
          </a:p>
        </p:txBody>
      </p:sp>
      <p:sp>
        <p:nvSpPr>
          <p:cNvPr id="3" name="Text 1"/>
          <p:cNvSpPr/>
          <p:nvPr>
            <p:ph type="title"/>
          </p:nvPr>
        </p:nvSpPr>
        <p:spPr>
          <a:xfrm>
            <a:off x="812800" y="1127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A2630"/>
                </a:solidFill>
                <a:latin typeface="Arial" pitchFamily="34" charset="0"/>
                <a:ea typeface="Arial" pitchFamily="34" charset="-122"/>
                <a:cs typeface="Arial" pitchFamily="34" charset="-120"/>
              </a:rPr>
              <a:t>Une commune refuge climatique</a:t>
            </a:r>
            <a:endParaRPr lang="en-US" sz="3600" dirty="0"/>
          </a:p>
        </p:txBody>
      </p:sp>
      <p:sp>
        <p:nvSpPr>
          <p:cNvPr id="4" name="Text 2"/>
          <p:cNvSpPr/>
          <p:nvPr/>
        </p:nvSpPr>
        <p:spPr>
          <a:xfrm>
            <a:off x="812800" y="195828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0"/>
                </a:solidFill>
                <a:latin typeface="Arial" pitchFamily="34" charset="0"/>
                <a:ea typeface="Arial" pitchFamily="34" charset="-122"/>
                <a:cs typeface="Arial" pitchFamily="34" charset="-120"/>
              </a:rPr>
              <a:t>Pendant une canicule, des habitants d'Annecy, de Lyon ou d'ailleurs cherchent un logement plus frais. Les propriétaires de La Clusaz publient une offre, et l'application en produit la </a:t>
            </a:r>
            <a:r>
              <a:rPr lang="en-US" sz="1600" b="1" dirty="0">
                <a:solidFill>
                  <a:srgbClr val="4A5560"/>
                </a:solidFill>
                <a:latin typeface="Arial" pitchFamily="34" charset="0"/>
                <a:ea typeface="Arial" pitchFamily="34" charset="-122"/>
                <a:cs typeface="Arial" pitchFamily="34" charset="-120"/>
              </a:rPr>
              <a:t>facture</a:t>
            </a:r>
            <a:r>
              <a:rPr lang="en-US" sz="1600" dirty="0">
                <a:solidFill>
                  <a:srgbClr val="4A5560"/>
                </a:solidFill>
                <a:latin typeface="Arial" pitchFamily="34" charset="0"/>
                <a:ea typeface="Arial" pitchFamily="34" charset="-122"/>
                <a:cs typeface="Arial" pitchFamily="34" charset="-120"/>
              </a:rPr>
              <a:t>.</a:t>
            </a:r>
            <a:endParaRPr lang="en-US" sz="1600" dirty="0"/>
          </a:p>
        </p:txBody>
      </p:sp>
      <p:sp>
        <p:nvSpPr>
          <p:cNvPr id="5" name="Shape 3"/>
          <p:cNvSpPr/>
          <p:nvPr/>
        </p:nvSpPr>
        <p:spPr>
          <a:xfrm>
            <a:off x="815975" y="2835176"/>
            <a:ext cx="3380284" cy="1733401"/>
          </a:xfrm>
          <a:prstGeom prst="roundRect">
            <a:avLst>
              <a:gd name="adj" fmla="val 5678"/>
            </a:avLst>
          </a:prstGeom>
          <a:solidFill>
            <a:srgbClr val="FFFDF8"/>
          </a:solidFill>
          <a:ln w="6350">
            <a:solidFill>
              <a:srgbClr val="DDD8CC"/>
            </a:solidFill>
            <a:prstDash val="solid"/>
          </a:ln>
        </p:spPr>
      </p:sp>
      <p:sp>
        <p:nvSpPr>
          <p:cNvPr id="6" name="Text 4"/>
          <p:cNvSpPr/>
          <p:nvPr/>
        </p:nvSpPr>
        <p:spPr>
          <a:xfrm>
            <a:off x="1073150" y="3092351"/>
            <a:ext cx="295191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F5E"/>
                </a:solidFill>
                <a:latin typeface="Arial" pitchFamily="34" charset="0"/>
                <a:ea typeface="Arial" pitchFamily="34" charset="-122"/>
                <a:cs typeface="Arial" pitchFamily="34" charset="-120"/>
              </a:rPr>
              <a:t>1 040 m</a:t>
            </a:r>
            <a:endParaRPr lang="en-US" sz="3600" dirty="0"/>
          </a:p>
        </p:txBody>
      </p:sp>
      <p:sp>
        <p:nvSpPr>
          <p:cNvPr id="7" name="Text 5"/>
          <p:cNvSpPr/>
          <p:nvPr/>
        </p:nvSpPr>
        <p:spPr>
          <a:xfrm>
            <a:off x="1073150" y="3671441"/>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d'altitude, au cœur du massif des Aravis : des nuits plus fraîches</a:t>
            </a:r>
            <a:endParaRPr lang="en-US" sz="1200" dirty="0"/>
          </a:p>
        </p:txBody>
      </p:sp>
      <p:sp>
        <p:nvSpPr>
          <p:cNvPr id="8" name="Shape 6"/>
          <p:cNvSpPr/>
          <p:nvPr/>
        </p:nvSpPr>
        <p:spPr>
          <a:xfrm>
            <a:off x="4405809" y="2835176"/>
            <a:ext cx="3380333" cy="1733401"/>
          </a:xfrm>
          <a:prstGeom prst="roundRect">
            <a:avLst>
              <a:gd name="adj" fmla="val 5678"/>
            </a:avLst>
          </a:prstGeom>
          <a:solidFill>
            <a:srgbClr val="FFFDF8"/>
          </a:solidFill>
          <a:ln w="6350">
            <a:solidFill>
              <a:srgbClr val="DDD8CC"/>
            </a:solidFill>
            <a:prstDash val="solid"/>
          </a:ln>
        </p:spPr>
      </p:sp>
      <p:sp>
        <p:nvSpPr>
          <p:cNvPr id="9" name="Text 7"/>
          <p:cNvSpPr/>
          <p:nvPr/>
        </p:nvSpPr>
        <p:spPr>
          <a:xfrm>
            <a:off x="4662984" y="3092351"/>
            <a:ext cx="2951963"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F5E"/>
                </a:solidFill>
                <a:latin typeface="Arial" pitchFamily="34" charset="0"/>
                <a:ea typeface="Arial" pitchFamily="34" charset="-122"/>
                <a:cs typeface="Arial" pitchFamily="34" charset="-120"/>
              </a:rPr>
              <a:t>5 000+</a:t>
            </a:r>
            <a:endParaRPr lang="en-US" sz="3600" dirty="0"/>
          </a:p>
        </p:txBody>
      </p:sp>
      <p:sp>
        <p:nvSpPr>
          <p:cNvPr id="10" name="Text 8"/>
          <p:cNvSpPr/>
          <p:nvPr/>
        </p:nvSpPr>
        <p:spPr>
          <a:xfrm>
            <a:off x="4662984" y="3671441"/>
            <a:ext cx="295196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logements pour environ 1 600 habitants (Insee), surtout des résidences secondaires</a:t>
            </a:r>
            <a:endParaRPr lang="en-US" sz="1200" dirty="0"/>
          </a:p>
        </p:txBody>
      </p:sp>
      <p:sp>
        <p:nvSpPr>
          <p:cNvPr id="11" name="Shape 9"/>
          <p:cNvSpPr/>
          <p:nvPr/>
        </p:nvSpPr>
        <p:spPr>
          <a:xfrm>
            <a:off x="7995692" y="2835176"/>
            <a:ext cx="3380333" cy="1733401"/>
          </a:xfrm>
          <a:prstGeom prst="roundRect">
            <a:avLst>
              <a:gd name="adj" fmla="val 5678"/>
            </a:avLst>
          </a:prstGeom>
          <a:solidFill>
            <a:srgbClr val="FFFDF8"/>
          </a:solidFill>
          <a:ln w="6350">
            <a:solidFill>
              <a:srgbClr val="DDD8CC"/>
            </a:solidFill>
            <a:prstDash val="solid"/>
          </a:ln>
        </p:spPr>
      </p:sp>
      <p:sp>
        <p:nvSpPr>
          <p:cNvPr id="12" name="Text 10"/>
          <p:cNvSpPr/>
          <p:nvPr/>
        </p:nvSpPr>
        <p:spPr>
          <a:xfrm>
            <a:off x="8252867" y="3092351"/>
            <a:ext cx="2951963"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F6F5E"/>
                </a:solidFill>
                <a:latin typeface="Arial" pitchFamily="34" charset="0"/>
                <a:ea typeface="Arial" pitchFamily="34" charset="-122"/>
                <a:cs typeface="Arial" pitchFamily="34" charset="-120"/>
              </a:rPr>
              <a:t>Annecy</a:t>
            </a:r>
            <a:endParaRPr lang="en-US" sz="3600" dirty="0"/>
          </a:p>
        </p:txBody>
      </p:sp>
      <p:sp>
        <p:nvSpPr>
          <p:cNvPr id="13" name="Text 11"/>
          <p:cNvSpPr/>
          <p:nvPr/>
        </p:nvSpPr>
        <p:spPr>
          <a:xfrm>
            <a:off x="8252867" y="3671441"/>
            <a:ext cx="2951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toute proche, reliée par des lignes de bus régionales</a:t>
            </a:r>
            <a:endParaRPr lang="en-US" sz="12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8C"/>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8C"/>
                </a:solidFill>
                <a:latin typeface="Arial" pitchFamily="34" charset="0"/>
                <a:ea typeface="Arial" pitchFamily="34" charset="-122"/>
                <a:cs typeface="Arial" pitchFamily="34" charset="-120"/>
              </a:rPr>
              <a:t>3</a:t>
            </a:r>
            <a:endParaRPr lang="en-US" sz="1200" dirty="0"/>
          </a:p>
        </p:txBody>
      </p:sp>
      <p:sp>
        <p:nvSpPr>
          <p:cNvPr id="3" name="Text 1"/>
          <p:cNvSpPr/>
          <p:nvPr/>
        </p:nvSpPr>
        <p:spPr>
          <a:xfrm>
            <a:off x="812800" y="812800"/>
            <a:ext cx="10883392" cy="230684"/>
          </a:xfrm>
          <a:prstGeom prst="rect">
            <a:avLst/>
          </a:prstGeom>
          <a:noFill/>
          <a:ln/>
        </p:spPr>
        <p:txBody>
          <a:bodyPr wrap="square" lIns="0" tIns="0" rIns="0" bIns="0" rtlCol="0" anchor="t">
            <a:normAutofit/>
          </a:bodyPr>
          <a:lstStyle/>
          <a:p>
            <a:pPr algn="l" indent="0" marL="0">
              <a:lnSpc>
                <a:spcPts val="1622"/>
              </a:lnSpc>
              <a:buNone/>
            </a:pPr>
            <a:r>
              <a:rPr lang="en-US" sz="1159" b="1" spc="200" kern="0" dirty="0">
                <a:solidFill>
                  <a:srgbClr val="1F6F5E"/>
                </a:solidFill>
                <a:latin typeface="Arial" pitchFamily="34" charset="0"/>
                <a:ea typeface="Arial" pitchFamily="34" charset="-122"/>
                <a:cs typeface="Arial" pitchFamily="34" charset="-120"/>
              </a:rPr>
              <a:t>ARCHITECTURE</a:t>
            </a:r>
            <a:endParaRPr lang="en-US" sz="1159" dirty="0"/>
          </a:p>
        </p:txBody>
      </p:sp>
      <p:sp>
        <p:nvSpPr>
          <p:cNvPr id="4" name="Text 2"/>
          <p:cNvSpPr/>
          <p:nvPr>
            <p:ph type="title"/>
          </p:nvPr>
        </p:nvSpPr>
        <p:spPr>
          <a:xfrm>
            <a:off x="812800" y="1119684"/>
            <a:ext cx="10883392" cy="531316"/>
          </a:xfrm>
          <a:prstGeom prst="rect">
            <a:avLst/>
          </a:prstGeom>
          <a:noFill/>
          <a:ln/>
        </p:spPr>
        <p:txBody>
          <a:bodyPr wrap="square" lIns="0" tIns="0" rIns="0" bIns="0" rtlCol="0" anchor="t">
            <a:normAutofit/>
          </a:bodyPr>
          <a:lstStyle/>
          <a:p>
            <a:pPr algn="l" indent="0" marL="0">
              <a:lnSpc>
                <a:spcPts val="4024"/>
              </a:lnSpc>
              <a:buNone/>
            </a:pPr>
            <a:r>
              <a:rPr lang="en-US" sz="3499" b="1" i="0" dirty="0">
                <a:solidFill>
                  <a:srgbClr val="1A2630"/>
                </a:solidFill>
                <a:latin typeface="Arial" pitchFamily="34" charset="0"/>
                <a:ea typeface="Arial" pitchFamily="34" charset="-122"/>
                <a:cs typeface="Arial" pitchFamily="34" charset="-120"/>
              </a:rPr>
              <a:t>Deux parcours, une même facture</a:t>
            </a:r>
            <a:endParaRPr lang="en-US" sz="3499" dirty="0"/>
          </a:p>
        </p:txBody>
      </p:sp>
      <p:sp>
        <p:nvSpPr>
          <p:cNvPr id="5" name="Text 3"/>
          <p:cNvSpPr/>
          <p:nvPr/>
        </p:nvSpPr>
        <p:spPr>
          <a:xfrm>
            <a:off x="812800" y="4089400"/>
            <a:ext cx="108833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2630"/>
                </a:solidFill>
                <a:latin typeface="Arial" pitchFamily="34" charset="0"/>
                <a:ea typeface="Arial" pitchFamily="34" charset="-122"/>
                <a:cs typeface="Arial" pitchFamily="34" charset="-120"/>
              </a:rPr>
              <a:t>Parcours 2 · Texte libre</a:t>
            </a:r>
            <a:endParaRPr lang="en-US" sz="1600" dirty="0"/>
          </a:p>
        </p:txBody>
      </p:sp>
      <p:sp>
        <p:nvSpPr>
          <p:cNvPr id="6" name="Text 4"/>
          <p:cNvSpPr/>
          <p:nvPr/>
        </p:nvSpPr>
        <p:spPr>
          <a:xfrm>
            <a:off x="812800" y="4451350"/>
            <a:ext cx="1422400" cy="538460"/>
          </a:xfrm>
          <a:custGeom>
            <a:avLst/>
            <a:gdLst/>
            <a:ahLst/>
            <a:cxnLst/>
            <a:rect l="l" t="t" r="r" b="b"/>
            <a:pathLst>
              <a:path w="1422400" h="538460">
                <a:moveTo>
                  <a:pt x="76200" y="0"/>
                </a:moveTo>
                <a:lnTo>
                  <a:pt x="1346200" y="0"/>
                </a:lnTo>
                <a:arcTo hR="76200" wR="76200" stAng="16200000" swAng="5400000"/>
                <a:lnTo>
                  <a:pt x="1422400" y="462260"/>
                </a:lnTo>
                <a:arcTo hR="76200" wR="76200" stAng="0" swAng="5400000"/>
                <a:lnTo>
                  <a:pt x="76200" y="538460"/>
                </a:lnTo>
                <a:arcTo hR="76200" wR="76200" stAng="5400000" swAng="5400000"/>
                <a:lnTo>
                  <a:pt x="0" y="76200"/>
                </a:lnTo>
                <a:arcTo hR="76200" wR="76200" stAng="10800000" swAng="5400000"/>
                <a:close/>
              </a:path>
            </a:pathLst>
          </a:custGeom>
          <a:solidFill>
            <a:srgbClr val="13202B"/>
          </a:solidFill>
          <a:ln/>
        </p:spPr>
        <p:txBody>
          <a:bodyPr wrap="square" lIns="25400" tIns="127000" rIns="25400" bIns="101600" rtlCol="0" anchor="t">
            <a:normAutofit/>
          </a:bodyPr>
          <a:lstStyle/>
          <a:p>
            <a:pPr algn="ctr" indent="0" marL="0">
              <a:lnSpc>
                <a:spcPts val="2240"/>
              </a:lnSpc>
              <a:buNone/>
            </a:pPr>
            <a:r>
              <a:rPr lang="en-US" sz="1600" b="1" dirty="0">
                <a:solidFill>
                  <a:srgbClr val="F5F3EE"/>
                </a:solidFill>
                <a:latin typeface="Arial" pitchFamily="34" charset="0"/>
                <a:ea typeface="Arial" pitchFamily="34" charset="-122"/>
                <a:cs typeface="Arial" pitchFamily="34" charset="-120"/>
              </a:rPr>
              <a:t>Texte libre</a:t>
            </a:r>
            <a:endParaRPr lang="en-US" sz="1600" dirty="0"/>
          </a:p>
        </p:txBody>
      </p:sp>
      <p:pic>
        <p:nvPicPr>
          <p:cNvPr id="7" name="Image 0" descr="arrow-right">    </p:cNvPr>
          <p:cNvPicPr>
            <a:picLocks noChangeAspect="1"/>
          </p:cNvPicPr>
          <p:nvPr/>
        </p:nvPicPr>
        <p:blipFill>
          <a:blip r:embed="rId1"/>
          <a:srcRect l="0" r="0" t="0" b="0"/>
          <a:stretch/>
        </p:blipFill>
        <p:spPr>
          <a:xfrm>
            <a:off x="2286000" y="4648200"/>
            <a:ext cx="279400" cy="139700"/>
          </a:xfrm>
          <a:prstGeom prst="rect">
            <a:avLst/>
          </a:prstGeom>
        </p:spPr>
      </p:pic>
      <p:sp>
        <p:nvSpPr>
          <p:cNvPr id="8" name="Text 5"/>
          <p:cNvSpPr/>
          <p:nvPr/>
        </p:nvSpPr>
        <p:spPr>
          <a:xfrm>
            <a:off x="2647950" y="4457700"/>
            <a:ext cx="1409700" cy="525760"/>
          </a:xfrm>
          <a:custGeom>
            <a:avLst/>
            <a:gdLst/>
            <a:ahLst/>
            <a:cxnLst/>
            <a:rect l="l" t="t" r="r" b="b"/>
            <a:pathLst>
              <a:path w="1409700" h="525760">
                <a:moveTo>
                  <a:pt x="69850" y="0"/>
                </a:moveTo>
                <a:lnTo>
                  <a:pt x="1339850" y="0"/>
                </a:lnTo>
                <a:arcTo hR="69850" wR="69850" stAng="16200000" swAng="5400000"/>
                <a:lnTo>
                  <a:pt x="1409700" y="455910"/>
                </a:lnTo>
                <a:arcTo hR="69850" wR="69850" stAng="0" swAng="5400000"/>
                <a:lnTo>
                  <a:pt x="69850" y="525760"/>
                </a:lnTo>
                <a:arcTo hR="69850" wR="69850" stAng="5400000" swAng="5400000"/>
                <a:lnTo>
                  <a:pt x="0" y="69850"/>
                </a:lnTo>
                <a:arcTo hR="69850" wR="69850" stAng="10800000" swAng="5400000"/>
                <a:close/>
              </a:path>
            </a:pathLst>
          </a:custGeom>
          <a:solidFill>
            <a:srgbClr val="FFFDF8"/>
          </a:solidFill>
          <a:ln w="12700">
            <a:solidFill>
              <a:srgbClr val="1F6F5E"/>
            </a:solidFill>
            <a:prstDash val="solid"/>
          </a:ln>
        </p:spPr>
        <p:txBody>
          <a:bodyPr wrap="square" lIns="31750" tIns="120650" rIns="31750" bIns="95250" rtlCol="0" anchor="t">
            <a:normAutofit/>
          </a:bodyPr>
          <a:lstStyle/>
          <a:p>
            <a:pPr algn="ctr" indent="0" marL="0">
              <a:lnSpc>
                <a:spcPts val="2240"/>
              </a:lnSpc>
              <a:buNone/>
            </a:pPr>
            <a:r>
              <a:rPr lang="en-US" sz="1600" b="1" dirty="0">
                <a:solidFill>
                  <a:srgbClr val="1A2630"/>
                </a:solidFill>
                <a:latin typeface="Arial" pitchFamily="34" charset="0"/>
                <a:ea typeface="Arial" pitchFamily="34" charset="-122"/>
                <a:cs typeface="Arial" pitchFamily="34" charset="-120"/>
              </a:rPr>
              <a:t>ILaaS</a:t>
            </a:r>
            <a:endParaRPr lang="en-US" sz="1600" dirty="0"/>
          </a:p>
        </p:txBody>
      </p:sp>
      <p:pic>
        <p:nvPicPr>
          <p:cNvPr id="9" name="Image 1" descr="arrow-right">    </p:cNvPr>
          <p:cNvPicPr>
            <a:picLocks noChangeAspect="1"/>
          </p:cNvPicPr>
          <p:nvPr/>
        </p:nvPicPr>
        <p:blipFill>
          <a:blip r:embed="rId2"/>
          <a:srcRect l="0" r="0" t="0" b="0"/>
          <a:stretch/>
        </p:blipFill>
        <p:spPr>
          <a:xfrm>
            <a:off x="4114800" y="4648200"/>
            <a:ext cx="279400" cy="139700"/>
          </a:xfrm>
          <a:prstGeom prst="rect">
            <a:avLst/>
          </a:prstGeom>
        </p:spPr>
      </p:pic>
      <p:sp>
        <p:nvSpPr>
          <p:cNvPr id="10" name="Text 6"/>
          <p:cNvSpPr/>
          <p:nvPr/>
        </p:nvSpPr>
        <p:spPr>
          <a:xfrm>
            <a:off x="4476750" y="4457700"/>
            <a:ext cx="1409700" cy="525760"/>
          </a:xfrm>
          <a:custGeom>
            <a:avLst/>
            <a:gdLst/>
            <a:ahLst/>
            <a:cxnLst/>
            <a:rect l="l" t="t" r="r" b="b"/>
            <a:pathLst>
              <a:path w="1409700" h="525760">
                <a:moveTo>
                  <a:pt x="69850" y="0"/>
                </a:moveTo>
                <a:lnTo>
                  <a:pt x="1339850" y="0"/>
                </a:lnTo>
                <a:arcTo hR="69850" wR="69850" stAng="16200000" swAng="5400000"/>
                <a:lnTo>
                  <a:pt x="1409700" y="455910"/>
                </a:lnTo>
                <a:arcTo hR="69850" wR="69850" stAng="0" swAng="5400000"/>
                <a:lnTo>
                  <a:pt x="69850" y="525760"/>
                </a:lnTo>
                <a:arcTo hR="69850" wR="69850" stAng="5400000" swAng="5400000"/>
                <a:lnTo>
                  <a:pt x="0" y="69850"/>
                </a:lnTo>
                <a:arcTo hR="69850" wR="69850" stAng="10800000" swAng="5400000"/>
                <a:close/>
              </a:path>
            </a:pathLst>
          </a:custGeom>
          <a:solidFill>
            <a:srgbClr val="FFFDF8"/>
          </a:solidFill>
          <a:ln w="12700">
            <a:solidFill>
              <a:srgbClr val="1F6F5E"/>
            </a:solidFill>
            <a:prstDash val="solid"/>
          </a:ln>
        </p:spPr>
        <p:txBody>
          <a:bodyPr wrap="square" lIns="31750" tIns="120650" rIns="31750" bIns="95250" rtlCol="0" anchor="t">
            <a:normAutofit/>
          </a:bodyPr>
          <a:lstStyle/>
          <a:p>
            <a:pPr algn="ctr" indent="0" marL="0">
              <a:lnSpc>
                <a:spcPts val="2240"/>
              </a:lnSpc>
              <a:buNone/>
            </a:pPr>
            <a:r>
              <a:rPr lang="en-US" sz="1600" b="1" dirty="0">
                <a:solidFill>
                  <a:srgbClr val="1A2630"/>
                </a:solidFill>
                <a:latin typeface="Arial" pitchFamily="34" charset="0"/>
                <a:ea typeface="Arial" pitchFamily="34" charset="-122"/>
                <a:cs typeface="Arial" pitchFamily="34" charset="-120"/>
              </a:rPr>
              <a:t>JSON</a:t>
            </a:r>
            <a:endParaRPr lang="en-US" sz="1600" dirty="0"/>
          </a:p>
        </p:txBody>
      </p:sp>
      <p:pic>
        <p:nvPicPr>
          <p:cNvPr id="11" name="Image 2" descr="arrow-right">    </p:cNvPr>
          <p:cNvPicPr>
            <a:picLocks noChangeAspect="1"/>
          </p:cNvPicPr>
          <p:nvPr/>
        </p:nvPicPr>
        <p:blipFill>
          <a:blip r:embed="rId3"/>
          <a:srcRect l="0" r="0" t="0" b="0"/>
          <a:stretch/>
        </p:blipFill>
        <p:spPr>
          <a:xfrm>
            <a:off x="5943600" y="4648200"/>
            <a:ext cx="279400" cy="139700"/>
          </a:xfrm>
          <a:prstGeom prst="rect">
            <a:avLst/>
          </a:prstGeom>
        </p:spPr>
      </p:pic>
      <p:sp>
        <p:nvSpPr>
          <p:cNvPr id="12" name="Text 7"/>
          <p:cNvSpPr/>
          <p:nvPr/>
        </p:nvSpPr>
        <p:spPr>
          <a:xfrm>
            <a:off x="6305550" y="4457700"/>
            <a:ext cx="1409700" cy="525760"/>
          </a:xfrm>
          <a:custGeom>
            <a:avLst/>
            <a:gdLst/>
            <a:ahLst/>
            <a:cxnLst/>
            <a:rect l="l" t="t" r="r" b="b"/>
            <a:pathLst>
              <a:path w="1409700" h="525760">
                <a:moveTo>
                  <a:pt x="69850" y="0"/>
                </a:moveTo>
                <a:lnTo>
                  <a:pt x="1339850" y="0"/>
                </a:lnTo>
                <a:arcTo hR="69850" wR="69850" stAng="16200000" swAng="5400000"/>
                <a:lnTo>
                  <a:pt x="1409700" y="455910"/>
                </a:lnTo>
                <a:arcTo hR="69850" wR="69850" stAng="0" swAng="5400000"/>
                <a:lnTo>
                  <a:pt x="69850" y="525760"/>
                </a:lnTo>
                <a:arcTo hR="69850" wR="69850" stAng="5400000" swAng="5400000"/>
                <a:lnTo>
                  <a:pt x="0" y="69850"/>
                </a:lnTo>
                <a:arcTo hR="69850" wR="69850" stAng="10800000" swAng="5400000"/>
                <a:close/>
              </a:path>
            </a:pathLst>
          </a:custGeom>
          <a:solidFill>
            <a:srgbClr val="FFFDF8"/>
          </a:solidFill>
          <a:ln w="12700">
            <a:solidFill>
              <a:srgbClr val="1F6F5E"/>
            </a:solidFill>
            <a:prstDash val="solid"/>
          </a:ln>
        </p:spPr>
        <p:txBody>
          <a:bodyPr wrap="square" lIns="31750" tIns="120650" rIns="31750" bIns="95250" rtlCol="0" anchor="t">
            <a:normAutofit/>
          </a:bodyPr>
          <a:lstStyle/>
          <a:p>
            <a:pPr algn="ctr" indent="0" marL="0">
              <a:lnSpc>
                <a:spcPts val="2240"/>
              </a:lnSpc>
              <a:buNone/>
            </a:pPr>
            <a:r>
              <a:rPr lang="en-US" sz="1600" b="1" dirty="0">
                <a:solidFill>
                  <a:srgbClr val="1A2630"/>
                </a:solidFill>
                <a:latin typeface="Arial" pitchFamily="34" charset="0"/>
                <a:ea typeface="Arial" pitchFamily="34" charset="-122"/>
                <a:cs typeface="Arial" pitchFamily="34" charset="-120"/>
              </a:rPr>
              <a:t>SQLite</a:t>
            </a:r>
            <a:endParaRPr lang="en-US" sz="1600" dirty="0"/>
          </a:p>
        </p:txBody>
      </p:sp>
      <p:sp>
        <p:nvSpPr>
          <p:cNvPr id="13" name="Text 8"/>
          <p:cNvSpPr/>
          <p:nvPr/>
        </p:nvSpPr>
        <p:spPr>
          <a:xfrm>
            <a:off x="7772400" y="4521200"/>
            <a:ext cx="2197608"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4A5560"/>
                </a:solidFill>
                <a:latin typeface="Arial" pitchFamily="34" charset="0"/>
                <a:ea typeface="Arial" pitchFamily="34" charset="-122"/>
                <a:cs typeface="Arial" pitchFamily="34" charset="-120"/>
              </a:rPr>
              <a:t>puis même chemin que le parcours 1</a:t>
            </a:r>
            <a:endParaRPr lang="en-US" sz="1200" dirty="0"/>
          </a:p>
        </p:txBody>
      </p:sp>
      <p:sp>
        <p:nvSpPr>
          <p:cNvPr id="14" name="Text 9"/>
          <p:cNvSpPr/>
          <p:nvPr/>
        </p:nvSpPr>
        <p:spPr>
          <a:xfrm>
            <a:off x="787400" y="50927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description</a:t>
            </a:r>
            <a:endParaRPr lang="en-US" sz="1200" dirty="0"/>
          </a:p>
        </p:txBody>
      </p:sp>
      <p:sp>
        <p:nvSpPr>
          <p:cNvPr id="15" name="Text 10"/>
          <p:cNvSpPr/>
          <p:nvPr/>
        </p:nvSpPr>
        <p:spPr>
          <a:xfrm>
            <a:off x="2616200" y="50927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LLM Mistral</a:t>
            </a:r>
            <a:endParaRPr lang="en-US" sz="1200" dirty="0"/>
          </a:p>
        </p:txBody>
      </p:sp>
      <p:sp>
        <p:nvSpPr>
          <p:cNvPr id="16" name="Text 11"/>
          <p:cNvSpPr/>
          <p:nvPr/>
        </p:nvSpPr>
        <p:spPr>
          <a:xfrm>
            <a:off x="4445000" y="50927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même schéma</a:t>
            </a:r>
            <a:endParaRPr lang="en-US" sz="1200" dirty="0"/>
          </a:p>
        </p:txBody>
      </p:sp>
      <p:sp>
        <p:nvSpPr>
          <p:cNvPr id="17" name="Text 12"/>
          <p:cNvSpPr/>
          <p:nvPr/>
        </p:nvSpPr>
        <p:spPr>
          <a:xfrm>
            <a:off x="6273800" y="50927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7 tables</a:t>
            </a:r>
            <a:endParaRPr lang="en-US" sz="1200" dirty="0"/>
          </a:p>
        </p:txBody>
      </p:sp>
      <p:sp>
        <p:nvSpPr>
          <p:cNvPr id="18" name="Text 13"/>
          <p:cNvSpPr/>
          <p:nvPr/>
        </p:nvSpPr>
        <p:spPr>
          <a:xfrm>
            <a:off x="812800" y="1981200"/>
            <a:ext cx="1088339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2630"/>
                </a:solidFill>
                <a:latin typeface="Arial" pitchFamily="34" charset="0"/>
                <a:ea typeface="Arial" pitchFamily="34" charset="-122"/>
                <a:cs typeface="Arial" pitchFamily="34" charset="-120"/>
              </a:rPr>
              <a:t>Parcours 1 · Formulaire</a:t>
            </a:r>
            <a:endParaRPr lang="en-US" sz="1600" dirty="0"/>
          </a:p>
        </p:txBody>
      </p:sp>
      <p:sp>
        <p:nvSpPr>
          <p:cNvPr id="19" name="Text 14"/>
          <p:cNvSpPr/>
          <p:nvPr/>
        </p:nvSpPr>
        <p:spPr>
          <a:xfrm>
            <a:off x="812800" y="2349500"/>
            <a:ext cx="1422400" cy="538460"/>
          </a:xfrm>
          <a:custGeom>
            <a:avLst/>
            <a:gdLst/>
            <a:ahLst/>
            <a:cxnLst/>
            <a:rect l="l" t="t" r="r" b="b"/>
            <a:pathLst>
              <a:path w="1422400" h="538460">
                <a:moveTo>
                  <a:pt x="76200" y="0"/>
                </a:moveTo>
                <a:lnTo>
                  <a:pt x="1346200" y="0"/>
                </a:lnTo>
                <a:arcTo hR="76200" wR="76200" stAng="16200000" swAng="5400000"/>
                <a:lnTo>
                  <a:pt x="1422400" y="462260"/>
                </a:lnTo>
                <a:arcTo hR="76200" wR="76200" stAng="0" swAng="5400000"/>
                <a:lnTo>
                  <a:pt x="76200" y="538460"/>
                </a:lnTo>
                <a:arcTo hR="76200" wR="76200" stAng="5400000" swAng="5400000"/>
                <a:lnTo>
                  <a:pt x="0" y="76200"/>
                </a:lnTo>
                <a:arcTo hR="76200" wR="76200" stAng="10800000" swAng="5400000"/>
                <a:close/>
              </a:path>
            </a:pathLst>
          </a:custGeom>
          <a:solidFill>
            <a:srgbClr val="13202B"/>
          </a:solidFill>
          <a:ln/>
        </p:spPr>
        <p:txBody>
          <a:bodyPr wrap="square" lIns="25400" tIns="127000" rIns="25400" bIns="101600" rtlCol="0" anchor="t">
            <a:normAutofit/>
          </a:bodyPr>
          <a:lstStyle/>
          <a:p>
            <a:pPr algn="ctr" indent="0" marL="0">
              <a:lnSpc>
                <a:spcPts val="2240"/>
              </a:lnSpc>
              <a:buNone/>
            </a:pPr>
            <a:r>
              <a:rPr lang="en-US" sz="1600" b="1" dirty="0">
                <a:solidFill>
                  <a:srgbClr val="F5F3EE"/>
                </a:solidFill>
                <a:latin typeface="Arial" pitchFamily="34" charset="0"/>
                <a:ea typeface="Arial" pitchFamily="34" charset="-122"/>
                <a:cs typeface="Arial" pitchFamily="34" charset="-120"/>
              </a:rPr>
              <a:t>Formulaire</a:t>
            </a:r>
            <a:endParaRPr lang="en-US" sz="1600" dirty="0"/>
          </a:p>
        </p:txBody>
      </p:sp>
      <p:pic>
        <p:nvPicPr>
          <p:cNvPr id="20" name="Image 3" descr="arrow-right">    </p:cNvPr>
          <p:cNvPicPr>
            <a:picLocks noChangeAspect="1"/>
          </p:cNvPicPr>
          <p:nvPr/>
        </p:nvPicPr>
        <p:blipFill>
          <a:blip r:embed="rId4"/>
          <a:srcRect l="0" r="0" t="0" b="0"/>
          <a:stretch/>
        </p:blipFill>
        <p:spPr>
          <a:xfrm>
            <a:off x="2286000" y="2552700"/>
            <a:ext cx="279400" cy="139700"/>
          </a:xfrm>
          <a:prstGeom prst="rect">
            <a:avLst/>
          </a:prstGeom>
        </p:spPr>
      </p:pic>
      <p:sp>
        <p:nvSpPr>
          <p:cNvPr id="21" name="Text 15"/>
          <p:cNvSpPr/>
          <p:nvPr/>
        </p:nvSpPr>
        <p:spPr>
          <a:xfrm>
            <a:off x="2647950" y="2355850"/>
            <a:ext cx="1409700" cy="525760"/>
          </a:xfrm>
          <a:custGeom>
            <a:avLst/>
            <a:gdLst/>
            <a:ahLst/>
            <a:cxnLst/>
            <a:rect l="l" t="t" r="r" b="b"/>
            <a:pathLst>
              <a:path w="1409700" h="525760">
                <a:moveTo>
                  <a:pt x="69850" y="0"/>
                </a:moveTo>
                <a:lnTo>
                  <a:pt x="1339850" y="0"/>
                </a:lnTo>
                <a:arcTo hR="69850" wR="69850" stAng="16200000" swAng="5400000"/>
                <a:lnTo>
                  <a:pt x="1409700" y="455910"/>
                </a:lnTo>
                <a:arcTo hR="69850" wR="69850" stAng="0" swAng="5400000"/>
                <a:lnTo>
                  <a:pt x="69850" y="525760"/>
                </a:lnTo>
                <a:arcTo hR="69850" wR="69850" stAng="5400000" swAng="5400000"/>
                <a:lnTo>
                  <a:pt x="0" y="69850"/>
                </a:lnTo>
                <a:arcTo hR="69850" wR="69850" stAng="10800000" swAng="5400000"/>
                <a:close/>
              </a:path>
            </a:pathLst>
          </a:custGeom>
          <a:solidFill>
            <a:srgbClr val="FFFDF8"/>
          </a:solidFill>
          <a:ln w="12700">
            <a:solidFill>
              <a:srgbClr val="1F6F5E"/>
            </a:solidFill>
            <a:prstDash val="solid"/>
          </a:ln>
        </p:spPr>
        <p:txBody>
          <a:bodyPr wrap="square" lIns="31750" tIns="120650" rIns="31750" bIns="95250" rtlCol="0" anchor="t">
            <a:normAutofit/>
          </a:bodyPr>
          <a:lstStyle/>
          <a:p>
            <a:pPr algn="ctr" indent="0" marL="0">
              <a:lnSpc>
                <a:spcPts val="2240"/>
              </a:lnSpc>
              <a:buNone/>
            </a:pPr>
            <a:r>
              <a:rPr lang="en-US" sz="1600" b="1" dirty="0">
                <a:solidFill>
                  <a:srgbClr val="1A2630"/>
                </a:solidFill>
                <a:latin typeface="Arial" pitchFamily="34" charset="0"/>
                <a:ea typeface="Arial" pitchFamily="34" charset="-122"/>
                <a:cs typeface="Arial" pitchFamily="34" charset="-120"/>
              </a:rPr>
              <a:t>JSON</a:t>
            </a:r>
            <a:endParaRPr lang="en-US" sz="1600" dirty="0"/>
          </a:p>
        </p:txBody>
      </p:sp>
      <p:pic>
        <p:nvPicPr>
          <p:cNvPr id="22" name="Image 4" descr="arrow-right">    </p:cNvPr>
          <p:cNvPicPr>
            <a:picLocks noChangeAspect="1"/>
          </p:cNvPicPr>
          <p:nvPr/>
        </p:nvPicPr>
        <p:blipFill>
          <a:blip r:embed="rId5"/>
          <a:srcRect l="0" r="0" t="0" b="0"/>
          <a:stretch/>
        </p:blipFill>
        <p:spPr>
          <a:xfrm>
            <a:off x="4114800" y="2552700"/>
            <a:ext cx="279400" cy="139700"/>
          </a:xfrm>
          <a:prstGeom prst="rect">
            <a:avLst/>
          </a:prstGeom>
        </p:spPr>
      </p:pic>
      <p:sp>
        <p:nvSpPr>
          <p:cNvPr id="23" name="Text 16"/>
          <p:cNvSpPr/>
          <p:nvPr/>
        </p:nvSpPr>
        <p:spPr>
          <a:xfrm>
            <a:off x="4476750" y="2355850"/>
            <a:ext cx="1409700" cy="525760"/>
          </a:xfrm>
          <a:custGeom>
            <a:avLst/>
            <a:gdLst/>
            <a:ahLst/>
            <a:cxnLst/>
            <a:rect l="l" t="t" r="r" b="b"/>
            <a:pathLst>
              <a:path w="1409700" h="525760">
                <a:moveTo>
                  <a:pt x="69850" y="0"/>
                </a:moveTo>
                <a:lnTo>
                  <a:pt x="1339850" y="0"/>
                </a:lnTo>
                <a:arcTo hR="69850" wR="69850" stAng="16200000" swAng="5400000"/>
                <a:lnTo>
                  <a:pt x="1409700" y="455910"/>
                </a:lnTo>
                <a:arcTo hR="69850" wR="69850" stAng="0" swAng="5400000"/>
                <a:lnTo>
                  <a:pt x="69850" y="525760"/>
                </a:lnTo>
                <a:arcTo hR="69850" wR="69850" stAng="5400000" swAng="5400000"/>
                <a:lnTo>
                  <a:pt x="0" y="69850"/>
                </a:lnTo>
                <a:arcTo hR="69850" wR="69850" stAng="10800000" swAng="5400000"/>
                <a:close/>
              </a:path>
            </a:pathLst>
          </a:custGeom>
          <a:solidFill>
            <a:srgbClr val="FFFDF8"/>
          </a:solidFill>
          <a:ln w="12700">
            <a:solidFill>
              <a:srgbClr val="1F6F5E"/>
            </a:solidFill>
            <a:prstDash val="solid"/>
          </a:ln>
        </p:spPr>
        <p:txBody>
          <a:bodyPr wrap="square" lIns="31750" tIns="120650" rIns="31750" bIns="95250" rtlCol="0" anchor="t">
            <a:normAutofit/>
          </a:bodyPr>
          <a:lstStyle/>
          <a:p>
            <a:pPr algn="ctr" indent="0" marL="0">
              <a:lnSpc>
                <a:spcPts val="2240"/>
              </a:lnSpc>
              <a:buNone/>
            </a:pPr>
            <a:r>
              <a:rPr lang="en-US" sz="1600" b="1" dirty="0">
                <a:solidFill>
                  <a:srgbClr val="1A2630"/>
                </a:solidFill>
                <a:latin typeface="Arial" pitchFamily="34" charset="0"/>
                <a:ea typeface="Arial" pitchFamily="34" charset="-122"/>
                <a:cs typeface="Arial" pitchFamily="34" charset="-120"/>
              </a:rPr>
              <a:t>SQLite</a:t>
            </a:r>
            <a:endParaRPr lang="en-US" sz="1600" dirty="0"/>
          </a:p>
        </p:txBody>
      </p:sp>
      <p:pic>
        <p:nvPicPr>
          <p:cNvPr id="24" name="Image 5" descr="arrow-right">    </p:cNvPr>
          <p:cNvPicPr>
            <a:picLocks noChangeAspect="1"/>
          </p:cNvPicPr>
          <p:nvPr/>
        </p:nvPicPr>
        <p:blipFill>
          <a:blip r:embed="rId6"/>
          <a:srcRect l="0" r="0" t="0" b="0"/>
          <a:stretch/>
        </p:blipFill>
        <p:spPr>
          <a:xfrm>
            <a:off x="5943600" y="2552700"/>
            <a:ext cx="279400" cy="139700"/>
          </a:xfrm>
          <a:prstGeom prst="rect">
            <a:avLst/>
          </a:prstGeom>
        </p:spPr>
      </p:pic>
      <p:sp>
        <p:nvSpPr>
          <p:cNvPr id="25" name="Text 17"/>
          <p:cNvSpPr/>
          <p:nvPr/>
        </p:nvSpPr>
        <p:spPr>
          <a:xfrm>
            <a:off x="6305550" y="2355850"/>
            <a:ext cx="1409700" cy="525760"/>
          </a:xfrm>
          <a:custGeom>
            <a:avLst/>
            <a:gdLst/>
            <a:ahLst/>
            <a:cxnLst/>
            <a:rect l="l" t="t" r="r" b="b"/>
            <a:pathLst>
              <a:path w="1409700" h="525760">
                <a:moveTo>
                  <a:pt x="69850" y="0"/>
                </a:moveTo>
                <a:lnTo>
                  <a:pt x="1339850" y="0"/>
                </a:lnTo>
                <a:arcTo hR="69850" wR="69850" stAng="16200000" swAng="5400000"/>
                <a:lnTo>
                  <a:pt x="1409700" y="455910"/>
                </a:lnTo>
                <a:arcTo hR="69850" wR="69850" stAng="0" swAng="5400000"/>
                <a:lnTo>
                  <a:pt x="69850" y="525760"/>
                </a:lnTo>
                <a:arcTo hR="69850" wR="69850" stAng="5400000" swAng="5400000"/>
                <a:lnTo>
                  <a:pt x="0" y="69850"/>
                </a:lnTo>
                <a:arcTo hR="69850" wR="69850" stAng="10800000" swAng="5400000"/>
                <a:close/>
              </a:path>
            </a:pathLst>
          </a:custGeom>
          <a:solidFill>
            <a:srgbClr val="FFFDF8"/>
          </a:solidFill>
          <a:ln w="12700">
            <a:solidFill>
              <a:srgbClr val="1F6F5E"/>
            </a:solidFill>
            <a:prstDash val="solid"/>
          </a:ln>
        </p:spPr>
        <p:txBody>
          <a:bodyPr wrap="square" lIns="31750" tIns="120650" rIns="31750" bIns="95250" rtlCol="0" anchor="t">
            <a:normAutofit/>
          </a:bodyPr>
          <a:lstStyle/>
          <a:p>
            <a:pPr algn="ctr" indent="0" marL="0">
              <a:lnSpc>
                <a:spcPts val="2240"/>
              </a:lnSpc>
              <a:buNone/>
            </a:pPr>
            <a:r>
              <a:rPr lang="en-US" sz="1600" b="1" dirty="0">
                <a:solidFill>
                  <a:srgbClr val="1A2630"/>
                </a:solidFill>
                <a:latin typeface="Arial" pitchFamily="34" charset="0"/>
                <a:ea typeface="Arial" pitchFamily="34" charset="-122"/>
                <a:cs typeface="Arial" pitchFamily="34" charset="-120"/>
              </a:rPr>
              <a:t>XML</a:t>
            </a:r>
            <a:endParaRPr lang="en-US" sz="1600" dirty="0"/>
          </a:p>
        </p:txBody>
      </p:sp>
      <p:pic>
        <p:nvPicPr>
          <p:cNvPr id="26" name="Image 6" descr="arrow-right">    </p:cNvPr>
          <p:cNvPicPr>
            <a:picLocks noChangeAspect="1"/>
          </p:cNvPicPr>
          <p:nvPr/>
        </p:nvPicPr>
        <p:blipFill>
          <a:blip r:embed="rId7"/>
          <a:srcRect l="0" r="0" t="0" b="0"/>
          <a:stretch/>
        </p:blipFill>
        <p:spPr>
          <a:xfrm>
            <a:off x="7772400" y="2552700"/>
            <a:ext cx="279400" cy="139700"/>
          </a:xfrm>
          <a:prstGeom prst="rect">
            <a:avLst/>
          </a:prstGeom>
        </p:spPr>
      </p:pic>
      <p:sp>
        <p:nvSpPr>
          <p:cNvPr id="27" name="Text 18"/>
          <p:cNvSpPr/>
          <p:nvPr/>
        </p:nvSpPr>
        <p:spPr>
          <a:xfrm>
            <a:off x="8134350" y="2355850"/>
            <a:ext cx="1409700" cy="525760"/>
          </a:xfrm>
          <a:custGeom>
            <a:avLst/>
            <a:gdLst/>
            <a:ahLst/>
            <a:cxnLst/>
            <a:rect l="l" t="t" r="r" b="b"/>
            <a:pathLst>
              <a:path w="1409700" h="525760">
                <a:moveTo>
                  <a:pt x="69850" y="0"/>
                </a:moveTo>
                <a:lnTo>
                  <a:pt x="1339850" y="0"/>
                </a:lnTo>
                <a:arcTo hR="69850" wR="69850" stAng="16200000" swAng="5400000"/>
                <a:lnTo>
                  <a:pt x="1409700" y="455910"/>
                </a:lnTo>
                <a:arcTo hR="69850" wR="69850" stAng="0" swAng="5400000"/>
                <a:lnTo>
                  <a:pt x="69850" y="525760"/>
                </a:lnTo>
                <a:arcTo hR="69850" wR="69850" stAng="5400000" swAng="5400000"/>
                <a:lnTo>
                  <a:pt x="0" y="69850"/>
                </a:lnTo>
                <a:arcTo hR="69850" wR="69850" stAng="10800000" swAng="5400000"/>
                <a:close/>
              </a:path>
            </a:pathLst>
          </a:custGeom>
          <a:solidFill>
            <a:srgbClr val="FFFDF8"/>
          </a:solidFill>
          <a:ln w="12700">
            <a:solidFill>
              <a:srgbClr val="1F6F5E"/>
            </a:solidFill>
            <a:prstDash val="solid"/>
          </a:ln>
        </p:spPr>
        <p:txBody>
          <a:bodyPr wrap="square" lIns="31750" tIns="120650" rIns="31750" bIns="95250" rtlCol="0" anchor="t">
            <a:normAutofit/>
          </a:bodyPr>
          <a:lstStyle/>
          <a:p>
            <a:pPr algn="ctr" indent="0" marL="0">
              <a:lnSpc>
                <a:spcPts val="2240"/>
              </a:lnSpc>
              <a:buNone/>
            </a:pPr>
            <a:r>
              <a:rPr lang="en-US" sz="1600" b="1" dirty="0">
                <a:solidFill>
                  <a:srgbClr val="1A2630"/>
                </a:solidFill>
                <a:latin typeface="Arial" pitchFamily="34" charset="0"/>
                <a:ea typeface="Arial" pitchFamily="34" charset="-122"/>
                <a:cs typeface="Arial" pitchFamily="34" charset="-120"/>
              </a:rPr>
              <a:t>XSLT</a:t>
            </a:r>
            <a:endParaRPr lang="en-US" sz="1600" dirty="0"/>
          </a:p>
        </p:txBody>
      </p:sp>
      <p:pic>
        <p:nvPicPr>
          <p:cNvPr id="28" name="Image 7" descr="arrow-right">    </p:cNvPr>
          <p:cNvPicPr>
            <a:picLocks noChangeAspect="1"/>
          </p:cNvPicPr>
          <p:nvPr/>
        </p:nvPicPr>
        <p:blipFill>
          <a:blip r:embed="rId8"/>
          <a:srcRect l="0" r="0" t="0" b="0"/>
          <a:stretch/>
        </p:blipFill>
        <p:spPr>
          <a:xfrm>
            <a:off x="9601200" y="2552700"/>
            <a:ext cx="279400" cy="139700"/>
          </a:xfrm>
          <a:prstGeom prst="rect">
            <a:avLst/>
          </a:prstGeom>
        </p:spPr>
      </p:pic>
      <p:sp>
        <p:nvSpPr>
          <p:cNvPr id="29" name="Text 19"/>
          <p:cNvSpPr/>
          <p:nvPr/>
        </p:nvSpPr>
        <p:spPr>
          <a:xfrm>
            <a:off x="9956800" y="2349500"/>
            <a:ext cx="1422400" cy="538460"/>
          </a:xfrm>
          <a:custGeom>
            <a:avLst/>
            <a:gdLst/>
            <a:ahLst/>
            <a:cxnLst/>
            <a:rect l="l" t="t" r="r" b="b"/>
            <a:pathLst>
              <a:path w="1422400" h="538460">
                <a:moveTo>
                  <a:pt x="76200" y="0"/>
                </a:moveTo>
                <a:lnTo>
                  <a:pt x="1346200" y="0"/>
                </a:lnTo>
                <a:arcTo hR="76200" wR="76200" stAng="16200000" swAng="5400000"/>
                <a:lnTo>
                  <a:pt x="1422400" y="462260"/>
                </a:lnTo>
                <a:arcTo hR="76200" wR="76200" stAng="0" swAng="5400000"/>
                <a:lnTo>
                  <a:pt x="76200" y="538460"/>
                </a:lnTo>
                <a:arcTo hR="76200" wR="76200" stAng="5400000" swAng="5400000"/>
                <a:lnTo>
                  <a:pt x="0" y="76200"/>
                </a:lnTo>
                <a:arcTo hR="76200" wR="76200" stAng="10800000" swAng="5400000"/>
                <a:close/>
              </a:path>
            </a:pathLst>
          </a:custGeom>
          <a:solidFill>
            <a:srgbClr val="E07A3A"/>
          </a:solidFill>
          <a:ln/>
        </p:spPr>
        <p:txBody>
          <a:bodyPr wrap="square" lIns="25400" tIns="127000" rIns="25400" bIns="101600" rtlCol="0" anchor="t">
            <a:normAutofit/>
          </a:bodyPr>
          <a:lstStyle/>
          <a:p>
            <a:pPr algn="ctr" indent="0" marL="0">
              <a:lnSpc>
                <a:spcPts val="2240"/>
              </a:lnSpc>
              <a:buNone/>
            </a:pPr>
            <a:r>
              <a:rPr lang="en-US" sz="1600" b="1" dirty="0">
                <a:solidFill>
                  <a:srgbClr val="13202B"/>
                </a:solidFill>
                <a:latin typeface="Arial" pitchFamily="34" charset="0"/>
                <a:ea typeface="Arial" pitchFamily="34" charset="-122"/>
                <a:cs typeface="Arial" pitchFamily="34" charset="-120"/>
              </a:rPr>
              <a:t>HTML</a:t>
            </a:r>
            <a:endParaRPr lang="en-US" sz="1600" dirty="0"/>
          </a:p>
        </p:txBody>
      </p:sp>
      <p:sp>
        <p:nvSpPr>
          <p:cNvPr id="30" name="Text 20"/>
          <p:cNvSpPr/>
          <p:nvPr/>
        </p:nvSpPr>
        <p:spPr>
          <a:xfrm>
            <a:off x="787400" y="29972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saisie</a:t>
            </a:r>
            <a:endParaRPr lang="en-US" sz="1200" dirty="0"/>
          </a:p>
        </p:txBody>
      </p:sp>
      <p:sp>
        <p:nvSpPr>
          <p:cNvPr id="31" name="Text 21"/>
          <p:cNvSpPr/>
          <p:nvPr/>
        </p:nvSpPr>
        <p:spPr>
          <a:xfrm>
            <a:off x="2616200" y="29972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schéma JSON</a:t>
            </a:r>
            <a:endParaRPr lang="en-US" sz="1200" dirty="0"/>
          </a:p>
        </p:txBody>
      </p:sp>
      <p:sp>
        <p:nvSpPr>
          <p:cNvPr id="32" name="Text 22"/>
          <p:cNvSpPr/>
          <p:nvPr/>
        </p:nvSpPr>
        <p:spPr>
          <a:xfrm>
            <a:off x="4445000" y="29972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7 tables</a:t>
            </a:r>
            <a:endParaRPr lang="en-US" sz="1200" dirty="0"/>
          </a:p>
        </p:txBody>
      </p:sp>
      <p:sp>
        <p:nvSpPr>
          <p:cNvPr id="33" name="Text 23"/>
          <p:cNvSpPr/>
          <p:nvPr/>
        </p:nvSpPr>
        <p:spPr>
          <a:xfrm>
            <a:off x="6273800" y="29972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lxml</a:t>
            </a:r>
            <a:endParaRPr lang="en-US" sz="1200" dirty="0"/>
          </a:p>
        </p:txBody>
      </p:sp>
      <p:sp>
        <p:nvSpPr>
          <p:cNvPr id="34" name="Text 24"/>
          <p:cNvSpPr/>
          <p:nvPr/>
        </p:nvSpPr>
        <p:spPr>
          <a:xfrm>
            <a:off x="8102600" y="29972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facture.xsl</a:t>
            </a:r>
            <a:endParaRPr lang="en-US" sz="1200" dirty="0"/>
          </a:p>
        </p:txBody>
      </p:sp>
      <p:sp>
        <p:nvSpPr>
          <p:cNvPr id="35" name="Text 25"/>
          <p:cNvSpPr/>
          <p:nvPr/>
        </p:nvSpPr>
        <p:spPr>
          <a:xfrm>
            <a:off x="9931400" y="2997200"/>
            <a:ext cx="1473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0"/>
                </a:solidFill>
                <a:latin typeface="Arial" pitchFamily="34" charset="0"/>
                <a:ea typeface="Arial" pitchFamily="34" charset="-122"/>
                <a:cs typeface="Arial" pitchFamily="34" charset="-120"/>
              </a:rPr>
              <a:t>navigateur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p:bgPr>
    </p:bg>
    <p:spTree>
      <p:nvGrpSpPr>
        <p:cNvPr id="1" name=""/>
        <p:cNvGrpSpPr/>
        <p:nvPr/>
      </p:nvGrpSpPr>
      <p:grpSpPr>
        <a:xfrm>
          <a:off x="0" y="0"/>
          <a:ext cx="0" cy="0"/>
          <a:chOff x="0" y="0"/>
          <a:chExt cx="0" cy="0"/>
        </a:xfrm>
      </p:grpSpPr>
      <p:pic>
        <p:nvPicPr>
          <p:cNvPr id="2" name="Image 0" descr="Schéma entité-relation : tables emetteur, tel, client, adresse, logement, facture et ligne_facture avec leurs clés">    </p:cNvPr>
          <p:cNvPicPr>
            <a:picLocks noChangeAspect="1"/>
          </p:cNvPicPr>
          <p:nvPr/>
        </p:nvPicPr>
        <p:blipFill>
          <a:blip r:embed="rId1"/>
          <a:srcRect l="0" r="0" t="-25" b="-25"/>
          <a:stretch/>
        </p:blipFill>
        <p:spPr>
          <a:xfrm>
            <a:off x="812800" y="609600"/>
            <a:ext cx="4572000" cy="5435600"/>
          </a:xfrm>
          <a:prstGeom prst="rect">
            <a:avLst/>
          </a:prstGeom>
        </p:spPr>
      </p:pic>
      <p:sp>
        <p:nvSpPr>
          <p:cNvPr id="3" name="Text 0"/>
          <p:cNvSpPr/>
          <p:nvPr/>
        </p:nvSpPr>
        <p:spPr>
          <a:xfrm>
            <a:off x="5994400" y="2043509"/>
            <a:ext cx="554634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FD1B5"/>
                </a:solidFill>
                <a:latin typeface="Arial" pitchFamily="34" charset="0"/>
                <a:ea typeface="Arial" pitchFamily="34" charset="-122"/>
                <a:cs typeface="Arial" pitchFamily="34" charset="-120"/>
              </a:rPr>
              <a:t>BASE DE DONNÉES</a:t>
            </a:r>
            <a:endParaRPr lang="en-US" sz="1200" dirty="0"/>
          </a:p>
        </p:txBody>
      </p:sp>
      <p:sp>
        <p:nvSpPr>
          <p:cNvPr id="4" name="Text 1"/>
          <p:cNvSpPr/>
          <p:nvPr>
            <p:ph type="title"/>
          </p:nvPr>
        </p:nvSpPr>
        <p:spPr>
          <a:xfrm>
            <a:off x="5994400" y="2460030"/>
            <a:ext cx="5546344"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5F3EE"/>
                </a:solidFill>
                <a:latin typeface="Arial" pitchFamily="34" charset="0"/>
                <a:ea typeface="Arial" pitchFamily="34" charset="-122"/>
                <a:cs typeface="Arial" pitchFamily="34" charset="-120"/>
              </a:rPr>
              <a:t>Le schéma SQLite</a:t>
            </a:r>
            <a:endParaRPr lang="en-US" sz="3600" dirty="0"/>
          </a:p>
        </p:txBody>
      </p:sp>
      <p:sp>
        <p:nvSpPr>
          <p:cNvPr id="5" name="Text 2"/>
          <p:cNvSpPr/>
          <p:nvPr/>
        </p:nvSpPr>
        <p:spPr>
          <a:xfrm>
            <a:off x="6071108" y="3188990"/>
            <a:ext cx="5462016" cy="1447701"/>
          </a:xfrm>
          <a:prstGeom prst="rect">
            <a:avLst/>
          </a:prstGeom>
          <a:noFill/>
          <a:ln/>
        </p:spPr>
        <p:txBody>
          <a:bodyPr wrap="square" lIns="0" tIns="0" rIns="0" bIns="0" rtlCol="0" anchor="t">
            <a:normAutofit/>
          </a:bodyPr>
          <a:lstStyle/>
          <a:p>
            <a:pPr algn="l" marL="177292" indent="-177292">
              <a:lnSpc>
                <a:spcPts val="2240"/>
              </a:lnSpc>
              <a:buSzPct val="100000"/>
              <a:buChar char="•"/>
            </a:pPr>
            <a:r>
              <a:rPr lang="en-US" sz="1600" b="1" dirty="0">
                <a:solidFill>
                  <a:srgbClr val="F5F3EE"/>
                </a:solidFill>
                <a:latin typeface="Arial" pitchFamily="34" charset="0"/>
                <a:ea typeface="Arial" pitchFamily="34" charset="-122"/>
                <a:cs typeface="Arial" pitchFamily="34" charset="-120"/>
              </a:rPr>
              <a:t>adresse</a:t>
            </a:r>
            <a:r>
              <a:rPr lang="en-US" sz="1600" dirty="0">
                <a:solidFill>
                  <a:srgbClr val="B9C6CF"/>
                </a:solidFill>
                <a:latin typeface="Arial" pitchFamily="34" charset="0"/>
                <a:ea typeface="Arial" pitchFamily="34" charset="-122"/>
                <a:cs typeface="Arial" pitchFamily="34" charset="-120"/>
              </a:rPr>
              <a:t> est partagée : émetteur, client et logement y pointent</a:t>
            </a:r>
            <a:endParaRPr lang="en-US" sz="1600" dirty="0"/>
          </a:p>
          <a:p>
            <a:pPr algn="l" marL="177292" indent="-177292">
              <a:lnSpc>
                <a:spcPts val="2240"/>
              </a:lnSpc>
              <a:buSzPct val="100000"/>
              <a:buChar char="•"/>
            </a:pPr>
            <a:r>
              <a:rPr lang="en-US" sz="1600" b="1" dirty="0">
                <a:solidFill>
                  <a:srgbClr val="F5F3EE"/>
                </a:solidFill>
                <a:latin typeface="Arial" pitchFamily="34" charset="0"/>
                <a:ea typeface="Arial" pitchFamily="34" charset="-122"/>
                <a:cs typeface="Arial" pitchFamily="34" charset="-120"/>
              </a:rPr>
              <a:t>facture</a:t>
            </a:r>
            <a:r>
              <a:rPr lang="en-US" sz="1600" dirty="0">
                <a:solidFill>
                  <a:srgbClr val="B9C6CF"/>
                </a:solidFill>
                <a:latin typeface="Arial" pitchFamily="34" charset="0"/>
                <a:ea typeface="Arial" pitchFamily="34" charset="-122"/>
                <a:cs typeface="Arial" pitchFamily="34" charset="-120"/>
              </a:rPr>
              <a:t> relie un émetteur à un client</a:t>
            </a:r>
            <a:endParaRPr lang="en-US" sz="1600" dirty="0"/>
          </a:p>
          <a:p>
            <a:pPr algn="l" marL="177292" indent="-177292">
              <a:lnSpc>
                <a:spcPts val="2240"/>
              </a:lnSpc>
              <a:buSzPct val="100000"/>
              <a:buChar char="•"/>
            </a:pPr>
            <a:r>
              <a:rPr lang="en-US" sz="1600" b="1" dirty="0">
                <a:solidFill>
                  <a:srgbClr val="F5F3EE"/>
                </a:solidFill>
                <a:latin typeface="Arial" pitchFamily="34" charset="0"/>
                <a:ea typeface="Arial" pitchFamily="34" charset="-122"/>
                <a:cs typeface="Arial" pitchFamily="34" charset="-120"/>
              </a:rPr>
              <a:t>ligne_facture</a:t>
            </a:r>
            <a:r>
              <a:rPr lang="en-US" sz="1600" dirty="0">
                <a:solidFill>
                  <a:srgbClr val="B9C6CF"/>
                </a:solidFill>
                <a:latin typeface="Arial" pitchFamily="34" charset="0"/>
                <a:ea typeface="Arial" pitchFamily="34" charset="-122"/>
                <a:cs typeface="Arial" pitchFamily="34" charset="-120"/>
              </a:rPr>
              <a:t> relie une facture à un logement</a:t>
            </a:r>
            <a:endParaRPr lang="en-US" sz="1600" dirty="0"/>
          </a:p>
          <a:p>
            <a:pPr algn="l" marL="177292" indent="-177292">
              <a:lnSpc>
                <a:spcPts val="2240"/>
              </a:lnSpc>
              <a:buSzPct val="100000"/>
              <a:buChar char="•"/>
            </a:pPr>
            <a:r>
              <a:rPr lang="en-US" sz="1600" b="1" dirty="0">
                <a:solidFill>
                  <a:srgbClr val="F5F3EE"/>
                </a:solidFill>
                <a:latin typeface="Arial" pitchFamily="34" charset="0"/>
                <a:ea typeface="Arial" pitchFamily="34" charset="-122"/>
                <a:cs typeface="Arial" pitchFamily="34" charset="-120"/>
              </a:rPr>
              <a:t>tel</a:t>
            </a:r>
            <a:r>
              <a:rPr lang="en-US" sz="1600" dirty="0">
                <a:solidFill>
                  <a:srgbClr val="B9C6CF"/>
                </a:solidFill>
                <a:latin typeface="Arial" pitchFamily="34" charset="0"/>
                <a:ea typeface="Arial" pitchFamily="34" charset="-122"/>
                <a:cs typeface="Arial" pitchFamily="34" charset="-120"/>
              </a:rPr>
              <a:t> appartient soit à un émetteur, soit à un client</a:t>
            </a:r>
            <a:endParaRPr lang="en-US" sz="1600" dirty="0"/>
          </a:p>
        </p:txBody>
      </p:sp>
      <p:sp>
        <p:nvSpPr>
          <p:cNvPr id="6" name="Text 3"/>
          <p:cNvSpPr/>
          <p:nvPr/>
        </p:nvSpPr>
        <p:spPr>
          <a:xfrm>
            <a:off x="6553200" y="628908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AD"/>
                </a:solidFill>
                <a:latin typeface="Arial" pitchFamily="34" charset="0"/>
                <a:ea typeface="Arial" pitchFamily="34" charset="-122"/>
                <a:cs typeface="Arial" pitchFamily="34" charset="-120"/>
              </a:rPr>
              <a:t>src/server/schema/database.sql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6F5E"/>
                </a:solidFill>
                <a:latin typeface="Arial" pitchFamily="34" charset="0"/>
                <a:ea typeface="Arial" pitchFamily="34" charset="-122"/>
                <a:cs typeface="Arial" pitchFamily="34" charset="-120"/>
              </a:rPr>
              <a:t>BASE DE DONNÉES</a:t>
            </a:r>
            <a:endParaRPr lang="en-US" sz="1200" dirty="0"/>
          </a:p>
        </p:txBody>
      </p:sp>
      <p:sp>
        <p:nvSpPr>
          <p:cNvPr id="3" name="Text 1"/>
          <p:cNvSpPr/>
          <p:nvPr>
            <p:ph type="title"/>
          </p:nvPr>
        </p:nvSpPr>
        <p:spPr>
          <a:xfrm>
            <a:off x="812800" y="1127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A2630"/>
                </a:solidFill>
                <a:latin typeface="Arial" pitchFamily="34" charset="0"/>
                <a:ea typeface="Arial" pitchFamily="34" charset="-122"/>
                <a:cs typeface="Arial" pitchFamily="34" charset="-120"/>
              </a:rPr>
              <a:t>Clés et contraintes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70980"/>
          <a:ext cx="10553700" cy="3088084"/>
        </p:xfrm>
        <a:graphic>
          <a:graphicData uri="http://schemas.openxmlformats.org/drawingml/2006/table">
            <a:tbl>
              <a:tblPr/>
              <a:tblGrid>
                <a:gridCol w="2110740"/>
                <a:gridCol w="2321814"/>
                <a:gridCol w="6121146"/>
              </a:tblGrid>
              <a:tr h="386011">
                <a:tc>
                  <a:txBody>
                    <a:bodyPr/>
                    <a:lstStyle/>
                    <a:p>
                      <a:pPr indent="0" marL="0">
                        <a:lnSpc>
                          <a:spcPts val="1960"/>
                        </a:lnSpc>
                        <a:buNone/>
                      </a:pPr>
                      <a:r>
                        <a:rPr lang="en-US" sz="1400" b="1" dirty="0">
                          <a:solidFill>
                            <a:srgbClr val="F5F3EE"/>
                          </a:solidFill>
                          <a:latin typeface="Arial" pitchFamily="34" charset="0"/>
                          <a:ea typeface="Arial" pitchFamily="34" charset="-122"/>
                          <a:cs typeface="Arial" pitchFamily="34" charset="-120"/>
                        </a:rPr>
                        <a:t>Table</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131D2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26"/>
                      </a:solidFill>
                      <a:prstDash val="solid"/>
                      <a:round/>
                      <a:headEnd type="none" w="med" len="med"/>
                      <a:tailEnd type="none" w="med" len="med"/>
                    </a:lnB>
                    <a:solidFill>
                      <a:srgbClr val="13202B"/>
                    </a:solidFill>
                  </a:tcPr>
                </a:tc>
                <a:tc>
                  <a:txBody>
                    <a:bodyPr/>
                    <a:lstStyle/>
                    <a:p>
                      <a:pPr indent="0" marL="0">
                        <a:lnSpc>
                          <a:spcPts val="1960"/>
                        </a:lnSpc>
                        <a:buNone/>
                      </a:pPr>
                      <a:r>
                        <a:rPr lang="en-US" sz="1400" b="1" dirty="0">
                          <a:solidFill>
                            <a:srgbClr val="F5F3EE"/>
                          </a:solidFill>
                          <a:latin typeface="Arial" pitchFamily="34" charset="0"/>
                          <a:ea typeface="Arial" pitchFamily="34" charset="-122"/>
                          <a:cs typeface="Arial" pitchFamily="34" charset="-120"/>
                        </a:rPr>
                        <a:t>Clé primaire</a:t>
                      </a:r>
                      <a:endParaRPr lang="en-US" sz="1400" dirty="0">
                        <a:latin typeface="Arial" charset="0"/>
                        <a:ea typeface="Arial" charset="0"/>
                        <a:cs typeface="Arial" charset="0"/>
                      </a:endParaRPr>
                    </a:p>
                  </a:txBody>
                  <a:tcPr marL="62230" marR="62230" marT="62230" marB="62230" anchor="t">
                    <a:lnL w="12700" cap="flat" cmpd="sng" algn="ctr">
                      <a:solidFill>
                        <a:srgbClr val="131D26"/>
                      </a:solidFill>
                      <a:prstDash val="solid"/>
                      <a:round/>
                      <a:headEnd type="none" w="med" len="med"/>
                      <a:tailEnd type="none" w="med" len="med"/>
                    </a:lnL>
                    <a:lnR w="12700" cap="flat" cmpd="sng" algn="ctr">
                      <a:solidFill>
                        <a:srgbClr val="131D2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26"/>
                      </a:solidFill>
                      <a:prstDash val="solid"/>
                      <a:round/>
                      <a:headEnd type="none" w="med" len="med"/>
                      <a:tailEnd type="none" w="med" len="med"/>
                    </a:lnB>
                    <a:solidFill>
                      <a:srgbClr val="13202B"/>
                    </a:solidFill>
                  </a:tcPr>
                </a:tc>
                <a:tc>
                  <a:txBody>
                    <a:bodyPr/>
                    <a:lstStyle/>
                    <a:p>
                      <a:pPr indent="0" marL="0">
                        <a:lnSpc>
                          <a:spcPts val="1960"/>
                        </a:lnSpc>
                        <a:buNone/>
                      </a:pPr>
                      <a:r>
                        <a:rPr lang="en-US" sz="1400" b="1" dirty="0">
                          <a:solidFill>
                            <a:srgbClr val="F5F3EE"/>
                          </a:solidFill>
                          <a:latin typeface="Arial" pitchFamily="34" charset="0"/>
                          <a:ea typeface="Arial" pitchFamily="34" charset="-122"/>
                          <a:cs typeface="Arial" pitchFamily="34" charset="-120"/>
                        </a:rPr>
                        <a:t>Clés étrangères et règles</a:t>
                      </a:r>
                      <a:endParaRPr lang="en-US" sz="1400" dirty="0">
                        <a:latin typeface="Arial" charset="0"/>
                        <a:ea typeface="Arial" charset="0"/>
                        <a:cs typeface="Arial" charset="0"/>
                      </a:endParaRPr>
                    </a:p>
                  </a:txBody>
                  <a:tcPr marL="62230" marR="62230" marT="62230" marB="62230" anchor="t">
                    <a:lnL w="12700" cap="flat" cmpd="sng" algn="ctr">
                      <a:solidFill>
                        <a:srgbClr val="131D26"/>
                      </a:solidFill>
                      <a:prstDash val="solid"/>
                      <a:round/>
                      <a:headEnd type="none" w="med" len="med"/>
                      <a:tailEnd type="none" w="med" len="med"/>
                    </a:lnL>
                    <a:lnR w="12700" cap="flat" cmpd="sng" algn="ctr">
                      <a:solidFill>
                        <a:srgbClr val="131D26"/>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131D26"/>
                      </a:solidFill>
                      <a:prstDash val="solid"/>
                      <a:round/>
                      <a:headEnd type="none" w="med" len="med"/>
                      <a:tailEnd type="none" w="med" len="med"/>
                    </a:lnB>
                    <a:solidFill>
                      <a:srgbClr val="13202B"/>
                    </a:solidFill>
                  </a:tcPr>
                </a:tc>
              </a:tr>
              <a:tr h="386011">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adresse</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2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id (auto)</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2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utilisée par émetteur, client et logement</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131D26"/>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emetteur</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id (auto)</a:t>
                      </a:r>
                      <a:endParaRPr lang="en-US" sz="1400" dirty="0">
                        <a:latin typeface="Arial" charset="0"/>
                        <a:ea typeface="Arial" charset="0"/>
                        <a:cs typeface="Arial"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 adresse</a:t>
                      </a:r>
                      <a:endParaRPr lang="en-US" sz="1400" dirty="0">
                        <a:latin typeface="Arial" charset="0"/>
                        <a:ea typeface="Arial" charset="0"/>
                        <a:cs typeface="Arial"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86011">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client</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id (auto)</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 adresse</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tel</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id (auto)</a:t>
                      </a:r>
                      <a:endParaRPr lang="en-US" sz="1400" dirty="0">
                        <a:latin typeface="Arial" charset="0"/>
                        <a:ea typeface="Arial" charset="0"/>
                        <a:cs typeface="Arial"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 émetteur OU client, jamais les deux (CHECK)</a:t>
                      </a:r>
                      <a:endParaRPr lang="en-US" sz="1400" dirty="0">
                        <a:latin typeface="Arial" charset="0"/>
                        <a:ea typeface="Arial" charset="0"/>
                        <a:cs typeface="Arial"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86011">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logement</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id = LOG-…</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 adresse · montants ≥ 0 · meublé oui / non</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386011">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facture</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numero = FAC-…</a:t>
                      </a:r>
                      <a:endParaRPr lang="en-US" sz="1400" dirty="0">
                        <a:latin typeface="Arial" charset="0"/>
                        <a:ea typeface="Arial" charset="0"/>
                        <a:cs typeface="Arial"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 émetteur, → client</a:t>
                      </a:r>
                      <a:endParaRPr lang="en-US" sz="1400" dirty="0">
                        <a:latin typeface="Arial" charset="0"/>
                        <a:ea typeface="Arial" charset="0"/>
                        <a:cs typeface="Arial" charset="0"/>
                      </a:endParaRPr>
                    </a:p>
                  </a:txBody>
                  <a:tcPr marL="62230" marR="62230" marT="62230" marB="6223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86011">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ligne_facture</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id (auto)</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960"/>
                        </a:lnSpc>
                        <a:buNone/>
                      </a:pPr>
                      <a:r>
                        <a:rPr lang="en-US" sz="1400" dirty="0">
                          <a:solidFill>
                            <a:srgbClr val="1A2630"/>
                          </a:solidFill>
                          <a:latin typeface="Arial" pitchFamily="34" charset="0"/>
                          <a:ea typeface="Arial" pitchFamily="34" charset="-122"/>
                          <a:cs typeface="Arial" pitchFamily="34" charset="-120"/>
                        </a:rPr>
                        <a:t>→ facture, → logement · montant ≥ 0</a:t>
                      </a:r>
                      <a:endParaRPr lang="en-US" sz="1400" dirty="0">
                        <a:latin typeface="Arial" charset="0"/>
                        <a:ea typeface="Arial" charset="0"/>
                        <a:cs typeface="Arial"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8C"/>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81D"/>
        </a:solidFill>
      </p:bgPr>
    </p:bg>
    <p:spTree>
      <p:nvGrpSpPr>
        <p:cNvPr id="1" name=""/>
        <p:cNvGrpSpPr/>
        <p:nvPr/>
      </p:nvGrpSpPr>
      <p:grpSpPr>
        <a:xfrm>
          <a:off x="0" y="0"/>
          <a:ext cx="0" cy="0"/>
          <a:chOff x="0" y="0"/>
          <a:chExt cx="0" cy="0"/>
        </a:xfrm>
      </p:grpSpPr>
      <p:pic>
        <p:nvPicPr>
          <p:cNvPr id="2" name="Image 0" descr="Graphe des liens de la facture FAC-001 : émetteur, client, adresses, offre et logement LOG-001, trois lignes de paiement et total de 850 euros">    </p:cNvPr>
          <p:cNvPicPr>
            <a:picLocks noChangeAspect="1"/>
          </p:cNvPicPr>
          <p:nvPr/>
        </p:nvPicPr>
        <p:blipFill>
          <a:blip r:embed="rId1"/>
          <a:srcRect l="-17" r="-17" t="0" b="0"/>
          <a:stretch/>
        </p:blipFill>
        <p:spPr>
          <a:xfrm>
            <a:off x="812800" y="685800"/>
            <a:ext cx="5461000" cy="5283200"/>
          </a:xfrm>
          <a:prstGeom prst="rect">
            <a:avLst/>
          </a:prstGeom>
        </p:spPr>
      </p:pic>
      <p:sp>
        <p:nvSpPr>
          <p:cNvPr id="3" name="Text 0"/>
          <p:cNvSpPr/>
          <p:nvPr/>
        </p:nvSpPr>
        <p:spPr>
          <a:xfrm>
            <a:off x="6731000" y="1717179"/>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FD1B5"/>
                </a:solidFill>
                <a:latin typeface="Arial" pitchFamily="34" charset="0"/>
                <a:ea typeface="Arial" pitchFamily="34" charset="-122"/>
                <a:cs typeface="Arial" pitchFamily="34" charset="-120"/>
              </a:rPr>
              <a:t>MODÈLE DE DONNÉES</a:t>
            </a:r>
            <a:endParaRPr lang="en-US" sz="1200" dirty="0"/>
          </a:p>
        </p:txBody>
      </p:sp>
      <p:sp>
        <p:nvSpPr>
          <p:cNvPr id="4" name="Text 1"/>
          <p:cNvSpPr/>
          <p:nvPr>
            <p:ph type="title"/>
          </p:nvPr>
        </p:nvSpPr>
        <p:spPr>
          <a:xfrm>
            <a:off x="6731000" y="2108299"/>
            <a:ext cx="4787646" cy="103118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3EE"/>
                </a:solidFill>
                <a:latin typeface="Arial" pitchFamily="34" charset="0"/>
                <a:ea typeface="Arial" pitchFamily="34" charset="-122"/>
                <a:cs typeface="Arial" pitchFamily="34" charset="-120"/>
              </a:rPr>
              <a:t>Le lien entre les données</a:t>
            </a:r>
            <a:endParaRPr lang="en-US" sz="3600" dirty="0"/>
          </a:p>
        </p:txBody>
      </p:sp>
      <p:sp>
        <p:nvSpPr>
          <p:cNvPr id="5" name="Text 2"/>
          <p:cNvSpPr/>
          <p:nvPr/>
        </p:nvSpPr>
        <p:spPr>
          <a:xfrm>
            <a:off x="6807708" y="3291880"/>
            <a:ext cx="4703318" cy="1671141"/>
          </a:xfrm>
          <a:prstGeom prst="rect">
            <a:avLst/>
          </a:prstGeom>
          <a:noFill/>
          <a:ln/>
        </p:spPr>
        <p:txBody>
          <a:bodyPr wrap="square" lIns="0" tIns="0" rIns="0" bIns="0" rtlCol="0" anchor="t">
            <a:normAutofit/>
          </a:bodyPr>
          <a:lstStyle/>
          <a:p>
            <a:pPr algn="l" marL="177292" indent="-177292">
              <a:lnSpc>
                <a:spcPts val="2160"/>
              </a:lnSpc>
              <a:buSzPct val="100000"/>
              <a:buChar char="•"/>
            </a:pPr>
            <a:r>
              <a:rPr lang="en-US" sz="1600" dirty="0">
                <a:solidFill>
                  <a:srgbClr val="B9C6CF"/>
                </a:solidFill>
                <a:latin typeface="Arial" pitchFamily="34" charset="0"/>
                <a:ea typeface="Arial" pitchFamily="34" charset="-122"/>
                <a:cs typeface="Arial" pitchFamily="34" charset="-120"/>
              </a:rPr>
              <a:t>La facture relie l'émetteur et le client</a:t>
            </a:r>
            <a:endParaRPr lang="en-US" sz="1600" dirty="0"/>
          </a:p>
          <a:p>
            <a:pPr algn="l" marL="177292" indent="-177292">
              <a:lnSpc>
                <a:spcPts val="2160"/>
              </a:lnSpc>
              <a:buSzPct val="100000"/>
              <a:buChar char="•"/>
            </a:pPr>
            <a:r>
              <a:rPr lang="en-US" sz="1600" dirty="0">
                <a:solidFill>
                  <a:srgbClr val="B9C6CF"/>
                </a:solidFill>
                <a:latin typeface="Arial" pitchFamily="34" charset="0"/>
                <a:ea typeface="Arial" pitchFamily="34" charset="-122"/>
                <a:cs typeface="Arial" pitchFamily="34" charset="-120"/>
              </a:rPr>
              <a:t>Deux nœuds composés : l'offre et les détails de paiement</a:t>
            </a:r>
            <a:endParaRPr lang="en-US" sz="1600" dirty="0"/>
          </a:p>
          <a:p>
            <a:pPr algn="l" marL="177292" indent="-177292">
              <a:lnSpc>
                <a:spcPts val="2160"/>
              </a:lnSpc>
              <a:buSzPct val="100000"/>
              <a:buChar char="•"/>
            </a:pPr>
            <a:r>
              <a:rPr lang="en-US" sz="1600" dirty="0">
                <a:solidFill>
                  <a:srgbClr val="B9C6CF"/>
                </a:solidFill>
                <a:latin typeface="Arial" pitchFamily="34" charset="0"/>
                <a:ea typeface="Arial" pitchFamily="34" charset="-122"/>
                <a:cs typeface="Arial" pitchFamily="34" charset="-120"/>
              </a:rPr>
              <a:t>Chaque ligne référence LOG-001 via </a:t>
            </a:r>
            <a:r>
              <a:rPr lang="en-US" sz="1600" b="1" dirty="0">
                <a:solidFill>
                  <a:srgbClr val="F5F3EE"/>
                </a:solidFill>
                <a:latin typeface="Arial" pitchFamily="34" charset="0"/>
                <a:ea typeface="Arial" pitchFamily="34" charset="-122"/>
                <a:cs typeface="Arial" pitchFamily="34" charset="-120"/>
              </a:rPr>
              <a:t>@refLogement</a:t>
            </a:r>
            <a:endParaRPr lang="en-US" sz="1600" dirty="0"/>
          </a:p>
          <a:p>
            <a:pPr algn="l" marL="177292" indent="-177292">
              <a:lnSpc>
                <a:spcPts val="2160"/>
              </a:lnSpc>
              <a:buSzPct val="100000"/>
              <a:buChar char="•"/>
            </a:pPr>
            <a:r>
              <a:rPr lang="en-US" sz="1600" dirty="0">
                <a:solidFill>
                  <a:srgbClr val="B9C6CF"/>
                </a:solidFill>
                <a:latin typeface="Arial" pitchFamily="34" charset="0"/>
                <a:ea typeface="Arial" pitchFamily="34" charset="-122"/>
                <a:cs typeface="Arial" pitchFamily="34" charset="-120"/>
              </a:rPr>
              <a:t>Total = 600 + 50 + 200 = </a:t>
            </a:r>
            <a:r>
              <a:rPr lang="en-US" sz="1600" b="1" dirty="0">
                <a:solidFill>
                  <a:srgbClr val="F5F3EE"/>
                </a:solidFill>
                <a:latin typeface="Arial" pitchFamily="34" charset="0"/>
                <a:ea typeface="Arial" pitchFamily="34" charset="-122"/>
                <a:cs typeface="Arial" pitchFamily="34" charset="-120"/>
              </a:rPr>
              <a:t>850 €</a:t>
            </a:r>
            <a:endParaRPr lang="en-US" sz="1600" dirty="0"/>
          </a:p>
        </p:txBody>
      </p:sp>
      <p:sp>
        <p:nvSpPr>
          <p:cNvPr id="6" name="Text 3"/>
          <p:cNvSpPr/>
          <p:nvPr/>
        </p:nvSpPr>
        <p:spPr>
          <a:xfrm>
            <a:off x="6731000" y="6289080"/>
            <a:ext cx="47876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AD"/>
                </a:solidFill>
                <a:latin typeface="Arial" pitchFamily="34" charset="0"/>
                <a:ea typeface="Arial" pitchFamily="34" charset="-122"/>
                <a:cs typeface="Arial" pitchFamily="34" charset="-120"/>
              </a:rPr>
              <a:t>Exemple : examples/facture.xml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6F5E"/>
                </a:solidFill>
                <a:latin typeface="Arial" pitchFamily="34" charset="0"/>
                <a:ea typeface="Arial" pitchFamily="34" charset="-122"/>
                <a:cs typeface="Arial" pitchFamily="34" charset="-120"/>
              </a:rPr>
              <a:t>VALIDATION</a:t>
            </a:r>
            <a:endParaRPr lang="en-US" sz="1200" dirty="0"/>
          </a:p>
        </p:txBody>
      </p:sp>
      <p:sp>
        <p:nvSpPr>
          <p:cNvPr id="3" name="Text 1"/>
          <p:cNvSpPr/>
          <p:nvPr>
            <p:ph type="title"/>
          </p:nvPr>
        </p:nvSpPr>
        <p:spPr>
          <a:xfrm>
            <a:off x="812800" y="1127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A2630"/>
                </a:solidFill>
                <a:latin typeface="Arial" pitchFamily="34" charset="0"/>
                <a:ea typeface="Arial" pitchFamily="34" charset="-122"/>
                <a:cs typeface="Arial" pitchFamily="34" charset="-120"/>
              </a:rPr>
              <a:t>Trois contrôles avant l'insertion</a:t>
            </a:r>
            <a:endParaRPr lang="en-US" sz="3600" dirty="0"/>
          </a:p>
        </p:txBody>
      </p:sp>
      <p:sp>
        <p:nvSpPr>
          <p:cNvPr id="4" name="Shape 2"/>
          <p:cNvSpPr/>
          <p:nvPr/>
        </p:nvSpPr>
        <p:spPr>
          <a:xfrm>
            <a:off x="815975" y="1961455"/>
            <a:ext cx="3380284" cy="1779141"/>
          </a:xfrm>
          <a:prstGeom prst="roundRect">
            <a:avLst>
              <a:gd name="adj" fmla="val 5532"/>
            </a:avLst>
          </a:prstGeom>
          <a:solidFill>
            <a:srgbClr val="FFFDF8"/>
          </a:solidFill>
          <a:ln w="6350">
            <a:solidFill>
              <a:srgbClr val="DDD8CC"/>
            </a:solidFill>
            <a:prstDash val="solid"/>
          </a:ln>
        </p:spPr>
      </p:sp>
      <p:sp>
        <p:nvSpPr>
          <p:cNvPr id="5" name="Text 3"/>
          <p:cNvSpPr/>
          <p:nvPr/>
        </p:nvSpPr>
        <p:spPr>
          <a:xfrm>
            <a:off x="1073150" y="2218630"/>
            <a:ext cx="29519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6F5E"/>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073150" y="2711351"/>
            <a:ext cx="295191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2630"/>
                </a:solidFill>
                <a:latin typeface="Arial" pitchFamily="34" charset="0"/>
                <a:ea typeface="Arial" pitchFamily="34" charset="-122"/>
                <a:cs typeface="Arial" pitchFamily="34" charset="-120"/>
              </a:rPr>
              <a:t>Schéma JSON</a:t>
            </a:r>
            <a:endParaRPr lang="en-US" sz="1600" dirty="0"/>
          </a:p>
        </p:txBody>
      </p:sp>
      <p:sp>
        <p:nvSpPr>
          <p:cNvPr id="7" name="Text 5"/>
          <p:cNvSpPr/>
          <p:nvPr/>
        </p:nvSpPr>
        <p:spPr>
          <a:xfrm>
            <a:off x="1073150" y="3056781"/>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Structure, types et champs obligatoires vérifiés avec facture.schema.json</a:t>
            </a:r>
            <a:endParaRPr lang="en-US" sz="1200" dirty="0"/>
          </a:p>
        </p:txBody>
      </p:sp>
      <p:sp>
        <p:nvSpPr>
          <p:cNvPr id="8" name="Shape 6"/>
          <p:cNvSpPr/>
          <p:nvPr/>
        </p:nvSpPr>
        <p:spPr>
          <a:xfrm>
            <a:off x="4405809" y="1961455"/>
            <a:ext cx="3380333" cy="1779141"/>
          </a:xfrm>
          <a:prstGeom prst="roundRect">
            <a:avLst>
              <a:gd name="adj" fmla="val 5532"/>
            </a:avLst>
          </a:prstGeom>
          <a:solidFill>
            <a:srgbClr val="FFFDF8"/>
          </a:solidFill>
          <a:ln w="6350">
            <a:solidFill>
              <a:srgbClr val="DDD8CC"/>
            </a:solidFill>
            <a:prstDash val="solid"/>
          </a:ln>
        </p:spPr>
      </p:sp>
      <p:sp>
        <p:nvSpPr>
          <p:cNvPr id="9" name="Text 7"/>
          <p:cNvSpPr/>
          <p:nvPr/>
        </p:nvSpPr>
        <p:spPr>
          <a:xfrm>
            <a:off x="4662984" y="2218630"/>
            <a:ext cx="295196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6F5E"/>
                </a:solidFill>
                <a:latin typeface="Arial" pitchFamily="34" charset="0"/>
                <a:ea typeface="Arial" pitchFamily="34" charset="-122"/>
                <a:cs typeface="Arial" pitchFamily="34" charset="-120"/>
              </a:rPr>
              <a:t>2</a:t>
            </a:r>
            <a:endParaRPr lang="en-US" sz="2200" dirty="0"/>
          </a:p>
        </p:txBody>
      </p:sp>
      <p:sp>
        <p:nvSpPr>
          <p:cNvPr id="10" name="Text 8"/>
          <p:cNvSpPr/>
          <p:nvPr/>
        </p:nvSpPr>
        <p:spPr>
          <a:xfrm>
            <a:off x="4662984" y="2711351"/>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2630"/>
                </a:solidFill>
                <a:latin typeface="Arial" pitchFamily="34" charset="0"/>
                <a:ea typeface="Arial" pitchFamily="34" charset="-122"/>
                <a:cs typeface="Arial" pitchFamily="34" charset="-120"/>
              </a:rPr>
              <a:t>Références</a:t>
            </a:r>
            <a:endParaRPr lang="en-US" sz="1600" dirty="0"/>
          </a:p>
        </p:txBody>
      </p:sp>
      <p:sp>
        <p:nvSpPr>
          <p:cNvPr id="11" name="Text 9"/>
          <p:cNvSpPr/>
          <p:nvPr/>
        </p:nvSpPr>
        <p:spPr>
          <a:xfrm>
            <a:off x="4662984" y="3056781"/>
            <a:ext cx="2951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Chaque ligne pointe vers un logement présent dans l'offre</a:t>
            </a:r>
            <a:endParaRPr lang="en-US" sz="1200" dirty="0"/>
          </a:p>
        </p:txBody>
      </p:sp>
      <p:sp>
        <p:nvSpPr>
          <p:cNvPr id="12" name="Shape 10"/>
          <p:cNvSpPr/>
          <p:nvPr/>
        </p:nvSpPr>
        <p:spPr>
          <a:xfrm>
            <a:off x="7995692" y="1961455"/>
            <a:ext cx="3380333" cy="1779141"/>
          </a:xfrm>
          <a:prstGeom prst="roundRect">
            <a:avLst>
              <a:gd name="adj" fmla="val 5532"/>
            </a:avLst>
          </a:prstGeom>
          <a:solidFill>
            <a:srgbClr val="FFFDF8"/>
          </a:solidFill>
          <a:ln w="6350">
            <a:solidFill>
              <a:srgbClr val="DDD8CC"/>
            </a:solidFill>
            <a:prstDash val="solid"/>
          </a:ln>
        </p:spPr>
      </p:sp>
      <p:sp>
        <p:nvSpPr>
          <p:cNvPr id="13" name="Text 11"/>
          <p:cNvSpPr/>
          <p:nvPr/>
        </p:nvSpPr>
        <p:spPr>
          <a:xfrm>
            <a:off x="8252867" y="2218630"/>
            <a:ext cx="295196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F6F5E"/>
                </a:solidFill>
                <a:latin typeface="Arial" pitchFamily="34" charset="0"/>
                <a:ea typeface="Arial" pitchFamily="34" charset="-122"/>
                <a:cs typeface="Arial" pitchFamily="34" charset="-120"/>
              </a:rPr>
              <a:t>3</a:t>
            </a:r>
            <a:endParaRPr lang="en-US" sz="2200" dirty="0"/>
          </a:p>
        </p:txBody>
      </p:sp>
      <p:sp>
        <p:nvSpPr>
          <p:cNvPr id="14" name="Text 12"/>
          <p:cNvSpPr/>
          <p:nvPr/>
        </p:nvSpPr>
        <p:spPr>
          <a:xfrm>
            <a:off x="8252867" y="2711351"/>
            <a:ext cx="295196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A2630"/>
                </a:solidFill>
                <a:latin typeface="Arial" pitchFamily="34" charset="0"/>
                <a:ea typeface="Arial" pitchFamily="34" charset="-122"/>
                <a:cs typeface="Arial" pitchFamily="34" charset="-120"/>
              </a:rPr>
              <a:t>Total</a:t>
            </a:r>
            <a:endParaRPr lang="en-US" sz="1600" dirty="0"/>
          </a:p>
        </p:txBody>
      </p:sp>
      <p:sp>
        <p:nvSpPr>
          <p:cNvPr id="15" name="Text 13"/>
          <p:cNvSpPr/>
          <p:nvPr/>
        </p:nvSpPr>
        <p:spPr>
          <a:xfrm>
            <a:off x="8252867" y="3056781"/>
            <a:ext cx="2951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La somme des lignes doit égaler le total annoncé</a:t>
            </a:r>
            <a:endParaRPr lang="en-US" sz="1200" dirty="0"/>
          </a:p>
        </p:txBody>
      </p:sp>
      <p:sp>
        <p:nvSpPr>
          <p:cNvPr id="16" name="Text 14"/>
          <p:cNvSpPr/>
          <p:nvPr/>
        </p:nvSpPr>
        <p:spPr>
          <a:xfrm>
            <a:off x="812800" y="4048571"/>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0"/>
                </a:solidFill>
                <a:latin typeface="Arial" pitchFamily="34" charset="0"/>
                <a:ea typeface="Arial" pitchFamily="34" charset="-122"/>
                <a:cs typeface="Arial" pitchFamily="34" charset="-120"/>
              </a:rPr>
              <a:t>Une erreur renvoie </a:t>
            </a:r>
            <a:r>
              <a:rPr lang="en-US" sz="1600" b="1" dirty="0">
                <a:solidFill>
                  <a:srgbClr val="4A5560"/>
                </a:solidFill>
                <a:latin typeface="Arial" pitchFamily="34" charset="0"/>
                <a:ea typeface="Arial" pitchFamily="34" charset="-122"/>
                <a:cs typeface="Arial" pitchFamily="34" charset="-120"/>
              </a:rPr>
              <a:t>400</a:t>
            </a:r>
            <a:r>
              <a:rPr lang="en-US" sz="1600" dirty="0">
                <a:solidFill>
                  <a:srgbClr val="4A5560"/>
                </a:solidFill>
                <a:latin typeface="Arial" pitchFamily="34" charset="0"/>
                <a:ea typeface="Arial" pitchFamily="34" charset="-122"/>
                <a:cs typeface="Arial" pitchFamily="34" charset="-120"/>
              </a:rPr>
              <a:t> avec le détail de chaque champ. Un numéro déjà utilisé renvoie </a:t>
            </a:r>
            <a:r>
              <a:rPr lang="en-US" sz="1600" b="1" dirty="0">
                <a:solidFill>
                  <a:srgbClr val="4A5560"/>
                </a:solidFill>
                <a:latin typeface="Arial" pitchFamily="34" charset="0"/>
                <a:ea typeface="Arial" pitchFamily="34" charset="-122"/>
                <a:cs typeface="Arial" pitchFamily="34" charset="-120"/>
              </a:rPr>
              <a:t>409</a:t>
            </a:r>
            <a:r>
              <a:rPr lang="en-US" sz="1600" dirty="0">
                <a:solidFill>
                  <a:srgbClr val="4A5560"/>
                </a:solidFill>
                <a:latin typeface="Arial" pitchFamily="34" charset="0"/>
                <a:ea typeface="Arial" pitchFamily="34" charset="-122"/>
                <a:cs typeface="Arial" pitchFamily="34" charset="-120"/>
              </a:rPr>
              <a:t>. Sinon, tout est inséré dans une seule transaction.</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8C"/>
                </a:solidFill>
                <a:latin typeface="Arial" pitchFamily="34" charset="0"/>
                <a:ea typeface="Arial" pitchFamily="34" charset="-122"/>
                <a:cs typeface="Arial" pitchFamily="34" charset="-120"/>
              </a:rPr>
              <a:t>src/server/factures.py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07A3A"/>
        </a:solidFill>
      </p:bgPr>
    </p:bg>
    <p:spTree>
      <p:nvGrpSpPr>
        <p:cNvPr id="1" name=""/>
        <p:cNvGrpSpPr/>
        <p:nvPr/>
      </p:nvGrpSpPr>
      <p:grpSpPr>
        <a:xfrm>
          <a:off x="0" y="0"/>
          <a:ext cx="0" cy="0"/>
          <a:chOff x="0" y="0"/>
          <a:chExt cx="0" cy="0"/>
        </a:xfrm>
      </p:grpSpPr>
      <p:sp>
        <p:nvSpPr>
          <p:cNvPr id="2" name="Text 0"/>
          <p:cNvSpPr/>
          <p:nvPr/>
        </p:nvSpPr>
        <p:spPr>
          <a:xfrm>
            <a:off x="812800" y="201935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3202B"/>
                </a:solidFill>
                <a:latin typeface="Arial" pitchFamily="34" charset="0"/>
                <a:ea typeface="Arial" pitchFamily="34" charset="-122"/>
                <a:cs typeface="Arial" pitchFamily="34" charset="-120"/>
              </a:rPr>
              <a:t>PARTIE 2</a:t>
            </a:r>
            <a:endParaRPr lang="en-US" sz="1200" dirty="0"/>
          </a:p>
        </p:txBody>
      </p:sp>
      <p:sp>
        <p:nvSpPr>
          <p:cNvPr id="3" name="Text 1"/>
          <p:cNvSpPr/>
          <p:nvPr>
            <p:ph type="title"/>
          </p:nvPr>
        </p:nvSpPr>
        <p:spPr>
          <a:xfrm>
            <a:off x="812800" y="2435870"/>
            <a:ext cx="10883392" cy="1295400"/>
          </a:xfrm>
          <a:prstGeom prst="rect">
            <a:avLst/>
          </a:prstGeom>
          <a:noFill/>
          <a:ln/>
        </p:spPr>
        <p:txBody>
          <a:bodyPr wrap="square" lIns="0" tIns="0" rIns="0" bIns="0" rtlCol="0" anchor="t">
            <a:normAutofit/>
          </a:bodyPr>
          <a:lstStyle/>
          <a:p>
            <a:pPr algn="l" indent="0" marL="0">
              <a:lnSpc>
                <a:spcPts val="10000"/>
              </a:lnSpc>
              <a:buNone/>
            </a:pPr>
            <a:r>
              <a:rPr lang="en-US" sz="10000" b="1" i="0" dirty="0">
                <a:solidFill>
                  <a:srgbClr val="13202B"/>
                </a:solidFill>
                <a:latin typeface="Arial" pitchFamily="34" charset="0"/>
                <a:ea typeface="Arial" pitchFamily="34" charset="-122"/>
                <a:cs typeface="Arial" pitchFamily="34" charset="-120"/>
              </a:rPr>
              <a:t>Démo</a:t>
            </a:r>
            <a:endParaRPr lang="en-US" sz="10000" dirty="0"/>
          </a:p>
        </p:txBody>
      </p:sp>
      <p:sp>
        <p:nvSpPr>
          <p:cNvPr id="4" name="Text 2"/>
          <p:cNvSpPr/>
          <p:nvPr/>
        </p:nvSpPr>
        <p:spPr>
          <a:xfrm>
            <a:off x="812800" y="3909070"/>
            <a:ext cx="850265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3202B"/>
                </a:solidFill>
                <a:latin typeface="Arial" pitchFamily="34" charset="0"/>
                <a:ea typeface="Arial" pitchFamily="34" charset="-122"/>
                <a:cs typeface="Arial" pitchFamily="34" charset="-120"/>
              </a:rPr>
              <a:t>Créer une facture, la consulter en JSON, XML et HTML, puis la générer depuis un texte libre</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B"/>
                </a:solidFill>
                <a:latin typeface="Courier New" pitchFamily="49" charset="0"/>
                <a:ea typeface="Courier New" pitchFamily="49" charset="-122"/>
                <a:cs typeface="Courier New" pitchFamily="49" charset="-120"/>
              </a:rPr>
              <a:t>make run → http://127.0.0.1:5000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6F5E"/>
                </a:solidFill>
                <a:latin typeface="Arial" pitchFamily="34" charset="0"/>
                <a:ea typeface="Arial" pitchFamily="34" charset="-122"/>
                <a:cs typeface="Arial" pitchFamily="34" charset="-120"/>
              </a:rPr>
              <a:t>DÉMO · ÉTAPE 1</a:t>
            </a:r>
            <a:endParaRPr lang="en-US" sz="1200" dirty="0"/>
          </a:p>
        </p:txBody>
      </p:sp>
      <p:sp>
        <p:nvSpPr>
          <p:cNvPr id="3" name="Text 1"/>
          <p:cNvSpPr/>
          <p:nvPr>
            <p:ph type="title"/>
          </p:nvPr>
        </p:nvSpPr>
        <p:spPr>
          <a:xfrm>
            <a:off x="812800" y="1127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A2630"/>
                </a:solidFill>
                <a:latin typeface="Arial" pitchFamily="34" charset="0"/>
                <a:ea typeface="Arial" pitchFamily="34" charset="-122"/>
                <a:cs typeface="Arial" pitchFamily="34" charset="-120"/>
              </a:rPr>
              <a:t>Créer une facture avec le formulaire</a:t>
            </a:r>
            <a:endParaRPr lang="en-US" sz="3600" dirty="0"/>
          </a:p>
        </p:txBody>
      </p:sp>
      <p:sp>
        <p:nvSpPr>
          <p:cNvPr id="4" name="Text 2"/>
          <p:cNvSpPr/>
          <p:nvPr/>
        </p:nvSpPr>
        <p:spPr>
          <a:xfrm>
            <a:off x="840879" y="1958280"/>
            <a:ext cx="5065891" cy="3220641"/>
          </a:xfrm>
          <a:prstGeom prst="rect">
            <a:avLst/>
          </a:prstGeom>
          <a:noFill/>
          <a:ln/>
        </p:spPr>
        <p:txBody>
          <a:bodyPr wrap="square" lIns="0" tIns="0" rIns="0" bIns="0" rtlCol="0" anchor="t">
            <a:normAutofit/>
          </a:bodyPr>
          <a:lstStyle/>
          <a:p>
            <a:pPr algn="l" marL="225921" indent="-225921">
              <a:lnSpc>
                <a:spcPts val="2240"/>
              </a:lnSpc>
              <a:buSzPct val="100000"/>
              <a:buFontTx/>
              <a:buAutoNum type="arabicPeriod" startAt="1"/>
            </a:pPr>
            <a:r>
              <a:rPr lang="en-US" sz="1600" dirty="0">
                <a:solidFill>
                  <a:srgbClr val="1A2630"/>
                </a:solidFill>
                <a:latin typeface="Arial" pitchFamily="34" charset="0"/>
                <a:ea typeface="Arial" pitchFamily="34" charset="-122"/>
                <a:cs typeface="Arial" pitchFamily="34" charset="-120"/>
              </a:rPr>
              <a:t>Ouvrir </a:t>
            </a:r>
            <a:r>
              <a:rPr lang="en-US" sz="1600" b="1" dirty="0">
                <a:solidFill>
                  <a:srgbClr val="1A2630"/>
                </a:solidFill>
                <a:latin typeface="Arial" pitchFamily="34" charset="0"/>
                <a:ea typeface="Arial" pitchFamily="34" charset="-122"/>
                <a:cs typeface="Arial" pitchFamily="34" charset="-120"/>
              </a:rPr>
              <a:t>Formulaire</a:t>
            </a:r>
            <a:r>
              <a:rPr lang="en-US" sz="1600" dirty="0">
                <a:solidFill>
                  <a:srgbClr val="1A2630"/>
                </a:solidFill>
                <a:latin typeface="Arial" pitchFamily="34" charset="0"/>
                <a:ea typeface="Arial" pitchFamily="34" charset="-122"/>
                <a:cs typeface="Arial" pitchFamily="34" charset="-120"/>
              </a:rPr>
              <a:t> : numéro FAC-… et référence LOG-… sont déjà remplis</a:t>
            </a:r>
            <a:endParaRPr lang="en-US" sz="1600" dirty="0"/>
          </a:p>
          <a:p>
            <a:pPr algn="l" marL="225921" indent="-225921">
              <a:lnSpc>
                <a:spcPts val="2240"/>
              </a:lnSpc>
              <a:buSzPct val="100000"/>
              <a:buFontTx/>
              <a:buAutoNum type="arabicPeriod" startAt="1"/>
            </a:pPr>
            <a:r>
              <a:rPr lang="en-US" sz="1600" dirty="0">
                <a:solidFill>
                  <a:srgbClr val="1A2630"/>
                </a:solidFill>
                <a:latin typeface="Arial" pitchFamily="34" charset="0"/>
                <a:ea typeface="Arial" pitchFamily="34" charset="-122"/>
                <a:cs typeface="Arial" pitchFamily="34" charset="-120"/>
              </a:rPr>
              <a:t>Saisir l'émetteur, le client, le logement et les lignes</a:t>
            </a:r>
            <a:endParaRPr lang="en-US" sz="1600" dirty="0"/>
          </a:p>
          <a:p>
            <a:pPr algn="l" marL="225921" indent="-225921">
              <a:lnSpc>
                <a:spcPts val="2240"/>
              </a:lnSpc>
              <a:buSzPct val="100000"/>
              <a:buFontTx/>
              <a:buAutoNum type="arabicPeriod" startAt="1"/>
            </a:pPr>
            <a:r>
              <a:rPr lang="en-US" sz="1600" dirty="0">
                <a:solidFill>
                  <a:srgbClr val="1A2630"/>
                </a:solidFill>
                <a:latin typeface="Arial" pitchFamily="34" charset="0"/>
                <a:ea typeface="Arial" pitchFamily="34" charset="-122"/>
                <a:cs typeface="Arial" pitchFamily="34" charset="-120"/>
              </a:rPr>
              <a:t>Le JSON de la facture s'affiche en direct</a:t>
            </a:r>
            <a:endParaRPr lang="en-US" sz="1600" dirty="0"/>
          </a:p>
          <a:p>
            <a:pPr algn="l" marL="225921" indent="-225921">
              <a:lnSpc>
                <a:spcPts val="2240"/>
              </a:lnSpc>
              <a:buSzPct val="100000"/>
              <a:buFontTx/>
              <a:buAutoNum type="arabicPeriod" startAt="1"/>
            </a:pPr>
            <a:r>
              <a:rPr lang="en-US" sz="1600" dirty="0">
                <a:solidFill>
                  <a:srgbClr val="1A2630"/>
                </a:solidFill>
                <a:latin typeface="Arial" pitchFamily="34" charset="0"/>
                <a:ea typeface="Arial" pitchFamily="34" charset="-122"/>
                <a:cs typeface="Arial" pitchFamily="34" charset="-120"/>
              </a:rPr>
              <a:t>Cliquer sur </a:t>
            </a:r>
            <a:r>
              <a:rPr lang="en-US" sz="1600" b="1" dirty="0">
                <a:solidFill>
                  <a:srgbClr val="1A2630"/>
                </a:solidFill>
                <a:latin typeface="Arial" pitchFamily="34" charset="0"/>
                <a:ea typeface="Arial" pitchFamily="34" charset="-122"/>
                <a:cs typeface="Arial" pitchFamily="34" charset="-120"/>
              </a:rPr>
              <a:t>Enregistrer la facture</a:t>
            </a:r>
            <a:endParaRPr lang="en-US" sz="1600" dirty="0"/>
          </a:p>
        </p:txBody>
      </p:sp>
      <p:sp>
        <p:nvSpPr>
          <p:cNvPr id="5" name="Shape 3"/>
          <p:cNvSpPr/>
          <p:nvPr/>
        </p:nvSpPr>
        <p:spPr>
          <a:xfrm>
            <a:off x="6172200" y="1958280"/>
            <a:ext cx="5207000" cy="3195241"/>
          </a:xfrm>
          <a:prstGeom prst="roundRect">
            <a:avLst>
              <a:gd name="adj" fmla="val 3180"/>
            </a:avLst>
          </a:prstGeom>
          <a:solidFill>
            <a:srgbClr val="13202B"/>
          </a:solidFill>
          <a:ln/>
        </p:spPr>
      </p:sp>
      <p:sp>
        <p:nvSpPr>
          <p:cNvPr id="6" name="Text 4"/>
          <p:cNvSpPr/>
          <p:nvPr/>
        </p:nvSpPr>
        <p:spPr>
          <a:xfrm>
            <a:off x="6426200" y="2212280"/>
            <a:ext cx="4839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D1B5"/>
                </a:solidFill>
                <a:latin typeface="Courier New" pitchFamily="49" charset="0"/>
                <a:ea typeface="Courier New" pitchFamily="49" charset="-122"/>
                <a:cs typeface="Courier New" pitchFamily="49" charset="-120"/>
              </a:rPr>
              <a:t>POST /api/factures</a:t>
            </a:r>
            <a:endParaRPr lang="en-US" sz="1200" dirty="0"/>
          </a:p>
        </p:txBody>
      </p:sp>
      <p:sp>
        <p:nvSpPr>
          <p:cNvPr id="7" name="Text 5"/>
          <p:cNvSpPr/>
          <p:nvPr/>
        </p:nvSpPr>
        <p:spPr>
          <a:xfrm>
            <a:off x="6426200" y="2527201"/>
            <a:ext cx="48399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9A877"/>
                </a:solidFill>
                <a:latin typeface="Courier New" pitchFamily="49" charset="0"/>
                <a:ea typeface="Courier New" pitchFamily="49" charset="-122"/>
                <a:cs typeface="Courier New" pitchFamily="49" charset="-120"/>
              </a:rPr>
              <a:t>→ 201 Created</a:t>
            </a:r>
            <a:endParaRPr lang="en-US" sz="1200" dirty="0"/>
          </a:p>
        </p:txBody>
      </p:sp>
      <p:sp>
        <p:nvSpPr>
          <p:cNvPr id="8" name="Text 6"/>
          <p:cNvSpPr/>
          <p:nvPr/>
        </p:nvSpPr>
        <p:spPr>
          <a:xfrm>
            <a:off x="6426200" y="2842121"/>
            <a:ext cx="4839970" cy="2082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  "message": "Facture enregistrée.",</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  "numero": "FAC-…",</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  "liens": {</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    "json": "/api/factures/FAC-…",</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    "xml": "/factures/FAC-….xml",</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    "html": "/factures/FAC-….html"</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  }</a:t>
            </a:r>
            <a:endParaRPr lang="en-US" sz="1200" dirty="0"/>
          </a:p>
          <a:p>
            <a:pPr algn="l" indent="0" marL="0">
              <a:lnSpc>
                <a:spcPts val="1800"/>
              </a:lnSpc>
              <a:buNone/>
            </a:pPr>
            <a:r>
              <a:rPr lang="en-US" sz="1200" dirty="0">
                <a:solidFill>
                  <a:srgbClr val="E6EDF2"/>
                </a:solidFill>
                <a:latin typeface="Courier New" pitchFamily="49" charset="0"/>
                <a:ea typeface="Courier New" pitchFamily="49" charset="-122"/>
                <a:cs typeface="Courier New" pitchFamily="49" charset="-120"/>
              </a:rPr>
              <a:t>}</a:t>
            </a:r>
            <a:endParaRPr lang="en-US" sz="12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8C"/>
                </a:solidFill>
                <a:latin typeface="Arial" pitchFamily="34" charset="0"/>
                <a:ea typeface="Arial" pitchFamily="34" charset="-122"/>
                <a:cs typeface="Arial" pitchFamily="34" charset="-120"/>
              </a:rPr>
              <a:t>creer-facture.js · app.py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6F5E"/>
                </a:solidFill>
                <a:latin typeface="Arial" pitchFamily="34" charset="0"/>
                <a:ea typeface="Arial" pitchFamily="34" charset="-122"/>
                <a:cs typeface="Arial" pitchFamily="34" charset="-120"/>
              </a:rPr>
              <a:t>DÉMO · ÉTAPE 2</a:t>
            </a:r>
            <a:endParaRPr lang="en-US" sz="1200" dirty="0"/>
          </a:p>
        </p:txBody>
      </p:sp>
      <p:sp>
        <p:nvSpPr>
          <p:cNvPr id="3" name="Text 1"/>
          <p:cNvSpPr/>
          <p:nvPr>
            <p:ph type="title"/>
          </p:nvPr>
        </p:nvSpPr>
        <p:spPr>
          <a:xfrm>
            <a:off x="812800" y="1127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A2630"/>
                </a:solidFill>
                <a:latin typeface="Arial" pitchFamily="34" charset="0"/>
                <a:ea typeface="Arial" pitchFamily="34" charset="-122"/>
                <a:cs typeface="Arial" pitchFamily="34" charset="-120"/>
              </a:rPr>
              <a:t>Une facture, trois formats</a:t>
            </a:r>
            <a:endParaRPr lang="en-US" sz="3600" dirty="0"/>
          </a:p>
        </p:txBody>
      </p:sp>
      <p:sp>
        <p:nvSpPr>
          <p:cNvPr id="4" name="Shape 2"/>
          <p:cNvSpPr/>
          <p:nvPr/>
        </p:nvSpPr>
        <p:spPr>
          <a:xfrm>
            <a:off x="815975" y="1961455"/>
            <a:ext cx="3380284" cy="1692771"/>
          </a:xfrm>
          <a:prstGeom prst="roundRect">
            <a:avLst>
              <a:gd name="adj" fmla="val 5814"/>
            </a:avLst>
          </a:prstGeom>
          <a:solidFill>
            <a:srgbClr val="FFFDF8"/>
          </a:solidFill>
          <a:ln w="6350">
            <a:solidFill>
              <a:srgbClr val="DDD8CC"/>
            </a:solidFill>
            <a:prstDash val="solid"/>
          </a:ln>
        </p:spPr>
      </p:sp>
      <p:sp>
        <p:nvSpPr>
          <p:cNvPr id="5" name="Text 3"/>
          <p:cNvSpPr/>
          <p:nvPr/>
        </p:nvSpPr>
        <p:spPr>
          <a:xfrm>
            <a:off x="1073150" y="2218630"/>
            <a:ext cx="2951912"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6F5E"/>
                </a:solidFill>
                <a:latin typeface="Arial" pitchFamily="34" charset="0"/>
                <a:ea typeface="Arial" pitchFamily="34" charset="-122"/>
                <a:cs typeface="Arial" pitchFamily="34" charset="-120"/>
              </a:rPr>
              <a:t>JSON</a:t>
            </a:r>
            <a:endParaRPr lang="en-US" sz="2200" dirty="0"/>
          </a:p>
        </p:txBody>
      </p:sp>
      <p:sp>
        <p:nvSpPr>
          <p:cNvPr id="6" name="Text 4"/>
          <p:cNvSpPr/>
          <p:nvPr/>
        </p:nvSpPr>
        <p:spPr>
          <a:xfrm>
            <a:off x="1073150" y="2655491"/>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2630"/>
                </a:solidFill>
                <a:latin typeface="Courier New" pitchFamily="49" charset="0"/>
                <a:ea typeface="Courier New" pitchFamily="49" charset="-122"/>
                <a:cs typeface="Courier New" pitchFamily="49" charset="-120"/>
              </a:rPr>
              <a:t>/api/factures/FAC-…</a:t>
            </a:r>
            <a:endParaRPr lang="en-US" sz="1200" dirty="0"/>
          </a:p>
        </p:txBody>
      </p:sp>
      <p:sp>
        <p:nvSpPr>
          <p:cNvPr id="7" name="Text 5"/>
          <p:cNvSpPr/>
          <p:nvPr/>
        </p:nvSpPr>
        <p:spPr>
          <a:xfrm>
            <a:off x="1073150" y="2970411"/>
            <a:ext cx="295191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La facture relue depuis SQLite par jointures, au même format que l'envoi</a:t>
            </a:r>
            <a:endParaRPr lang="en-US" sz="1200" dirty="0"/>
          </a:p>
        </p:txBody>
      </p:sp>
      <p:sp>
        <p:nvSpPr>
          <p:cNvPr id="8" name="Shape 6"/>
          <p:cNvSpPr/>
          <p:nvPr/>
        </p:nvSpPr>
        <p:spPr>
          <a:xfrm>
            <a:off x="4405809" y="1961455"/>
            <a:ext cx="3380333" cy="1692771"/>
          </a:xfrm>
          <a:prstGeom prst="roundRect">
            <a:avLst>
              <a:gd name="adj" fmla="val 5814"/>
            </a:avLst>
          </a:prstGeom>
          <a:solidFill>
            <a:srgbClr val="FFFDF8"/>
          </a:solidFill>
          <a:ln w="6350">
            <a:solidFill>
              <a:srgbClr val="DDD8CC"/>
            </a:solidFill>
            <a:prstDash val="solid"/>
          </a:ln>
        </p:spPr>
      </p:sp>
      <p:sp>
        <p:nvSpPr>
          <p:cNvPr id="9" name="Text 7"/>
          <p:cNvSpPr/>
          <p:nvPr/>
        </p:nvSpPr>
        <p:spPr>
          <a:xfrm>
            <a:off x="4662984" y="2218630"/>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6F5E"/>
                </a:solidFill>
                <a:latin typeface="Arial" pitchFamily="34" charset="0"/>
                <a:ea typeface="Arial" pitchFamily="34" charset="-122"/>
                <a:cs typeface="Arial" pitchFamily="34" charset="-120"/>
              </a:rPr>
              <a:t>XML</a:t>
            </a:r>
            <a:endParaRPr lang="en-US" sz="2200" dirty="0"/>
          </a:p>
        </p:txBody>
      </p:sp>
      <p:sp>
        <p:nvSpPr>
          <p:cNvPr id="10" name="Text 8"/>
          <p:cNvSpPr/>
          <p:nvPr/>
        </p:nvSpPr>
        <p:spPr>
          <a:xfrm>
            <a:off x="4662984" y="2655491"/>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2630"/>
                </a:solidFill>
                <a:latin typeface="Courier New" pitchFamily="49" charset="0"/>
                <a:ea typeface="Courier New" pitchFamily="49" charset="-122"/>
                <a:cs typeface="Courier New" pitchFamily="49" charset="-120"/>
              </a:rPr>
              <a:t>/factures/FAC-….xml</a:t>
            </a:r>
            <a:endParaRPr lang="en-US" sz="1200" dirty="0"/>
          </a:p>
        </p:txBody>
      </p:sp>
      <p:sp>
        <p:nvSpPr>
          <p:cNvPr id="11" name="Text 9"/>
          <p:cNvSpPr/>
          <p:nvPr/>
        </p:nvSpPr>
        <p:spPr>
          <a:xfrm>
            <a:off x="4662984" y="2970411"/>
            <a:ext cx="2951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Généré avec lxml : les clés @ deviennent des attributs. Il référence facture.xsl</a:t>
            </a:r>
            <a:endParaRPr lang="en-US" sz="1200" dirty="0"/>
          </a:p>
        </p:txBody>
      </p:sp>
      <p:sp>
        <p:nvSpPr>
          <p:cNvPr id="12" name="Shape 10"/>
          <p:cNvSpPr/>
          <p:nvPr/>
        </p:nvSpPr>
        <p:spPr>
          <a:xfrm>
            <a:off x="7995692" y="1961455"/>
            <a:ext cx="3380333" cy="1692771"/>
          </a:xfrm>
          <a:prstGeom prst="roundRect">
            <a:avLst>
              <a:gd name="adj" fmla="val 5814"/>
            </a:avLst>
          </a:prstGeom>
          <a:solidFill>
            <a:srgbClr val="FFFDF8"/>
          </a:solidFill>
          <a:ln w="6350">
            <a:solidFill>
              <a:srgbClr val="DDD8CC"/>
            </a:solidFill>
            <a:prstDash val="solid"/>
          </a:ln>
        </p:spPr>
      </p:sp>
      <p:sp>
        <p:nvSpPr>
          <p:cNvPr id="13" name="Text 11"/>
          <p:cNvSpPr/>
          <p:nvPr/>
        </p:nvSpPr>
        <p:spPr>
          <a:xfrm>
            <a:off x="8252867" y="2218630"/>
            <a:ext cx="2951963"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6F5E"/>
                </a:solidFill>
                <a:latin typeface="Arial" pitchFamily="34" charset="0"/>
                <a:ea typeface="Arial" pitchFamily="34" charset="-122"/>
                <a:cs typeface="Arial" pitchFamily="34" charset="-120"/>
              </a:rPr>
              <a:t>HTML</a:t>
            </a:r>
            <a:endParaRPr lang="en-US" sz="2200" dirty="0"/>
          </a:p>
        </p:txBody>
      </p:sp>
      <p:sp>
        <p:nvSpPr>
          <p:cNvPr id="14" name="Text 12"/>
          <p:cNvSpPr/>
          <p:nvPr/>
        </p:nvSpPr>
        <p:spPr>
          <a:xfrm>
            <a:off x="8252867" y="2655491"/>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2630"/>
                </a:solidFill>
                <a:latin typeface="Courier New" pitchFamily="49" charset="0"/>
                <a:ea typeface="Courier New" pitchFamily="49" charset="-122"/>
                <a:cs typeface="Courier New" pitchFamily="49" charset="-120"/>
              </a:rPr>
              <a:t>/factures/FAC-….html</a:t>
            </a:r>
            <a:endParaRPr lang="en-US" sz="1200" dirty="0"/>
          </a:p>
        </p:txBody>
      </p:sp>
      <p:sp>
        <p:nvSpPr>
          <p:cNvPr id="15" name="Text 13"/>
          <p:cNvSpPr/>
          <p:nvPr/>
        </p:nvSpPr>
        <p:spPr>
          <a:xfrm>
            <a:off x="8252867" y="2970411"/>
            <a:ext cx="29519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0"/>
                </a:solidFill>
                <a:latin typeface="Arial" pitchFamily="34" charset="0"/>
                <a:ea typeface="Arial" pitchFamily="34" charset="-122"/>
                <a:cs typeface="Arial" pitchFamily="34" charset="-120"/>
              </a:rPr>
              <a:t>Le XML transformé par la feuille XSLT, côté serveur, en facture lisible</a:t>
            </a:r>
            <a:endParaRPr lang="en-US" sz="1200" dirty="0"/>
          </a:p>
        </p:txBody>
      </p:sp>
      <p:sp>
        <p:nvSpPr>
          <p:cNvPr id="16" name="Text 14"/>
          <p:cNvSpPr/>
          <p:nvPr/>
        </p:nvSpPr>
        <p:spPr>
          <a:xfrm>
            <a:off x="812800" y="396220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0"/>
                </a:solidFill>
                <a:latin typeface="Arial" pitchFamily="34" charset="0"/>
                <a:ea typeface="Arial" pitchFamily="34" charset="-122"/>
                <a:cs typeface="Arial" pitchFamily="34" charset="-120"/>
              </a:rPr>
              <a:t>L'accueil liste ensuite toutes les factures enregistrées avec leur total, calculé en SQL.</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8C"/>
                </a:solidFill>
                <a:latin typeface="Arial" pitchFamily="34" charset="0"/>
                <a:ea typeface="Arial" pitchFamily="34" charset="-122"/>
                <a:cs typeface="Arial" pitchFamily="34" charset="-120"/>
              </a:rPr>
              <a:t>factures.py · xslt/facture.xsl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F6F5E"/>
                </a:solidFill>
                <a:latin typeface="Arial" pitchFamily="34" charset="0"/>
                <a:ea typeface="Arial" pitchFamily="34" charset="-122"/>
                <a:cs typeface="Arial" pitchFamily="34" charset="-120"/>
              </a:rPr>
              <a:t>DÉMO · ÉTAPE 3</a:t>
            </a:r>
            <a:endParaRPr lang="en-US" sz="1200" dirty="0"/>
          </a:p>
        </p:txBody>
      </p:sp>
      <p:sp>
        <p:nvSpPr>
          <p:cNvPr id="3" name="Text 1"/>
          <p:cNvSpPr/>
          <p:nvPr>
            <p:ph type="title"/>
          </p:nvPr>
        </p:nvSpPr>
        <p:spPr>
          <a:xfrm>
            <a:off x="812800" y="1127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A2630"/>
                </a:solidFill>
                <a:latin typeface="Arial" pitchFamily="34" charset="0"/>
                <a:ea typeface="Arial" pitchFamily="34" charset="-122"/>
                <a:cs typeface="Arial" pitchFamily="34" charset="-120"/>
              </a:rPr>
              <a:t>Générer une facture depuis un texte</a:t>
            </a:r>
            <a:endParaRPr lang="en-US" sz="3600" dirty="0"/>
          </a:p>
        </p:txBody>
      </p:sp>
      <p:sp>
        <p:nvSpPr>
          <p:cNvPr id="4" name="Text 2"/>
          <p:cNvSpPr/>
          <p:nvPr/>
        </p:nvSpPr>
        <p:spPr>
          <a:xfrm>
            <a:off x="840879" y="1958280"/>
            <a:ext cx="5196701" cy="1447701"/>
          </a:xfrm>
          <a:prstGeom prst="rect">
            <a:avLst/>
          </a:prstGeom>
          <a:noFill/>
          <a:ln/>
        </p:spPr>
        <p:txBody>
          <a:bodyPr wrap="square" lIns="0" tIns="0" rIns="0" bIns="0" rtlCol="0" anchor="t">
            <a:normAutofit/>
          </a:bodyPr>
          <a:lstStyle/>
          <a:p>
            <a:pPr algn="l" marL="225921" indent="-225921">
              <a:lnSpc>
                <a:spcPts val="2240"/>
              </a:lnSpc>
              <a:buSzPct val="100000"/>
              <a:buFontTx/>
              <a:buAutoNum type="arabicPeriod" startAt="1"/>
            </a:pPr>
            <a:r>
              <a:rPr lang="en-US" sz="1600" dirty="0">
                <a:solidFill>
                  <a:srgbClr val="1A2630"/>
                </a:solidFill>
                <a:latin typeface="Arial" pitchFamily="34" charset="0"/>
                <a:ea typeface="Arial" pitchFamily="34" charset="-122"/>
                <a:cs typeface="Arial" pitchFamily="34" charset="-120"/>
              </a:rPr>
              <a:t>Ouvrir </a:t>
            </a:r>
            <a:r>
              <a:rPr lang="en-US" sz="1600" b="1" dirty="0">
                <a:solidFill>
                  <a:srgbClr val="1A2630"/>
                </a:solidFill>
                <a:latin typeface="Arial" pitchFamily="34" charset="0"/>
                <a:ea typeface="Arial" pitchFamily="34" charset="-122"/>
                <a:cs typeface="Arial" pitchFamily="34" charset="-120"/>
              </a:rPr>
              <a:t>Texte libre</a:t>
            </a:r>
            <a:r>
              <a:rPr lang="en-US" sz="1600" dirty="0">
                <a:solidFill>
                  <a:srgbClr val="1A2630"/>
                </a:solidFill>
                <a:latin typeface="Arial" pitchFamily="34" charset="0"/>
                <a:ea typeface="Arial" pitchFamily="34" charset="-122"/>
                <a:cs typeface="Arial" pitchFamily="34" charset="-120"/>
              </a:rPr>
              <a:t> et décrire l'offre</a:t>
            </a:r>
            <a:endParaRPr lang="en-US" sz="1600" dirty="0"/>
          </a:p>
          <a:p>
            <a:pPr algn="l" marL="225921" indent="-225921">
              <a:lnSpc>
                <a:spcPts val="2240"/>
              </a:lnSpc>
              <a:buSzPct val="100000"/>
              <a:buFontTx/>
              <a:buAutoNum type="arabicPeriod" startAt="1"/>
            </a:pPr>
            <a:r>
              <a:rPr lang="en-US" sz="1600" dirty="0">
                <a:solidFill>
                  <a:srgbClr val="1A2630"/>
                </a:solidFill>
                <a:latin typeface="Arial" pitchFamily="34" charset="0"/>
                <a:ea typeface="Arial" pitchFamily="34" charset="-122"/>
                <a:cs typeface="Arial" pitchFamily="34" charset="-120"/>
              </a:rPr>
              <a:t>Le serveur envoie au LLM la description, le schéma JSON et un exemple</a:t>
            </a:r>
            <a:endParaRPr lang="en-US" sz="1600" dirty="0"/>
          </a:p>
          <a:p>
            <a:pPr algn="l" marL="225921" indent="-225921">
              <a:lnSpc>
                <a:spcPts val="2240"/>
              </a:lnSpc>
              <a:buSzPct val="100000"/>
              <a:buFontTx/>
              <a:buAutoNum type="arabicPeriod" startAt="1"/>
            </a:pPr>
            <a:r>
              <a:rPr lang="en-US" sz="1600" dirty="0">
                <a:solidFill>
                  <a:srgbClr val="1A2630"/>
                </a:solidFill>
                <a:latin typeface="Arial" pitchFamily="34" charset="0"/>
                <a:ea typeface="Arial" pitchFamily="34" charset="-122"/>
                <a:cs typeface="Arial" pitchFamily="34" charset="-120"/>
              </a:rPr>
              <a:t>Le JSON renvoyé passe la même validation, puis il est inséré</a:t>
            </a:r>
            <a:endParaRPr lang="en-US" sz="1600" dirty="0"/>
          </a:p>
        </p:txBody>
      </p:sp>
      <p:sp>
        <p:nvSpPr>
          <p:cNvPr id="5" name="Shape 3"/>
          <p:cNvSpPr/>
          <p:nvPr/>
        </p:nvSpPr>
        <p:spPr>
          <a:xfrm>
            <a:off x="6302375" y="1961455"/>
            <a:ext cx="5073650" cy="1555651"/>
          </a:xfrm>
          <a:prstGeom prst="roundRect">
            <a:avLst>
              <a:gd name="adj" fmla="val 6327"/>
            </a:avLst>
          </a:prstGeom>
          <a:solidFill>
            <a:srgbClr val="FFFDF8"/>
          </a:solidFill>
          <a:ln w="6350">
            <a:solidFill>
              <a:srgbClr val="DDD8CC"/>
            </a:solidFill>
            <a:prstDash val="solid"/>
          </a:ln>
        </p:spPr>
      </p:sp>
      <p:sp>
        <p:nvSpPr>
          <p:cNvPr id="6" name="Text 4"/>
          <p:cNvSpPr/>
          <p:nvPr/>
        </p:nvSpPr>
        <p:spPr>
          <a:xfrm>
            <a:off x="6559550" y="2167830"/>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0"/>
                </a:solidFill>
                <a:latin typeface="Arial" pitchFamily="34" charset="0"/>
                <a:ea typeface="Arial" pitchFamily="34" charset="-122"/>
                <a:cs typeface="Arial" pitchFamily="34" charset="-120"/>
              </a:rPr>
              <a:t>EXEMPLE DE SAISIE</a:t>
            </a:r>
            <a:endParaRPr lang="en-US" sz="1200" dirty="0"/>
          </a:p>
        </p:txBody>
      </p:sp>
      <p:sp>
        <p:nvSpPr>
          <p:cNvPr id="7" name="Text 5"/>
          <p:cNvSpPr/>
          <p:nvPr/>
        </p:nvSpPr>
        <p:spPr>
          <a:xfrm>
            <a:off x="6559550" y="2457351"/>
            <a:ext cx="4696079" cy="87878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1A2630"/>
                </a:solidFill>
                <a:latin typeface="Arial" pitchFamily="34" charset="0"/>
                <a:ea typeface="Arial" pitchFamily="34" charset="-122"/>
                <a:cs typeface="Arial" pitchFamily="34" charset="-120"/>
              </a:rPr>
              <a:t>« Appartement meublé au 20 route des Aravis à La Clusaz, loyer 600 €, charges 50 €, dépôt 200 €, proposé par l'Agence des Aravis à Élodie Martin. »</a:t>
            </a:r>
            <a:endParaRPr lang="en-US" sz="1600" dirty="0"/>
          </a:p>
        </p:txBody>
      </p:sp>
      <p:sp>
        <p:nvSpPr>
          <p:cNvPr id="8" name="Text 6"/>
          <p:cNvSpPr/>
          <p:nvPr/>
        </p:nvSpPr>
        <p:spPr>
          <a:xfrm>
            <a:off x="6299200" y="3672681"/>
            <a:ext cx="523240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4A5560"/>
                </a:solidFill>
                <a:latin typeface="Arial" pitchFamily="34" charset="0"/>
                <a:ea typeface="Arial" pitchFamily="34" charset="-122"/>
                <a:cs typeface="Arial" pitchFamily="34" charset="-120"/>
              </a:rPr>
              <a:t>Sans clé : </a:t>
            </a:r>
            <a:r>
              <a:rPr lang="en-US" sz="1200" b="1" dirty="0">
                <a:solidFill>
                  <a:srgbClr val="4A5560"/>
                </a:solidFill>
                <a:latin typeface="Arial" pitchFamily="34" charset="0"/>
                <a:ea typeface="Arial" pitchFamily="34" charset="-122"/>
                <a:cs typeface="Arial" pitchFamily="34" charset="-120"/>
              </a:rPr>
              <a:t>503</a:t>
            </a:r>
            <a:r>
              <a:rPr lang="en-US" sz="1200" dirty="0">
                <a:solidFill>
                  <a:srgbClr val="4A5560"/>
                </a:solidFill>
                <a:latin typeface="Arial" pitchFamily="34" charset="0"/>
                <a:ea typeface="Arial" pitchFamily="34" charset="-122"/>
                <a:cs typeface="Arial" pitchFamily="34" charset="-120"/>
              </a:rPr>
              <a:t> · ILaaS indisponible : </a:t>
            </a:r>
            <a:r>
              <a:rPr lang="en-US" sz="1200" b="1" dirty="0">
                <a:solidFill>
                  <a:srgbClr val="4A5560"/>
                </a:solidFill>
                <a:latin typeface="Arial" pitchFamily="34" charset="0"/>
                <a:ea typeface="Arial" pitchFamily="34" charset="-122"/>
                <a:cs typeface="Arial" pitchFamily="34" charset="-120"/>
              </a:rPr>
              <a:t>502</a:t>
            </a:r>
            <a:r>
              <a:rPr lang="en-US" sz="1200" dirty="0">
                <a:solidFill>
                  <a:srgbClr val="4A5560"/>
                </a:solidFill>
                <a:latin typeface="Arial" pitchFamily="34" charset="0"/>
                <a:ea typeface="Arial" pitchFamily="34" charset="-122"/>
                <a:cs typeface="Arial" pitchFamily="34" charset="-120"/>
              </a:rPr>
              <a:t> · JSON non conforme : </a:t>
            </a:r>
            <a:r>
              <a:rPr lang="en-US" sz="1200" b="1" dirty="0">
                <a:solidFill>
                  <a:srgbClr val="4A5560"/>
                </a:solidFill>
                <a:latin typeface="Arial" pitchFamily="34" charset="0"/>
                <a:ea typeface="Arial" pitchFamily="34" charset="-122"/>
                <a:cs typeface="Arial" pitchFamily="34" charset="-120"/>
              </a:rPr>
              <a:t>422</a:t>
            </a:r>
            <a:endParaRPr lang="en-US" sz="12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848C"/>
                </a:solidFill>
                <a:latin typeface="Arial" pitchFamily="34" charset="0"/>
                <a:ea typeface="Arial" pitchFamily="34" charset="-122"/>
                <a:cs typeface="Arial" pitchFamily="34" charset="-120"/>
              </a:rPr>
              <a:t>ilaas.py · modèle mistral-small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6FD1B5"/>
                </a:solidFill>
                <a:latin typeface="Arial" pitchFamily="34" charset="0"/>
                <a:ea typeface="Arial" pitchFamily="34" charset="-122"/>
                <a:cs typeface="Arial" pitchFamily="34" charset="-120"/>
              </a:rPr>
              <a:t>INSTALLATION</a:t>
            </a:r>
            <a:endParaRPr lang="en-US" sz="1200" dirty="0"/>
          </a:p>
        </p:txBody>
      </p:sp>
      <p:sp>
        <p:nvSpPr>
          <p:cNvPr id="3" name="Text 1"/>
          <p:cNvSpPr/>
          <p:nvPr>
            <p:ph type="title"/>
          </p:nvPr>
        </p:nvSpPr>
        <p:spPr>
          <a:xfrm>
            <a:off x="812800" y="112772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5F3EE"/>
                </a:solidFill>
                <a:latin typeface="Arial" pitchFamily="34" charset="0"/>
                <a:ea typeface="Arial" pitchFamily="34" charset="-122"/>
                <a:cs typeface="Arial" pitchFamily="34" charset="-120"/>
              </a:rPr>
              <a:t>Lancer le projet</a:t>
            </a:r>
            <a:endParaRPr lang="en-US" sz="3600" dirty="0"/>
          </a:p>
        </p:txBody>
      </p:sp>
      <p:sp>
        <p:nvSpPr>
          <p:cNvPr id="4" name="Text 2"/>
          <p:cNvSpPr/>
          <p:nvPr/>
        </p:nvSpPr>
        <p:spPr>
          <a:xfrm>
            <a:off x="812800" y="1958280"/>
            <a:ext cx="5334000" cy="1942753"/>
          </a:xfrm>
          <a:prstGeom prst="roundRect">
            <a:avLst>
              <a:gd name="adj" fmla="val 5230"/>
            </a:avLst>
          </a:prstGeom>
          <a:solidFill>
            <a:srgbClr val="1E2F3D"/>
          </a:solidFill>
          <a:ln/>
        </p:spPr>
        <p:txBody>
          <a:bodyPr wrap="square" lIns="224242" tIns="224242" rIns="79462" bIns="224242" rtlCol="0" anchor="t">
            <a:normAutofit/>
          </a:bodyPr>
          <a:lstStyle/>
          <a:p>
            <a:pPr algn="l" indent="0" marL="0">
              <a:lnSpc>
                <a:spcPts val="2720"/>
              </a:lnSpc>
              <a:buNone/>
            </a:pPr>
            <a:r>
              <a:rPr lang="en-US" sz="1600" dirty="0">
                <a:solidFill>
                  <a:srgbClr val="E6EDF2"/>
                </a:solidFill>
                <a:latin typeface="Courier New" pitchFamily="49" charset="0"/>
                <a:ea typeface="Courier New" pitchFamily="49" charset="-122"/>
                <a:cs typeface="Courier New" pitchFamily="49" charset="-120"/>
              </a:rPr>
              <a:t>make install</a:t>
            </a:r>
            <a:endParaRPr lang="en-US" sz="1600" dirty="0"/>
          </a:p>
          <a:p>
            <a:pPr algn="l" indent="0" marL="0">
              <a:lnSpc>
                <a:spcPts val="2720"/>
              </a:lnSpc>
              <a:buNone/>
            </a:pPr>
            <a:r>
              <a:rPr lang="en-US" sz="1600" dirty="0">
                <a:solidFill>
                  <a:srgbClr val="6FD1B5"/>
                </a:solidFill>
                <a:latin typeface="Courier New" pitchFamily="49" charset="0"/>
                <a:ea typeface="Courier New" pitchFamily="49" charset="-122"/>
                <a:cs typeface="Courier New" pitchFamily="49" charset="-120"/>
              </a:rPr>
              <a:t>export</a:t>
            </a:r>
            <a:r>
              <a:rPr lang="en-US" sz="1600" dirty="0">
                <a:solidFill>
                  <a:srgbClr val="E6EDF2"/>
                </a:solidFill>
                <a:latin typeface="Courier New" pitchFamily="49" charset="0"/>
                <a:ea typeface="Courier New" pitchFamily="49" charset="-122"/>
                <a:cs typeface="Courier New" pitchFamily="49" charset="-120"/>
              </a:rPr>
              <a:t> ILAAS_API_KEY="…"</a:t>
            </a:r>
            <a:endParaRPr lang="en-US" sz="1600" dirty="0"/>
          </a:p>
          <a:p>
            <a:pPr algn="l" indent="0" marL="0">
              <a:lnSpc>
                <a:spcPts val="2720"/>
              </a:lnSpc>
              <a:buNone/>
            </a:pPr>
            <a:r>
              <a:rPr lang="en-US" sz="1600" dirty="0">
                <a:solidFill>
                  <a:srgbClr val="E6EDF2"/>
                </a:solidFill>
                <a:latin typeface="Courier New" pitchFamily="49" charset="0"/>
                <a:ea typeface="Courier New" pitchFamily="49" charset="-122"/>
                <a:cs typeface="Courier New" pitchFamily="49" charset="-120"/>
              </a:rPr>
              <a:t>make run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65900" y="1970980"/>
          <a:ext cx="4813300" cy="1930053"/>
        </p:xfrm>
        <a:graphic>
          <a:graphicData uri="http://schemas.openxmlformats.org/drawingml/2006/table">
            <a:tbl>
              <a:tblPr/>
              <a:tblGrid>
                <a:gridCol w="2021586"/>
                <a:gridCol w="2791714"/>
              </a:tblGrid>
              <a:tr h="386011">
                <a:tc>
                  <a:txBody>
                    <a:bodyPr/>
                    <a:lstStyle/>
                    <a:p>
                      <a:pPr indent="0" marL="0">
                        <a:lnSpc>
                          <a:spcPts val="1960"/>
                        </a:lnSpc>
                        <a:buNone/>
                      </a:pPr>
                      <a:r>
                        <a:rPr lang="en-US" sz="1400" b="1" dirty="0">
                          <a:solidFill>
                            <a:srgbClr val="6FD1B5"/>
                          </a:solidFill>
                          <a:latin typeface="Arial" pitchFamily="34" charset="0"/>
                          <a:ea typeface="Arial" pitchFamily="34" charset="-122"/>
                          <a:cs typeface="Arial" pitchFamily="34" charset="-120"/>
                        </a:rPr>
                        <a:t>Commande</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E5B65"/>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E5B65"/>
                      </a:solidFill>
                      <a:prstDash val="solid"/>
                      <a:round/>
                      <a:headEnd type="none" w="med" len="med"/>
                      <a:tailEnd type="none" w="med" len="med"/>
                    </a:lnB>
                    <a:solidFill>
                      <a:srgbClr val="1E2F3D"/>
                    </a:solidFill>
                  </a:tcPr>
                </a:tc>
                <a:tc>
                  <a:txBody>
                    <a:bodyPr/>
                    <a:lstStyle/>
                    <a:p>
                      <a:pPr indent="0" marL="0">
                        <a:lnSpc>
                          <a:spcPts val="1960"/>
                        </a:lnSpc>
                        <a:buNone/>
                      </a:pPr>
                      <a:r>
                        <a:rPr lang="en-US" sz="1400" b="1" dirty="0">
                          <a:solidFill>
                            <a:srgbClr val="6FD1B5"/>
                          </a:solidFill>
                          <a:latin typeface="Arial" pitchFamily="34" charset="0"/>
                          <a:ea typeface="Arial" pitchFamily="34" charset="-122"/>
                          <a:cs typeface="Arial" pitchFamily="34" charset="-120"/>
                        </a:rPr>
                        <a:t>Rôle</a:t>
                      </a:r>
                      <a:endParaRPr lang="en-US" sz="1400" dirty="0">
                        <a:latin typeface="Arial" charset="0"/>
                        <a:ea typeface="Arial" charset="0"/>
                        <a:cs typeface="Arial" charset="0"/>
                      </a:endParaRPr>
                    </a:p>
                  </a:txBody>
                  <a:tcPr marL="62230" marR="62230" marT="62230" marB="62230" anchor="t">
                    <a:lnL w="12700" cap="flat" cmpd="sng" algn="ctr">
                      <a:solidFill>
                        <a:srgbClr val="4E5B65"/>
                      </a:solidFill>
                      <a:prstDash val="solid"/>
                      <a:round/>
                      <a:headEnd type="none" w="med" len="med"/>
                      <a:tailEnd type="none" w="med" len="med"/>
                    </a:lnL>
                    <a:lnR w="12700" cap="flat" cmpd="sng" algn="ctr">
                      <a:solidFill>
                        <a:srgbClr val="4E5B65"/>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E5B65"/>
                      </a:solidFill>
                      <a:prstDash val="solid"/>
                      <a:round/>
                      <a:headEnd type="none" w="med" len="med"/>
                      <a:tailEnd type="none" w="med" len="med"/>
                    </a:lnB>
                    <a:solidFill>
                      <a:srgbClr val="1E2F3D"/>
                    </a:solidFill>
                  </a:tcPr>
                </a:tc>
              </a:tr>
              <a:tr h="386011">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make install</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E5B65"/>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crée .venv et installe</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E5B65"/>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r>
              <a:tr h="386011">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make run</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lance l'application</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r>
              <a:tr h="386011">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make dev</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mode debug</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r>
              <a:tr h="386011">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make clean</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c>
                  <a:txBody>
                    <a:bodyPr/>
                    <a:lstStyle/>
                    <a:p>
                      <a:pPr indent="0" marL="0">
                        <a:lnSpc>
                          <a:spcPts val="1960"/>
                        </a:lnSpc>
                        <a:buNone/>
                      </a:pPr>
                      <a:r>
                        <a:rPr lang="en-US" sz="1400" dirty="0">
                          <a:solidFill>
                            <a:srgbClr val="E6EDF2"/>
                          </a:solidFill>
                          <a:latin typeface="Arial" pitchFamily="34" charset="0"/>
                          <a:ea typeface="Arial" pitchFamily="34" charset="-122"/>
                          <a:cs typeface="Arial" pitchFamily="34" charset="-120"/>
                        </a:rPr>
                        <a:t>vide les caches</a:t>
                      </a:r>
                      <a:endParaRPr lang="en-US" sz="1400" dirty="0">
                        <a:latin typeface="Arial" charset="0"/>
                        <a:ea typeface="Arial" charset="0"/>
                        <a:cs typeface="Arial" charset="0"/>
                      </a:endParaRPr>
                    </a:p>
                  </a:txBody>
                  <a:tcPr marL="62230" marR="62230" marT="62230" marB="62230" anchor="t">
                    <a:lnL w="12700" cap="flat" cmpd="sng" algn="ctr">
                      <a:solidFill>
                        <a:srgbClr val="465057"/>
                      </a:solidFill>
                      <a:prstDash val="solid"/>
                      <a:round/>
                      <a:headEnd type="none" w="med" len="med"/>
                      <a:tailEnd type="none" w="med" len="med"/>
                    </a:lnL>
                    <a:lnR w="12700" cap="flat" cmpd="sng" algn="ctr">
                      <a:solidFill>
                        <a:srgbClr val="465057"/>
                      </a:solidFill>
                      <a:prstDash val="solid"/>
                      <a:round/>
                      <a:headEnd type="none" w="med" len="med"/>
                      <a:tailEnd type="none" w="med" len="med"/>
                    </a:lnR>
                    <a:lnT w="12700" cap="flat" cmpd="sng" algn="ctr">
                      <a:solidFill>
                        <a:srgbClr val="465057"/>
                      </a:solidFill>
                      <a:prstDash val="solid"/>
                      <a:round/>
                      <a:headEnd type="none" w="med" len="med"/>
                      <a:tailEnd type="none" w="med" len="med"/>
                    </a:lnT>
                    <a:lnB w="12700" cap="flat" cmpd="sng" algn="ctr">
                      <a:solidFill>
                        <a:srgbClr val="465057"/>
                      </a:solidFill>
                      <a:prstDash val="solid"/>
                      <a:round/>
                      <a:headEnd type="none" w="med" len="med"/>
                      <a:tailEnd type="none" w="med" len="med"/>
                    </a:lnB>
                  </a:tcPr>
                </a:tc>
              </a:tr>
            </a:tbl>
          </a:graphicData>
        </a:graphic>
      </p:graphicFrame>
      <p:sp>
        <p:nvSpPr>
          <p:cNvPr id="6" name="Text 3"/>
          <p:cNvSpPr/>
          <p:nvPr/>
        </p:nvSpPr>
        <p:spPr>
          <a:xfrm>
            <a:off x="812800" y="4205833"/>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C6CF"/>
                </a:solidFill>
                <a:latin typeface="Arial" pitchFamily="34" charset="0"/>
                <a:ea typeface="Arial" pitchFamily="34" charset="-122"/>
                <a:cs typeface="Arial" pitchFamily="34" charset="-120"/>
              </a:rPr>
              <a:t>Puis ouvrir </a:t>
            </a:r>
            <a:r>
              <a:rPr lang="en-US" sz="1600" b="1" dirty="0">
                <a:solidFill>
                  <a:srgbClr val="F5F3EE"/>
                </a:solidFill>
                <a:latin typeface="Arial" pitchFamily="34" charset="0"/>
                <a:ea typeface="Arial" pitchFamily="34" charset="-122"/>
                <a:cs typeface="Arial" pitchFamily="34" charset="-120"/>
              </a:rPr>
              <a:t>http://127.0.0.1:5000</a:t>
            </a:r>
            <a:r>
              <a:rPr lang="en-US" sz="1600" dirty="0">
                <a:solidFill>
                  <a:srgbClr val="B9C6CF"/>
                </a:solidFill>
                <a:latin typeface="Arial" pitchFamily="34" charset="0"/>
                <a:ea typeface="Arial" pitchFamily="34" charset="-122"/>
                <a:cs typeface="Arial" pitchFamily="34" charset="-120"/>
              </a:rPr>
              <a:t>. La base est créée toute seule au premier lancement.</a:t>
            </a:r>
            <a:endParaRPr lang="en-US" sz="16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AD"/>
                </a:solidFill>
                <a:latin typeface="Arial" pitchFamily="34" charset="0"/>
                <a:ea typeface="Arial" pitchFamily="34" charset="-122"/>
                <a:cs typeface="Arial" pitchFamily="34" charset="-120"/>
              </a:rPr>
              <a:t>github.com/El-Khey/DDS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02B"/>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6FD1B5"/>
          </a:solidFill>
          <a:ln/>
        </p:spPr>
      </p:sp>
      <p:sp>
        <p:nvSpPr>
          <p:cNvPr id="3" name="Text 1"/>
          <p:cNvSpPr/>
          <p:nvPr>
            <p:ph type="title"/>
          </p:nvPr>
        </p:nvSpPr>
        <p:spPr>
          <a:xfrm>
            <a:off x="812800" y="21679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3EE"/>
                </a:solidFill>
                <a:latin typeface="Arial" pitchFamily="34" charset="0"/>
                <a:ea typeface="Arial" pitchFamily="34" charset="-122"/>
                <a:cs typeface="Arial" pitchFamily="34" charset="-120"/>
              </a:rPr>
              <a:t>Merci</a:t>
            </a:r>
            <a:endParaRPr lang="en-US" sz="6000" dirty="0"/>
          </a:p>
        </p:txBody>
      </p:sp>
      <p:sp>
        <p:nvSpPr>
          <p:cNvPr id="4" name="Text 2"/>
          <p:cNvSpPr/>
          <p:nvPr/>
        </p:nvSpPr>
        <p:spPr>
          <a:xfrm>
            <a:off x="812800" y="3222030"/>
            <a:ext cx="9156700" cy="75178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9C6CF"/>
                </a:solidFill>
                <a:latin typeface="Arial" pitchFamily="34" charset="0"/>
                <a:ea typeface="Arial" pitchFamily="34" charset="-122"/>
                <a:cs typeface="Arial" pitchFamily="34" charset="-120"/>
              </a:rPr>
              <a:t>Une même facture, validée une fois, disponible en JSON, XML et HTML.</a:t>
            </a:r>
            <a:endParaRPr lang="en-US" sz="2200" dirty="0"/>
          </a:p>
        </p:txBody>
      </p:sp>
      <p:sp>
        <p:nvSpPr>
          <p:cNvPr id="5" name="Text 3"/>
          <p:cNvSpPr/>
          <p:nvPr/>
        </p:nvSpPr>
        <p:spPr>
          <a:xfrm>
            <a:off x="812800" y="420241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FD1B5"/>
                </a:solidFill>
                <a:latin typeface="Arial" pitchFamily="34" charset="0"/>
                <a:ea typeface="Arial" pitchFamily="34" charset="-122"/>
                <a:cs typeface="Arial" pitchFamily="34" charset="-120"/>
              </a:rPr>
              <a:t>Des questions ?</a:t>
            </a:r>
            <a:endParaRPr lang="en-US" sz="1600" dirty="0"/>
          </a:p>
        </p:txBody>
      </p:sp>
      <p:sp>
        <p:nvSpPr>
          <p:cNvPr id="6"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1AD"/>
                </a:solidFill>
                <a:latin typeface="Arial" pitchFamily="34" charset="0"/>
                <a:ea typeface="Arial" pitchFamily="34" charset="-122"/>
                <a:cs typeface="Arial" pitchFamily="34" charset="-120"/>
              </a:rPr>
              <a:t>Mohamed Benguezzou, Rayan La Monica, Giovanni Cinque, Jughurta Mehenni, Mohamed-Amine Benkacem · github.com/El-Khey/DDS</a:t>
            </a:r>
            <a:endParaRPr lang="en-US" sz="1200" dirty="0"/>
          </a:p>
        </p:txBody>
      </p:sp>
    </p:spTree>
  </p:cSld>
  <p:clrMapOvr>
    <a:masterClrMapping/>
  </p:clrMapOvr>
</p:sld>
</file>

<file path=ppt/theme/theme1.xml><?xml version="1.0" encoding="utf-8"?>
<a:theme xmlns:a="http://schemas.openxmlformats.org/drawingml/2006/main" name="Refuge climatique – Factures logement">
  <a:themeElements>
    <a:clrScheme name="Refuge climatique – Factures logement">
      <a:dk1>
        <a:srgbClr val="1A2630"/>
      </a:dk1>
      <a:lt1>
        <a:srgbClr val="F5F3EE"/>
      </a:lt1>
      <a:dk2>
        <a:srgbClr val="515960"/>
      </a:dk2>
      <a:lt2>
        <a:srgbClr val="DFDFDB"/>
      </a:lt2>
      <a:accent1>
        <a:srgbClr val="1F6F5E"/>
      </a:accent1>
      <a:accent2>
        <a:srgbClr val="6FD1B5"/>
      </a:accent2>
      <a:accent3>
        <a:srgbClr val="E07A3A"/>
      </a:accent3>
      <a:accent4>
        <a:srgbClr val="E9A877"/>
      </a:accent4>
      <a:accent5>
        <a:srgbClr val="4A5560"/>
      </a:accent5>
      <a:accent6>
        <a:srgbClr val="7A848C"/>
      </a:accent6>
      <a:hlink>
        <a:srgbClr val="0563C1"/>
      </a:hlink>
      <a:folHlink>
        <a:srgbClr val="954F72"/>
      </a:folHlink>
    </a:clrScheme>
    <a:fontScheme name="Refuge climatique – Factures logeme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Refuge climatique – Factures logement</dc:title>
  <dc:subject/>
  <dc:creator/>
  <cp:lastModifiedBy/>
  <cp:revision>1</cp:revision>
  <dcterms:created xsi:type="dcterms:W3CDTF">2026-10-06T15:24:37Z</dcterms:created>
  <dcterms:modified xsi:type="dcterms:W3CDTF">2026-10-06T15:24:37Z</dcterms:modified>
</cp:coreProperties>
</file>