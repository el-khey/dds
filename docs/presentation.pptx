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0" d="100"/>
          <a:sy n="160" d="100"/>
        </p:scale>
        <p:origin x="29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3765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L’exercice porte sur la facture d’une offre de logement. Le projet de refuge climatique donne seulement le contexte et les exemples. Présenter l’objectif : montrer la circulation des données entre le formulaire, JSON, la base, XML et HTML. Les données affichées viennent de src/server/examples/facture.json. Les noms du groupe sont repris du PowerPoint original.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de parcours conservé depuis la diapositive 3 du fichier initial et placé au point 2 du nouveau plan. Suivre la ligne du formulaire, puis montrer que le texte libre rejoint les mêmes étapes à partir du JSON. La validation intervient avant l’insertion SQLite. ILaaS désigne le service distant appelé par le serveur.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du collègue : schéma BDD repris sans modification depuis l’image intégrée à la présentation originale. Expliquer les PK/FK utiles en suivant une facture, sans énumérer toutes les colonnes. Exemple : FAC-001 contient plusieurs lignes qui pointent vers LOG-001. Les relations SQL décrivent les associations des données ; les hyperliens concernent la navigation dans les pages.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navigateur utilise HTML, CSS et JavaScript. Flask reçoit le JSON. SQLite est inclus dans Python via sqlite3. jsonschema valide le JSON. lxml génère le XML et applique le XSLT. Le XSD est un fichier de validation disponible : dans la version actuelle, la route d’export ne lance pas automatiquement cette validation. Pas de commande d’installation à détailler à l’oral.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capture vient du formulaire réel, rempli avec les données de facture.json sur une base temporaire. Le JSON montré est un extrait, pas un document complet. Le navigateur calcule les lignes et le total ; après le clic, il affiche le JSON et l’envoie à POST /api/factures. Le serveur vérifie le schéma, les références et la somme. L’insertion utilise une transaction : une erreur annule l’ensemble. Démontrer éventuellement un total incorrect via JSON, puis revenir au cas valide.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Aucune réponse LLM n’a été fabriquée pour cette présentation. Le texte affiché est volontairement un extrait : une facture complète nécessite les données du client, de l’émetteur, les adresses, le numéro, la date et les montants. Le code actuel appelle ILaaS avec le modèle mistral-small-4-119b. Une clé ILAAS_API_KEY valide est nécessaire. L’accès distant n’a pas été testé lors de la préparation des diapositives. Si la clé manque, montrer le parcours et l’interface, sans annoncer une génération réalisée.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sont relues depuis SQLite par jointures, puis lxml génère le XML. Le XSLT transforme ce XML côté serveur pour la route HTML. L’image est une capture réelle de cette route, avec FAC-001 et le total 850 €. Le XSD est fourni ; sa validation n’est pas automatique dans la route actuelle. Hyperliens : depuis l’accueil, ouvrir la facture HTML, puis ses données JSON ou XML et revenir à la liste. Démo après cette diapo : remplir, enregistrer, montrer le JSON, le XML et le HTML. Le bouton XML peut être présenté avec une feuille de style par le navigateur ; afficher le code source si nécessaire.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uverture">
    <p:bg>
      <p:bgPr>
        <a:solidFill>
          <a:srgbClr val="13202B"/>
        </a:solidFill>
        <a:effectLst/>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6FD1B5"/>
          </a:solidFill>
          <a:ln w="12700">
            <a:solidFill>
              <a:srgbClr val="6FD1B5"/>
            </a:solidFill>
            <a:prstDash val="solid"/>
          </a:ln>
        </p:spPr>
        <p:txBody>
          <a:bodyPr/>
          <a:lstStyle/>
          <a:p>
            <a:endParaRPr lang="fr-FR"/>
          </a:p>
        </p:txBody>
      </p:sp>
      <p:sp>
        <p:nvSpPr>
          <p:cNvPr id="3" name="Text 1"/>
          <p:cNvSpPr>
            <a:spLocks noGrp="1"/>
          </p:cNvSpPr>
          <p:nvPr>
            <p:ph type="title" idx="101" hasCustomPrompt="1"/>
          </p:nvPr>
        </p:nvSpPr>
        <p:spPr>
          <a:xfrm>
            <a:off x="813816" y="1810512"/>
            <a:ext cx="6858000" cy="1280160"/>
          </a:xfrm>
          <a:prstGeom prst="rect">
            <a:avLst/>
          </a:prstGeom>
          <a:noFill/>
          <a:ln/>
        </p:spPr>
        <p:txBody>
          <a:bodyPr wrap="square" rtlCol="0"/>
          <a:lstStyle>
            <a:lvl1pPr marL="0" indent="0" algn="l">
              <a:buNone/>
              <a:defRPr lang="en-US" sz="4000" b="1" dirty="0">
                <a:solidFill>
                  <a:srgbClr val="F5F3EE"/>
                </a:solidFill>
                <a:latin typeface="Arial" pitchFamily="34" charset="0"/>
                <a:ea typeface="Arial" pitchFamily="34" charset="-122"/>
                <a:cs typeface="Arial"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clair">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3816" y="1124712"/>
            <a:ext cx="10561320" cy="548640"/>
          </a:xfrm>
          <a:prstGeom prst="rect">
            <a:avLst/>
          </a:prstGeom>
          <a:noFill/>
          <a:ln/>
        </p:spPr>
        <p:txBody>
          <a:bodyPr wrap="square" rtlCol="0"/>
          <a:lstStyle>
            <a:lvl1pPr marL="0" indent="0" algn="l">
              <a:buNone/>
              <a:defRPr lang="en-US" sz="3600" b="1" dirty="0">
                <a:solidFill>
                  <a:srgbClr val="1A2630"/>
                </a:solidFill>
                <a:latin typeface="Arial" pitchFamily="34" charset="0"/>
                <a:ea typeface="Arial" pitchFamily="34" charset="-122"/>
                <a:cs typeface="Arial" pitchFamily="34" charset="-120"/>
              </a:defRPr>
            </a:lvl1pPr>
          </a:lstStyle>
          <a:p>
            <a:pPr marL="0" indent="0" algn="l">
              <a:buNone/>
            </a:pPr>
            <a:endParaRPr lang="en-US" sz="3600" dirty="0"/>
          </a:p>
        </p:txBody>
      </p:sp>
      <p:sp>
        <p:nvSpPr>
          <p:cNvPr id="3" name="Text 0"/>
          <p:cNvSpPr/>
          <p:nvPr/>
        </p:nvSpPr>
        <p:spPr>
          <a:xfrm>
            <a:off x="813816" y="6236208"/>
            <a:ext cx="9921240" cy="237744"/>
          </a:xfrm>
          <a:prstGeom prst="rect">
            <a:avLst/>
          </a:prstGeom>
          <a:noFill/>
          <a:ln/>
        </p:spPr>
        <p:txBody>
          <a:bodyPr wrap="square" lIns="0" tIns="0" rIns="0" bIns="0" rtlCol="0" anchor="ctr"/>
          <a:lstStyle/>
          <a:p>
            <a:pPr marL="0" indent="0">
              <a:buNone/>
            </a:pPr>
            <a:r>
              <a:rPr lang="en-US" sz="1200" dirty="0">
                <a:solidFill>
                  <a:srgbClr val="7A848C"/>
                </a:solidFill>
                <a:latin typeface="Arial" pitchFamily="34" charset="0"/>
                <a:ea typeface="Arial" pitchFamily="34" charset="-122"/>
                <a:cs typeface="Arial" pitchFamily="34" charset="-120"/>
              </a:rPr>
              <a:t>DDS · Factures d’offres de logement</a:t>
            </a:r>
            <a:endParaRPr lang="en-US" sz="1200" dirty="0"/>
          </a:p>
        </p:txBody>
      </p:sp>
      <p:sp>
        <p:nvSpPr>
          <p:cNvPr id="25" name="Slide Number Placeholder 0"/>
          <p:cNvSpPr>
            <a:spLocks noGrp="1"/>
          </p:cNvSpPr>
          <p:nvPr>
            <p:ph type="sldNum" sz="quarter" idx="4294967295"/>
          </p:nvPr>
        </p:nvSpPr>
        <p:spPr>
          <a:xfrm>
            <a:off x="10735056" y="6236208"/>
            <a:ext cx="640080" cy="237744"/>
          </a:xfrm>
          <a:prstGeom prst="rect">
            <a:avLst/>
          </a:prstGeom>
          <a:extLst>
            <a:ext uri="{C572A759-6A51-4108-AA02-DFA0A04FC94B}">
              <ma14:wrappingTextBoxFlag xmlns="" xmlns:ma14="http://schemas.microsoft.com/office/mac/drawingml/2011/main" val="0"/>
            </a:ext>
          </a:extLst>
        </p:spPr>
        <p:txBody>
          <a:bodyPr lIns="0" tIns="0" rIns="0" bIns="0"/>
          <a:lstStyle>
            <a:lvl1pPr>
              <a:defRPr sz="1200">
                <a:solidFill>
                  <a:srgbClr val="7A848C"/>
                </a:solidFill>
                <a:latin typeface="Arial"/>
                <a:ea typeface="Arial"/>
                <a:cs typeface="Aria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mage sombre">
    <p:bg>
      <p:bgPr>
        <a:solidFill>
          <a:srgbClr val="16181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998464" y="1371600"/>
            <a:ext cx="5376672" cy="1097280"/>
          </a:xfrm>
          <a:prstGeom prst="rect">
            <a:avLst/>
          </a:prstGeom>
          <a:noFill/>
          <a:ln/>
        </p:spPr>
        <p:txBody>
          <a:bodyPr wrap="square" rtlCol="0"/>
          <a:lstStyle>
            <a:lvl1pPr marL="0" indent="0" algn="l">
              <a:buNone/>
              <a:defRPr lang="en-US" sz="3600" b="1" dirty="0">
                <a:solidFill>
                  <a:srgbClr val="F5F3EE"/>
                </a:solidFill>
                <a:latin typeface="Arial" pitchFamily="34" charset="0"/>
                <a:ea typeface="Arial" pitchFamily="34" charset="-122"/>
                <a:cs typeface="Arial" pitchFamily="34" charset="-120"/>
              </a:defRPr>
            </a:lvl1pPr>
          </a:lstStyle>
          <a:p>
            <a:pPr marL="0" indent="0" algn="l">
              <a:buNone/>
            </a:pPr>
            <a:endParaRPr lang="en-US" sz="3600" dirty="0"/>
          </a:p>
        </p:txBody>
      </p:sp>
      <p:sp>
        <p:nvSpPr>
          <p:cNvPr id="3" name="Text 0"/>
          <p:cNvSpPr/>
          <p:nvPr/>
        </p:nvSpPr>
        <p:spPr>
          <a:xfrm>
            <a:off x="5998464" y="6236208"/>
            <a:ext cx="4736592" cy="237744"/>
          </a:xfrm>
          <a:prstGeom prst="rect">
            <a:avLst/>
          </a:prstGeom>
          <a:noFill/>
          <a:ln/>
        </p:spPr>
        <p:txBody>
          <a:bodyPr wrap="square" lIns="0" tIns="0" rIns="0" bIns="0" rtlCol="0" anchor="ctr"/>
          <a:lstStyle/>
          <a:p>
            <a:pPr marL="0" indent="0">
              <a:buNone/>
            </a:pPr>
            <a:r>
              <a:rPr lang="en-US" sz="1200" dirty="0">
                <a:solidFill>
                  <a:srgbClr val="8FA1AD"/>
                </a:solidFill>
                <a:latin typeface="Arial" pitchFamily="34" charset="0"/>
                <a:ea typeface="Arial" pitchFamily="34" charset="-122"/>
                <a:cs typeface="Arial" pitchFamily="34" charset="-120"/>
              </a:rPr>
              <a:t>DDS · Factures d’offres de logement</a:t>
            </a:r>
            <a:endParaRPr lang="en-US" sz="1200" dirty="0"/>
          </a:p>
        </p:txBody>
      </p:sp>
      <p:sp>
        <p:nvSpPr>
          <p:cNvPr id="25" name="Slide Number Placeholder 0"/>
          <p:cNvSpPr>
            <a:spLocks noGrp="1"/>
          </p:cNvSpPr>
          <p:nvPr>
            <p:ph type="sldNum" sz="quarter" idx="4294967295"/>
          </p:nvPr>
        </p:nvSpPr>
        <p:spPr>
          <a:xfrm>
            <a:off x="10735056" y="6236208"/>
            <a:ext cx="640080" cy="237744"/>
          </a:xfrm>
          <a:prstGeom prst="rect">
            <a:avLst/>
          </a:prstGeom>
          <a:extLst>
            <a:ext uri="{C572A759-6A51-4108-AA02-DFA0A04FC94B}">
              <ma14:wrappingTextBoxFlag xmlns="" xmlns:ma14="http://schemas.microsoft.com/office/mac/drawingml/2011/main" val="0"/>
            </a:ext>
          </a:extLst>
        </p:spPr>
        <p:txBody>
          <a:bodyPr lIns="0" tIns="0" rIns="0" bIns="0"/>
          <a:lstStyle>
            <a:lvl1pPr>
              <a:defRPr sz="1200">
                <a:solidFill>
                  <a:srgbClr val="8FA1AD"/>
                </a:solidFill>
                <a:latin typeface="Arial"/>
                <a:ea typeface="Arial"/>
                <a:cs typeface="Aria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35056" y="6236208"/>
            <a:ext cx="640080" cy="237744"/>
          </a:xfrm>
          <a:prstGeom prst="rect">
            <a:avLst/>
          </a:prstGeom>
          <a:extLst>
            <a:ext uri="{C572A759-6A51-4108-AA02-DFA0A04FC94B}">
              <ma14:wrappingTextBoxFlag xmlns="" xmlns:ma14="http://schemas.microsoft.com/office/mac/drawingml/2011/main" val="0"/>
            </a:ext>
          </a:extLst>
        </p:spPr>
        <p:txBody>
          <a:bodyPr lIns="0" tIns="0" rIns="0" bIns="0"/>
          <a:lstStyle>
            <a:lvl1pPr>
              <a:defRPr sz="1200">
                <a:solidFill>
                  <a:srgbClr val="7A848C"/>
                </a:solidFill>
                <a:latin typeface="Arial"/>
                <a:ea typeface="Arial"/>
                <a:cs typeface="Aria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13816" y="1371600"/>
            <a:ext cx="6858000" cy="237744"/>
          </a:xfrm>
          <a:prstGeom prst="rect">
            <a:avLst/>
          </a:prstGeom>
          <a:noFill/>
          <a:ln/>
        </p:spPr>
        <p:txBody>
          <a:bodyPr wrap="square" lIns="0" tIns="0" rIns="0" bIns="0" rtlCol="0" anchor="t"/>
          <a:lstStyle/>
          <a:p>
            <a:pPr marL="0" indent="0">
              <a:buNone/>
            </a:pPr>
            <a:r>
              <a:rPr lang="en-US" sz="1200" b="1" kern="0" spc="200" dirty="0">
                <a:solidFill>
                  <a:srgbClr val="6FD1B5"/>
                </a:solidFill>
                <a:latin typeface="Arial" pitchFamily="34" charset="0"/>
                <a:ea typeface="Arial" pitchFamily="34" charset="-122"/>
                <a:cs typeface="Arial" pitchFamily="34" charset="-120"/>
              </a:rPr>
              <a:t>RAPPEL DU SUJET · OBJECTIF DE L’EXERCICE</a:t>
            </a:r>
            <a:endParaRPr lang="en-US" sz="1200" dirty="0"/>
          </a:p>
        </p:txBody>
      </p:sp>
      <p:sp>
        <p:nvSpPr>
          <p:cNvPr id="3" name="Text 1"/>
          <p:cNvSpPr>
            <a:spLocks noGrp="1"/>
          </p:cNvSpPr>
          <p:nvPr>
            <p:ph type="title" idx="101" hasCustomPrompt="1"/>
          </p:nvPr>
        </p:nvSpPr>
        <p:spPr>
          <a:xfrm>
            <a:off x="813816" y="1810512"/>
            <a:ext cx="6858000" cy="1280160"/>
          </a:xfrm>
          <a:prstGeom prst="rect">
            <a:avLst/>
          </a:prstGeom>
          <a:noFill/>
          <a:ln/>
        </p:spPr>
        <p:txBody>
          <a:bodyPr wrap="square" lIns="0" tIns="0" rIns="0" bIns="0" rtlCol="0" anchor="t"/>
          <a:lstStyle/>
          <a:p>
            <a:pPr marL="0" indent="0" algn="l">
              <a:buNone/>
            </a:pPr>
            <a:r>
              <a:rPr lang="en-US" sz="4000" b="1" dirty="0">
                <a:solidFill>
                  <a:srgbClr val="F5F3EE"/>
                </a:solidFill>
                <a:latin typeface="Arial" pitchFamily="34" charset="0"/>
                <a:ea typeface="Arial" pitchFamily="34" charset="-122"/>
                <a:cs typeface="Arial" pitchFamily="34" charset="-120"/>
              </a:rPr>
              <a:t>App de creation de facture</a:t>
            </a:r>
            <a:endParaRPr lang="en-US" sz="4000" dirty="0"/>
          </a:p>
        </p:txBody>
      </p:sp>
      <p:sp>
        <p:nvSpPr>
          <p:cNvPr id="19" name="Text 17"/>
          <p:cNvSpPr txBox="1"/>
          <p:nvPr/>
        </p:nvSpPr>
        <p:spPr>
          <a:xfrm>
            <a:off x="813816" y="6236208"/>
            <a:ext cx="10561320" cy="237744"/>
          </a:xfrm>
          <a:prstGeom prst="rect">
            <a:avLst/>
          </a:prstGeom>
          <a:noFill/>
          <a:ln/>
        </p:spPr>
        <p:txBody>
          <a:bodyPr wrap="square" lIns="0" tIns="0" rIns="0" bIns="0" rtlCol="0" anchor="t"/>
          <a:lstStyle/>
          <a:p>
            <a:pPr marL="0" indent="0">
              <a:buNone/>
            </a:pPr>
            <a:r>
              <a:rPr lang="en-US" sz="1200" dirty="0">
                <a:solidFill>
                  <a:srgbClr val="8FA1AD"/>
                </a:solidFill>
                <a:latin typeface="Arial" pitchFamily="34" charset="0"/>
                <a:ea typeface="Arial" pitchFamily="34" charset="-122"/>
                <a:cs typeface="Arial" pitchFamily="34" charset="-120"/>
              </a:rPr>
              <a:t>Groupe 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13816" y="813816"/>
            <a:ext cx="10561320" cy="237744"/>
          </a:xfrm>
          <a:prstGeom prst="rect">
            <a:avLst/>
          </a:prstGeom>
          <a:noFill/>
          <a:ln/>
        </p:spPr>
        <p:txBody>
          <a:bodyPr wrap="square" lIns="0" tIns="0" rIns="0" bIns="0" rtlCol="0" anchor="t"/>
          <a:lstStyle/>
          <a:p>
            <a:pPr marL="0" indent="0">
              <a:buNone/>
            </a:pPr>
            <a:r>
              <a:rPr lang="en-US" sz="1200" b="1" kern="0" spc="200" dirty="0">
                <a:solidFill>
                  <a:srgbClr val="1F6F5E"/>
                </a:solidFill>
                <a:latin typeface="Arial" pitchFamily="34" charset="0"/>
                <a:ea typeface="Arial" pitchFamily="34" charset="-122"/>
                <a:cs typeface="Arial" pitchFamily="34" charset="-120"/>
              </a:rPr>
              <a:t>Plan a </a:t>
            </a:r>
            <a:r>
              <a:rPr lang="en-US" sz="1200" b="1" kern="0" spc="200" dirty="0" err="1">
                <a:solidFill>
                  <a:srgbClr val="1F6F5E"/>
                </a:solidFill>
                <a:latin typeface="Arial" pitchFamily="34" charset="0"/>
                <a:ea typeface="Arial" pitchFamily="34" charset="-122"/>
                <a:cs typeface="Arial" pitchFamily="34" charset="-120"/>
              </a:rPr>
              <a:t>suivre</a:t>
            </a:r>
            <a:endParaRPr lang="en-US" sz="1200" dirty="0"/>
          </a:p>
        </p:txBody>
      </p:sp>
      <p:sp>
        <p:nvSpPr>
          <p:cNvPr id="3" name="Text 0"/>
          <p:cNvSpPr>
            <a:spLocks noGrp="1"/>
          </p:cNvSpPr>
          <p:nvPr>
            <p:ph type="title" idx="100" hasCustomPrompt="1"/>
          </p:nvPr>
        </p:nvSpPr>
        <p:spPr>
          <a:xfrm>
            <a:off x="812546" y="1124712"/>
            <a:ext cx="5084064" cy="548640"/>
          </a:xfrm>
          <a:prstGeom prst="rect">
            <a:avLst/>
          </a:prstGeom>
          <a:noFill/>
          <a:ln/>
        </p:spPr>
        <p:txBody>
          <a:bodyPr wrap="square" lIns="0" tIns="0" rIns="0" bIns="0" rtlCol="0" anchor="t"/>
          <a:lstStyle/>
          <a:p>
            <a:pPr marL="0" indent="0" algn="l">
              <a:buNone/>
            </a:pPr>
            <a:r>
              <a:rPr lang="en-US" sz="3600" b="1" dirty="0">
                <a:solidFill>
                  <a:srgbClr val="1A2630"/>
                </a:solidFill>
                <a:latin typeface="Arial" pitchFamily="34" charset="0"/>
                <a:ea typeface="Arial" pitchFamily="34" charset="-122"/>
                <a:cs typeface="Arial" pitchFamily="34" charset="-120"/>
              </a:rPr>
              <a:t>Parcours des données</a:t>
            </a:r>
            <a:endParaRPr lang="en-US" sz="3600" dirty="0"/>
          </a:p>
        </p:txBody>
      </p:sp>
      <p:sp>
        <p:nvSpPr>
          <p:cNvPr id="4" name="Text 2"/>
          <p:cNvSpPr txBox="1"/>
          <p:nvPr/>
        </p:nvSpPr>
        <p:spPr>
          <a:xfrm>
            <a:off x="813816" y="1984248"/>
            <a:ext cx="10561320" cy="265176"/>
          </a:xfrm>
          <a:prstGeom prst="rect">
            <a:avLst/>
          </a:prstGeom>
          <a:noFill/>
          <a:ln/>
        </p:spPr>
        <p:txBody>
          <a:bodyPr wrap="square" lIns="0" tIns="0" rIns="0" bIns="0" rtlCol="0" anchor="t"/>
          <a:lstStyle/>
          <a:p>
            <a:pPr marL="0" indent="0">
              <a:buNone/>
            </a:pPr>
            <a:r>
              <a:rPr lang="en-US" sz="1600" b="1" dirty="0">
                <a:solidFill>
                  <a:srgbClr val="1A2630"/>
                </a:solidFill>
                <a:latin typeface="Arial" pitchFamily="34" charset="0"/>
                <a:ea typeface="Arial" pitchFamily="34" charset="-122"/>
                <a:cs typeface="Arial" pitchFamily="34" charset="-120"/>
              </a:rPr>
              <a:t>Parcours 1 · Formulaire</a:t>
            </a:r>
            <a:endParaRPr lang="en-US" sz="1600" dirty="0"/>
          </a:p>
        </p:txBody>
      </p:sp>
      <p:sp>
        <p:nvSpPr>
          <p:cNvPr id="5" name="Text 3"/>
          <p:cNvSpPr/>
          <p:nvPr/>
        </p:nvSpPr>
        <p:spPr>
          <a:xfrm>
            <a:off x="813816" y="2350008"/>
            <a:ext cx="1426464" cy="530352"/>
          </a:xfrm>
          <a:prstGeom prst="roundRect">
            <a:avLst>
              <a:gd name="adj" fmla="val 13793"/>
            </a:avLst>
          </a:prstGeom>
          <a:solidFill>
            <a:srgbClr val="13202B"/>
          </a:solidFill>
          <a:ln w="12700">
            <a:solidFill>
              <a:srgbClr val="13202B"/>
            </a:solidFill>
          </a:ln>
        </p:spPr>
        <p:txBody>
          <a:bodyPr wrap="square" lIns="0" tIns="0" rIns="0" bIns="0" rtlCol="0" anchor="ctr"/>
          <a:lstStyle/>
          <a:p>
            <a:pPr marL="0" indent="0" algn="ctr">
              <a:buNone/>
            </a:pPr>
            <a:r>
              <a:rPr lang="en-US" sz="1600" b="1" dirty="0">
                <a:solidFill>
                  <a:srgbClr val="F5F3EE"/>
                </a:solidFill>
                <a:latin typeface="Arial" pitchFamily="34" charset="0"/>
                <a:ea typeface="Arial" pitchFamily="34" charset="-122"/>
                <a:cs typeface="Arial" pitchFamily="34" charset="-120"/>
              </a:rPr>
              <a:t>Formulaire</a:t>
            </a:r>
            <a:endParaRPr lang="en-US" sz="1600" dirty="0"/>
          </a:p>
        </p:txBody>
      </p:sp>
      <p:sp>
        <p:nvSpPr>
          <p:cNvPr id="6" name="Shape 4"/>
          <p:cNvSpPr/>
          <p:nvPr/>
        </p:nvSpPr>
        <p:spPr>
          <a:xfrm>
            <a:off x="2304288" y="2546604"/>
            <a:ext cx="274320" cy="137160"/>
          </a:xfrm>
          <a:prstGeom prst="rightArrow">
            <a:avLst/>
          </a:prstGeom>
          <a:solidFill>
            <a:srgbClr val="1F6F5E"/>
          </a:solidFill>
          <a:ln w="12700">
            <a:solidFill>
              <a:srgbClr val="1F6F5E"/>
            </a:solidFill>
            <a:prstDash val="solid"/>
          </a:ln>
        </p:spPr>
        <p:txBody>
          <a:bodyPr/>
          <a:lstStyle/>
          <a:p>
            <a:endParaRPr lang="fr-FR"/>
          </a:p>
        </p:txBody>
      </p:sp>
      <p:sp>
        <p:nvSpPr>
          <p:cNvPr id="7" name="Text 5"/>
          <p:cNvSpPr txBox="1"/>
          <p:nvPr/>
        </p:nvSpPr>
        <p:spPr>
          <a:xfrm>
            <a:off x="722376" y="2990088"/>
            <a:ext cx="1609344" cy="237744"/>
          </a:xfrm>
          <a:prstGeom prst="rect">
            <a:avLst/>
          </a:prstGeom>
          <a:noFill/>
          <a:ln/>
        </p:spPr>
        <p:txBody>
          <a:bodyPr wrap="square" lIns="0" tIns="0" rIns="0" bIns="0" rtlCol="0" anchor="t"/>
          <a:lstStyle/>
          <a:p>
            <a:pPr marL="0" indent="0" algn="ctr">
              <a:buNone/>
            </a:pPr>
            <a:r>
              <a:rPr lang="en-US" sz="1200" dirty="0">
                <a:solidFill>
                  <a:srgbClr val="4A5560"/>
                </a:solidFill>
                <a:latin typeface="Arial" pitchFamily="34" charset="0"/>
                <a:ea typeface="Arial" pitchFamily="34" charset="-122"/>
                <a:cs typeface="Arial" pitchFamily="34" charset="-120"/>
              </a:rPr>
              <a:t>saisie</a:t>
            </a:r>
            <a:endParaRPr lang="en-US" sz="1200" dirty="0"/>
          </a:p>
        </p:txBody>
      </p:sp>
      <p:sp>
        <p:nvSpPr>
          <p:cNvPr id="8" name="Text 6"/>
          <p:cNvSpPr/>
          <p:nvPr/>
        </p:nvSpPr>
        <p:spPr>
          <a:xfrm>
            <a:off x="2642616" y="2350008"/>
            <a:ext cx="1426464" cy="530352"/>
          </a:xfrm>
          <a:prstGeom prst="roundRect">
            <a:avLst>
              <a:gd name="adj" fmla="val 13793"/>
            </a:avLst>
          </a:prstGeom>
          <a:solidFill>
            <a:srgbClr val="FFFDF8"/>
          </a:solidFill>
          <a:ln w="12700">
            <a:solidFill>
              <a:srgbClr val="1F6F5E"/>
            </a:solidFill>
          </a:ln>
        </p:spPr>
        <p:txBody>
          <a:bodyPr wrap="square" lIns="0" tIns="0" rIns="0" bIns="0" rtlCol="0" anchor="ctr"/>
          <a:lstStyle/>
          <a:p>
            <a:pPr marL="0" indent="0" algn="ctr">
              <a:buNone/>
            </a:pPr>
            <a:r>
              <a:rPr lang="en-US" sz="1600" b="1" dirty="0">
                <a:solidFill>
                  <a:srgbClr val="1A2630"/>
                </a:solidFill>
                <a:latin typeface="Arial" pitchFamily="34" charset="0"/>
                <a:ea typeface="Arial" pitchFamily="34" charset="-122"/>
                <a:cs typeface="Arial" pitchFamily="34" charset="-120"/>
              </a:rPr>
              <a:t>JSON</a:t>
            </a:r>
            <a:endParaRPr lang="en-US" sz="1600" dirty="0"/>
          </a:p>
        </p:txBody>
      </p:sp>
      <p:sp>
        <p:nvSpPr>
          <p:cNvPr id="9" name="Shape 7"/>
          <p:cNvSpPr/>
          <p:nvPr/>
        </p:nvSpPr>
        <p:spPr>
          <a:xfrm>
            <a:off x="4133088" y="2546604"/>
            <a:ext cx="274320" cy="137160"/>
          </a:xfrm>
          <a:prstGeom prst="rightArrow">
            <a:avLst/>
          </a:prstGeom>
          <a:solidFill>
            <a:srgbClr val="1F6F5E"/>
          </a:solidFill>
          <a:ln w="12700">
            <a:solidFill>
              <a:srgbClr val="1F6F5E"/>
            </a:solidFill>
            <a:prstDash val="solid"/>
          </a:ln>
        </p:spPr>
        <p:txBody>
          <a:bodyPr/>
          <a:lstStyle/>
          <a:p>
            <a:endParaRPr lang="fr-FR"/>
          </a:p>
        </p:txBody>
      </p:sp>
      <p:sp>
        <p:nvSpPr>
          <p:cNvPr id="10" name="Text 8"/>
          <p:cNvSpPr txBox="1"/>
          <p:nvPr/>
        </p:nvSpPr>
        <p:spPr>
          <a:xfrm>
            <a:off x="2551176" y="2990088"/>
            <a:ext cx="1609344" cy="237744"/>
          </a:xfrm>
          <a:prstGeom prst="rect">
            <a:avLst/>
          </a:prstGeom>
          <a:noFill/>
          <a:ln/>
        </p:spPr>
        <p:txBody>
          <a:bodyPr wrap="square" lIns="0" tIns="0" rIns="0" bIns="0" rtlCol="0" anchor="t"/>
          <a:lstStyle/>
          <a:p>
            <a:pPr marL="0" indent="0" algn="ctr">
              <a:buNone/>
            </a:pPr>
            <a:r>
              <a:rPr lang="en-US" sz="1200" dirty="0">
                <a:solidFill>
                  <a:srgbClr val="4A5560"/>
                </a:solidFill>
                <a:latin typeface="Arial" pitchFamily="34" charset="0"/>
                <a:ea typeface="Arial" pitchFamily="34" charset="-122"/>
                <a:cs typeface="Arial" pitchFamily="34" charset="-120"/>
              </a:rPr>
              <a:t>schéma JSON</a:t>
            </a:r>
            <a:endParaRPr lang="en-US" sz="1200" dirty="0"/>
          </a:p>
        </p:txBody>
      </p:sp>
      <p:sp>
        <p:nvSpPr>
          <p:cNvPr id="11" name="Text 9"/>
          <p:cNvSpPr/>
          <p:nvPr/>
        </p:nvSpPr>
        <p:spPr>
          <a:xfrm>
            <a:off x="4471416" y="2350008"/>
            <a:ext cx="1426464" cy="530352"/>
          </a:xfrm>
          <a:prstGeom prst="roundRect">
            <a:avLst>
              <a:gd name="adj" fmla="val 13793"/>
            </a:avLst>
          </a:prstGeom>
          <a:solidFill>
            <a:srgbClr val="FFFDF8"/>
          </a:solidFill>
          <a:ln w="12700">
            <a:solidFill>
              <a:srgbClr val="1F6F5E"/>
            </a:solidFill>
          </a:ln>
        </p:spPr>
        <p:txBody>
          <a:bodyPr wrap="square" lIns="0" tIns="0" rIns="0" bIns="0" rtlCol="0" anchor="ctr"/>
          <a:lstStyle/>
          <a:p>
            <a:pPr marL="0" indent="0" algn="ctr">
              <a:buNone/>
            </a:pPr>
            <a:r>
              <a:rPr lang="en-US" sz="1600" b="1" dirty="0">
                <a:solidFill>
                  <a:srgbClr val="1A2630"/>
                </a:solidFill>
                <a:latin typeface="Arial" pitchFamily="34" charset="0"/>
                <a:ea typeface="Arial" pitchFamily="34" charset="-122"/>
                <a:cs typeface="Arial" pitchFamily="34" charset="-120"/>
              </a:rPr>
              <a:t>SQLite</a:t>
            </a:r>
            <a:endParaRPr lang="en-US" sz="1600" dirty="0"/>
          </a:p>
        </p:txBody>
      </p:sp>
      <p:sp>
        <p:nvSpPr>
          <p:cNvPr id="12" name="Shape 10"/>
          <p:cNvSpPr/>
          <p:nvPr/>
        </p:nvSpPr>
        <p:spPr>
          <a:xfrm>
            <a:off x="5961888" y="2546604"/>
            <a:ext cx="274320" cy="137160"/>
          </a:xfrm>
          <a:prstGeom prst="rightArrow">
            <a:avLst/>
          </a:prstGeom>
          <a:solidFill>
            <a:srgbClr val="1F6F5E"/>
          </a:solidFill>
          <a:ln w="12700">
            <a:solidFill>
              <a:srgbClr val="1F6F5E"/>
            </a:solidFill>
            <a:prstDash val="solid"/>
          </a:ln>
        </p:spPr>
        <p:txBody>
          <a:bodyPr/>
          <a:lstStyle/>
          <a:p>
            <a:endParaRPr lang="fr-FR"/>
          </a:p>
        </p:txBody>
      </p:sp>
      <p:sp>
        <p:nvSpPr>
          <p:cNvPr id="13" name="Text 11"/>
          <p:cNvSpPr txBox="1"/>
          <p:nvPr/>
        </p:nvSpPr>
        <p:spPr>
          <a:xfrm>
            <a:off x="4379976" y="2990088"/>
            <a:ext cx="1609344" cy="237744"/>
          </a:xfrm>
          <a:prstGeom prst="rect">
            <a:avLst/>
          </a:prstGeom>
          <a:noFill/>
          <a:ln/>
        </p:spPr>
        <p:txBody>
          <a:bodyPr wrap="square" lIns="0" tIns="0" rIns="0" bIns="0" rtlCol="0" anchor="t"/>
          <a:lstStyle/>
          <a:p>
            <a:pPr marL="0" indent="0" algn="ctr">
              <a:buNone/>
            </a:pPr>
            <a:r>
              <a:rPr lang="en-US" sz="1200" dirty="0">
                <a:solidFill>
                  <a:srgbClr val="4A5560"/>
                </a:solidFill>
                <a:latin typeface="Arial" pitchFamily="34" charset="0"/>
                <a:ea typeface="Arial" pitchFamily="34" charset="-122"/>
                <a:cs typeface="Arial" pitchFamily="34" charset="-120"/>
              </a:rPr>
              <a:t>7 tables</a:t>
            </a:r>
            <a:endParaRPr lang="en-US" sz="1200" dirty="0"/>
          </a:p>
        </p:txBody>
      </p:sp>
      <p:sp>
        <p:nvSpPr>
          <p:cNvPr id="14" name="Text 12"/>
          <p:cNvSpPr/>
          <p:nvPr/>
        </p:nvSpPr>
        <p:spPr>
          <a:xfrm>
            <a:off x="6300216" y="2350008"/>
            <a:ext cx="1426464" cy="530352"/>
          </a:xfrm>
          <a:prstGeom prst="roundRect">
            <a:avLst>
              <a:gd name="adj" fmla="val 13793"/>
            </a:avLst>
          </a:prstGeom>
          <a:solidFill>
            <a:srgbClr val="FFFDF8"/>
          </a:solidFill>
          <a:ln w="12700">
            <a:solidFill>
              <a:srgbClr val="1F6F5E"/>
            </a:solidFill>
          </a:ln>
        </p:spPr>
        <p:txBody>
          <a:bodyPr wrap="square" lIns="0" tIns="0" rIns="0" bIns="0" rtlCol="0" anchor="ctr"/>
          <a:lstStyle/>
          <a:p>
            <a:pPr marL="0" indent="0" algn="ctr">
              <a:buNone/>
            </a:pPr>
            <a:r>
              <a:rPr lang="en-US" sz="1600" b="1" dirty="0">
                <a:solidFill>
                  <a:srgbClr val="1A2630"/>
                </a:solidFill>
                <a:latin typeface="Arial" pitchFamily="34" charset="0"/>
                <a:ea typeface="Arial" pitchFamily="34" charset="-122"/>
                <a:cs typeface="Arial" pitchFamily="34" charset="-120"/>
              </a:rPr>
              <a:t>XML</a:t>
            </a:r>
            <a:endParaRPr lang="en-US" sz="1600" dirty="0"/>
          </a:p>
        </p:txBody>
      </p:sp>
      <p:sp>
        <p:nvSpPr>
          <p:cNvPr id="15" name="Shape 13"/>
          <p:cNvSpPr/>
          <p:nvPr/>
        </p:nvSpPr>
        <p:spPr>
          <a:xfrm>
            <a:off x="7790688" y="2546604"/>
            <a:ext cx="274320" cy="137160"/>
          </a:xfrm>
          <a:prstGeom prst="rightArrow">
            <a:avLst/>
          </a:prstGeom>
          <a:solidFill>
            <a:srgbClr val="1F6F5E"/>
          </a:solidFill>
          <a:ln w="12700">
            <a:solidFill>
              <a:srgbClr val="1F6F5E"/>
            </a:solidFill>
            <a:prstDash val="solid"/>
          </a:ln>
        </p:spPr>
        <p:txBody>
          <a:bodyPr/>
          <a:lstStyle/>
          <a:p>
            <a:endParaRPr lang="fr-FR"/>
          </a:p>
        </p:txBody>
      </p:sp>
      <p:sp>
        <p:nvSpPr>
          <p:cNvPr id="16" name="Text 14"/>
          <p:cNvSpPr txBox="1"/>
          <p:nvPr/>
        </p:nvSpPr>
        <p:spPr>
          <a:xfrm>
            <a:off x="6208776" y="2990088"/>
            <a:ext cx="1609344" cy="237744"/>
          </a:xfrm>
          <a:prstGeom prst="rect">
            <a:avLst/>
          </a:prstGeom>
          <a:noFill/>
          <a:ln/>
        </p:spPr>
        <p:txBody>
          <a:bodyPr wrap="square" lIns="0" tIns="0" rIns="0" bIns="0" rtlCol="0" anchor="t"/>
          <a:lstStyle/>
          <a:p>
            <a:pPr marL="0" indent="0" algn="ctr">
              <a:buNone/>
            </a:pPr>
            <a:r>
              <a:rPr lang="en-US" sz="1200" dirty="0">
                <a:solidFill>
                  <a:srgbClr val="4A5560"/>
                </a:solidFill>
                <a:latin typeface="Arial" pitchFamily="34" charset="0"/>
                <a:ea typeface="Arial" pitchFamily="34" charset="-122"/>
                <a:cs typeface="Arial" pitchFamily="34" charset="-120"/>
              </a:rPr>
              <a:t>lxml</a:t>
            </a:r>
            <a:endParaRPr lang="en-US" sz="1200" dirty="0"/>
          </a:p>
        </p:txBody>
      </p:sp>
      <p:sp>
        <p:nvSpPr>
          <p:cNvPr id="17" name="Text 15"/>
          <p:cNvSpPr/>
          <p:nvPr/>
        </p:nvSpPr>
        <p:spPr>
          <a:xfrm>
            <a:off x="8129016" y="2350008"/>
            <a:ext cx="1426464" cy="530352"/>
          </a:xfrm>
          <a:prstGeom prst="roundRect">
            <a:avLst>
              <a:gd name="adj" fmla="val 13793"/>
            </a:avLst>
          </a:prstGeom>
          <a:solidFill>
            <a:srgbClr val="FFFDF8"/>
          </a:solidFill>
          <a:ln w="12700">
            <a:solidFill>
              <a:srgbClr val="1F6F5E"/>
            </a:solidFill>
          </a:ln>
        </p:spPr>
        <p:txBody>
          <a:bodyPr wrap="square" lIns="0" tIns="0" rIns="0" bIns="0" rtlCol="0" anchor="ctr"/>
          <a:lstStyle/>
          <a:p>
            <a:pPr marL="0" indent="0" algn="ctr">
              <a:buNone/>
            </a:pPr>
            <a:r>
              <a:rPr lang="en-US" sz="1600" b="1" dirty="0">
                <a:solidFill>
                  <a:srgbClr val="1A2630"/>
                </a:solidFill>
                <a:latin typeface="Arial" pitchFamily="34" charset="0"/>
                <a:ea typeface="Arial" pitchFamily="34" charset="-122"/>
                <a:cs typeface="Arial" pitchFamily="34" charset="-120"/>
              </a:rPr>
              <a:t>XSLT</a:t>
            </a:r>
            <a:endParaRPr lang="en-US" sz="1600" dirty="0"/>
          </a:p>
        </p:txBody>
      </p:sp>
      <p:sp>
        <p:nvSpPr>
          <p:cNvPr id="18" name="Shape 16"/>
          <p:cNvSpPr/>
          <p:nvPr/>
        </p:nvSpPr>
        <p:spPr>
          <a:xfrm>
            <a:off x="9619488" y="2546604"/>
            <a:ext cx="274320" cy="137160"/>
          </a:xfrm>
          <a:prstGeom prst="rightArrow">
            <a:avLst/>
          </a:prstGeom>
          <a:solidFill>
            <a:srgbClr val="1F6F5E"/>
          </a:solidFill>
          <a:ln w="12700">
            <a:solidFill>
              <a:srgbClr val="1F6F5E"/>
            </a:solidFill>
            <a:prstDash val="solid"/>
          </a:ln>
        </p:spPr>
        <p:txBody>
          <a:bodyPr/>
          <a:lstStyle/>
          <a:p>
            <a:endParaRPr lang="fr-FR"/>
          </a:p>
        </p:txBody>
      </p:sp>
      <p:sp>
        <p:nvSpPr>
          <p:cNvPr id="19" name="Text 17"/>
          <p:cNvSpPr txBox="1"/>
          <p:nvPr/>
        </p:nvSpPr>
        <p:spPr>
          <a:xfrm>
            <a:off x="8037576" y="2990088"/>
            <a:ext cx="1609344" cy="237744"/>
          </a:xfrm>
          <a:prstGeom prst="rect">
            <a:avLst/>
          </a:prstGeom>
          <a:noFill/>
          <a:ln/>
        </p:spPr>
        <p:txBody>
          <a:bodyPr wrap="square" lIns="0" tIns="0" rIns="0" bIns="0" rtlCol="0" anchor="t"/>
          <a:lstStyle/>
          <a:p>
            <a:pPr marL="0" indent="0" algn="ctr">
              <a:buNone/>
            </a:pPr>
            <a:r>
              <a:rPr lang="en-US" sz="1200" dirty="0">
                <a:solidFill>
                  <a:srgbClr val="4A5560"/>
                </a:solidFill>
                <a:latin typeface="Arial" pitchFamily="34" charset="0"/>
                <a:ea typeface="Arial" pitchFamily="34" charset="-122"/>
                <a:cs typeface="Arial" pitchFamily="34" charset="-120"/>
              </a:rPr>
              <a:t>facture.xsl</a:t>
            </a:r>
            <a:endParaRPr lang="en-US" sz="1200" dirty="0"/>
          </a:p>
        </p:txBody>
      </p:sp>
      <p:sp>
        <p:nvSpPr>
          <p:cNvPr id="20" name="Text 18"/>
          <p:cNvSpPr/>
          <p:nvPr/>
        </p:nvSpPr>
        <p:spPr>
          <a:xfrm>
            <a:off x="9957816" y="2350008"/>
            <a:ext cx="1426464" cy="530352"/>
          </a:xfrm>
          <a:prstGeom prst="roundRect">
            <a:avLst>
              <a:gd name="adj" fmla="val 13793"/>
            </a:avLst>
          </a:prstGeom>
          <a:solidFill>
            <a:srgbClr val="E07A3A"/>
          </a:solidFill>
          <a:ln w="12700">
            <a:solidFill>
              <a:srgbClr val="E07A3A"/>
            </a:solidFill>
          </a:ln>
        </p:spPr>
        <p:txBody>
          <a:bodyPr wrap="square" lIns="0" tIns="0" rIns="0" bIns="0" rtlCol="0" anchor="ctr"/>
          <a:lstStyle/>
          <a:p>
            <a:pPr marL="0" indent="0" algn="ctr">
              <a:buNone/>
            </a:pPr>
            <a:r>
              <a:rPr lang="en-US" sz="1600" b="1" dirty="0">
                <a:solidFill>
                  <a:srgbClr val="13202B"/>
                </a:solidFill>
                <a:latin typeface="Arial" pitchFamily="34" charset="0"/>
                <a:ea typeface="Arial" pitchFamily="34" charset="-122"/>
                <a:cs typeface="Arial" pitchFamily="34" charset="-120"/>
              </a:rPr>
              <a:t>HTML</a:t>
            </a:r>
            <a:endParaRPr lang="en-US" sz="1600" dirty="0"/>
          </a:p>
        </p:txBody>
      </p:sp>
      <p:sp>
        <p:nvSpPr>
          <p:cNvPr id="21" name="Text 19"/>
          <p:cNvSpPr txBox="1"/>
          <p:nvPr/>
        </p:nvSpPr>
        <p:spPr>
          <a:xfrm>
            <a:off x="9866376" y="2990088"/>
            <a:ext cx="1609344" cy="237744"/>
          </a:xfrm>
          <a:prstGeom prst="rect">
            <a:avLst/>
          </a:prstGeom>
          <a:noFill/>
          <a:ln/>
        </p:spPr>
        <p:txBody>
          <a:bodyPr wrap="square" lIns="0" tIns="0" rIns="0" bIns="0" rtlCol="0" anchor="t"/>
          <a:lstStyle/>
          <a:p>
            <a:pPr marL="0" indent="0" algn="ctr">
              <a:buNone/>
            </a:pPr>
            <a:r>
              <a:rPr lang="en-US" sz="1200" dirty="0">
                <a:solidFill>
                  <a:srgbClr val="4A5560"/>
                </a:solidFill>
                <a:latin typeface="Arial" pitchFamily="34" charset="0"/>
                <a:ea typeface="Arial" pitchFamily="34" charset="-122"/>
                <a:cs typeface="Arial" pitchFamily="34" charset="-120"/>
              </a:rPr>
              <a:t>navigateur</a:t>
            </a:r>
            <a:endParaRPr lang="en-US" sz="1200" dirty="0"/>
          </a:p>
        </p:txBody>
      </p:sp>
      <p:sp>
        <p:nvSpPr>
          <p:cNvPr id="22" name="Text 20"/>
          <p:cNvSpPr txBox="1"/>
          <p:nvPr/>
        </p:nvSpPr>
        <p:spPr>
          <a:xfrm>
            <a:off x="813816" y="4087368"/>
            <a:ext cx="10561320" cy="265176"/>
          </a:xfrm>
          <a:prstGeom prst="rect">
            <a:avLst/>
          </a:prstGeom>
          <a:noFill/>
          <a:ln/>
        </p:spPr>
        <p:txBody>
          <a:bodyPr wrap="square" lIns="0" tIns="0" rIns="0" bIns="0" rtlCol="0" anchor="t"/>
          <a:lstStyle/>
          <a:p>
            <a:pPr marL="0" indent="0">
              <a:buNone/>
            </a:pPr>
            <a:r>
              <a:rPr lang="en-US" sz="1600" b="1" dirty="0">
                <a:solidFill>
                  <a:srgbClr val="1A2630"/>
                </a:solidFill>
                <a:latin typeface="Arial" pitchFamily="34" charset="0"/>
                <a:ea typeface="Arial" pitchFamily="34" charset="-122"/>
                <a:cs typeface="Arial" pitchFamily="34" charset="-120"/>
              </a:rPr>
              <a:t>Parcours 2 · Texte libre</a:t>
            </a:r>
            <a:endParaRPr lang="en-US" sz="1600" dirty="0"/>
          </a:p>
        </p:txBody>
      </p:sp>
      <p:sp>
        <p:nvSpPr>
          <p:cNvPr id="23" name="Text 21"/>
          <p:cNvSpPr/>
          <p:nvPr/>
        </p:nvSpPr>
        <p:spPr>
          <a:xfrm>
            <a:off x="813816" y="4453128"/>
            <a:ext cx="1426464" cy="530352"/>
          </a:xfrm>
          <a:prstGeom prst="roundRect">
            <a:avLst>
              <a:gd name="adj" fmla="val 13793"/>
            </a:avLst>
          </a:prstGeom>
          <a:solidFill>
            <a:srgbClr val="13202B"/>
          </a:solidFill>
          <a:ln w="12700">
            <a:solidFill>
              <a:srgbClr val="13202B"/>
            </a:solidFill>
          </a:ln>
        </p:spPr>
        <p:txBody>
          <a:bodyPr wrap="square" lIns="0" tIns="0" rIns="0" bIns="0" rtlCol="0" anchor="ctr"/>
          <a:lstStyle/>
          <a:p>
            <a:pPr marL="0" indent="0" algn="ctr">
              <a:buNone/>
            </a:pPr>
            <a:r>
              <a:rPr lang="en-US" sz="1600" b="1" dirty="0">
                <a:solidFill>
                  <a:srgbClr val="F5F3EE"/>
                </a:solidFill>
                <a:latin typeface="Arial" pitchFamily="34" charset="0"/>
                <a:ea typeface="Arial" pitchFamily="34" charset="-122"/>
                <a:cs typeface="Arial" pitchFamily="34" charset="-120"/>
              </a:rPr>
              <a:t>Texte libre</a:t>
            </a:r>
            <a:endParaRPr lang="en-US" sz="1600" dirty="0"/>
          </a:p>
        </p:txBody>
      </p:sp>
      <p:sp>
        <p:nvSpPr>
          <p:cNvPr id="24" name="Shape 22"/>
          <p:cNvSpPr/>
          <p:nvPr/>
        </p:nvSpPr>
        <p:spPr>
          <a:xfrm>
            <a:off x="2304288" y="4649724"/>
            <a:ext cx="274320" cy="137160"/>
          </a:xfrm>
          <a:prstGeom prst="rightArrow">
            <a:avLst/>
          </a:prstGeom>
          <a:solidFill>
            <a:srgbClr val="1F6F5E"/>
          </a:solidFill>
          <a:ln w="12700">
            <a:solidFill>
              <a:srgbClr val="1F6F5E"/>
            </a:solidFill>
            <a:prstDash val="solid"/>
          </a:ln>
        </p:spPr>
        <p:txBody>
          <a:bodyPr/>
          <a:lstStyle/>
          <a:p>
            <a:endParaRPr lang="fr-FR"/>
          </a:p>
        </p:txBody>
      </p:sp>
      <p:sp>
        <p:nvSpPr>
          <p:cNvPr id="25" name="Text 23"/>
          <p:cNvSpPr txBox="1"/>
          <p:nvPr/>
        </p:nvSpPr>
        <p:spPr>
          <a:xfrm>
            <a:off x="722376" y="5093208"/>
            <a:ext cx="1609344" cy="237744"/>
          </a:xfrm>
          <a:prstGeom prst="rect">
            <a:avLst/>
          </a:prstGeom>
          <a:noFill/>
          <a:ln/>
        </p:spPr>
        <p:txBody>
          <a:bodyPr wrap="square" lIns="0" tIns="0" rIns="0" bIns="0" rtlCol="0" anchor="t"/>
          <a:lstStyle/>
          <a:p>
            <a:pPr marL="0" indent="0" algn="ctr">
              <a:buNone/>
            </a:pPr>
            <a:r>
              <a:rPr lang="en-US" sz="1200" dirty="0">
                <a:solidFill>
                  <a:srgbClr val="4A5560"/>
                </a:solidFill>
                <a:latin typeface="Arial" pitchFamily="34" charset="0"/>
                <a:ea typeface="Arial" pitchFamily="34" charset="-122"/>
                <a:cs typeface="Arial" pitchFamily="34" charset="-120"/>
              </a:rPr>
              <a:t>description</a:t>
            </a:r>
            <a:endParaRPr lang="en-US" sz="1200" dirty="0"/>
          </a:p>
        </p:txBody>
      </p:sp>
      <p:sp>
        <p:nvSpPr>
          <p:cNvPr id="26" name="Text 24"/>
          <p:cNvSpPr/>
          <p:nvPr/>
        </p:nvSpPr>
        <p:spPr>
          <a:xfrm>
            <a:off x="2642616" y="4453128"/>
            <a:ext cx="1426464" cy="530352"/>
          </a:xfrm>
          <a:prstGeom prst="roundRect">
            <a:avLst>
              <a:gd name="adj" fmla="val 13793"/>
            </a:avLst>
          </a:prstGeom>
          <a:solidFill>
            <a:srgbClr val="FFFDF8"/>
          </a:solidFill>
          <a:ln w="12700">
            <a:solidFill>
              <a:srgbClr val="1F6F5E"/>
            </a:solidFill>
          </a:ln>
        </p:spPr>
        <p:txBody>
          <a:bodyPr wrap="square" lIns="0" tIns="0" rIns="0" bIns="0" rtlCol="0" anchor="ctr"/>
          <a:lstStyle/>
          <a:p>
            <a:pPr marL="0" indent="0" algn="ctr">
              <a:buNone/>
            </a:pPr>
            <a:r>
              <a:rPr lang="en-US" sz="1600" b="1" dirty="0">
                <a:solidFill>
                  <a:srgbClr val="1A2630"/>
                </a:solidFill>
                <a:latin typeface="Arial" pitchFamily="34" charset="0"/>
                <a:ea typeface="Arial" pitchFamily="34" charset="-122"/>
                <a:cs typeface="Arial" pitchFamily="34" charset="-120"/>
              </a:rPr>
              <a:t>ILaaS</a:t>
            </a:r>
            <a:endParaRPr lang="en-US" sz="1600" dirty="0"/>
          </a:p>
        </p:txBody>
      </p:sp>
      <p:sp>
        <p:nvSpPr>
          <p:cNvPr id="27" name="Shape 25"/>
          <p:cNvSpPr/>
          <p:nvPr/>
        </p:nvSpPr>
        <p:spPr>
          <a:xfrm>
            <a:off x="4133088" y="4649724"/>
            <a:ext cx="274320" cy="137160"/>
          </a:xfrm>
          <a:prstGeom prst="rightArrow">
            <a:avLst/>
          </a:prstGeom>
          <a:solidFill>
            <a:srgbClr val="1F6F5E"/>
          </a:solidFill>
          <a:ln w="12700">
            <a:solidFill>
              <a:srgbClr val="1F6F5E"/>
            </a:solidFill>
            <a:prstDash val="solid"/>
          </a:ln>
        </p:spPr>
        <p:txBody>
          <a:bodyPr/>
          <a:lstStyle/>
          <a:p>
            <a:endParaRPr lang="fr-FR"/>
          </a:p>
        </p:txBody>
      </p:sp>
      <p:sp>
        <p:nvSpPr>
          <p:cNvPr id="28" name="Text 26"/>
          <p:cNvSpPr txBox="1"/>
          <p:nvPr/>
        </p:nvSpPr>
        <p:spPr>
          <a:xfrm>
            <a:off x="2551176" y="5093208"/>
            <a:ext cx="1609344" cy="237744"/>
          </a:xfrm>
          <a:prstGeom prst="rect">
            <a:avLst/>
          </a:prstGeom>
          <a:noFill/>
          <a:ln/>
        </p:spPr>
        <p:txBody>
          <a:bodyPr wrap="square" lIns="0" tIns="0" rIns="0" bIns="0" rtlCol="0" anchor="t"/>
          <a:lstStyle/>
          <a:p>
            <a:pPr marL="0" indent="0" algn="ctr">
              <a:buNone/>
            </a:pPr>
            <a:r>
              <a:rPr lang="en-US" sz="1200" dirty="0">
                <a:solidFill>
                  <a:srgbClr val="4A5560"/>
                </a:solidFill>
                <a:latin typeface="Arial" pitchFamily="34" charset="0"/>
                <a:ea typeface="Arial" pitchFamily="34" charset="-122"/>
                <a:cs typeface="Arial" pitchFamily="34" charset="-120"/>
              </a:rPr>
              <a:t>LLM Mistral</a:t>
            </a:r>
            <a:endParaRPr lang="en-US" sz="1200" dirty="0"/>
          </a:p>
        </p:txBody>
      </p:sp>
      <p:sp>
        <p:nvSpPr>
          <p:cNvPr id="29" name="Text 27"/>
          <p:cNvSpPr/>
          <p:nvPr/>
        </p:nvSpPr>
        <p:spPr>
          <a:xfrm>
            <a:off x="4471416" y="4453128"/>
            <a:ext cx="1426464" cy="530352"/>
          </a:xfrm>
          <a:prstGeom prst="roundRect">
            <a:avLst>
              <a:gd name="adj" fmla="val 13793"/>
            </a:avLst>
          </a:prstGeom>
          <a:solidFill>
            <a:srgbClr val="FFFDF8"/>
          </a:solidFill>
          <a:ln w="12700">
            <a:solidFill>
              <a:srgbClr val="1F6F5E"/>
            </a:solidFill>
          </a:ln>
        </p:spPr>
        <p:txBody>
          <a:bodyPr wrap="square" lIns="0" tIns="0" rIns="0" bIns="0" rtlCol="0" anchor="ctr"/>
          <a:lstStyle/>
          <a:p>
            <a:pPr marL="0" indent="0" algn="ctr">
              <a:buNone/>
            </a:pPr>
            <a:r>
              <a:rPr lang="en-US" sz="1600" b="1" dirty="0">
                <a:solidFill>
                  <a:srgbClr val="1A2630"/>
                </a:solidFill>
                <a:latin typeface="Arial" pitchFamily="34" charset="0"/>
                <a:ea typeface="Arial" pitchFamily="34" charset="-122"/>
                <a:cs typeface="Arial" pitchFamily="34" charset="-120"/>
              </a:rPr>
              <a:t>JSON</a:t>
            </a:r>
            <a:endParaRPr lang="en-US" sz="1600" dirty="0"/>
          </a:p>
        </p:txBody>
      </p:sp>
      <p:sp>
        <p:nvSpPr>
          <p:cNvPr id="30" name="Shape 28"/>
          <p:cNvSpPr/>
          <p:nvPr/>
        </p:nvSpPr>
        <p:spPr>
          <a:xfrm>
            <a:off x="5961888" y="4649724"/>
            <a:ext cx="274320" cy="137160"/>
          </a:xfrm>
          <a:prstGeom prst="rightArrow">
            <a:avLst/>
          </a:prstGeom>
          <a:solidFill>
            <a:srgbClr val="1F6F5E"/>
          </a:solidFill>
          <a:ln w="12700">
            <a:solidFill>
              <a:srgbClr val="1F6F5E"/>
            </a:solidFill>
            <a:prstDash val="solid"/>
          </a:ln>
        </p:spPr>
        <p:txBody>
          <a:bodyPr/>
          <a:lstStyle/>
          <a:p>
            <a:endParaRPr lang="fr-FR"/>
          </a:p>
        </p:txBody>
      </p:sp>
      <p:sp>
        <p:nvSpPr>
          <p:cNvPr id="31" name="Text 29"/>
          <p:cNvSpPr txBox="1"/>
          <p:nvPr/>
        </p:nvSpPr>
        <p:spPr>
          <a:xfrm>
            <a:off x="4379976" y="5093208"/>
            <a:ext cx="1609344" cy="237744"/>
          </a:xfrm>
          <a:prstGeom prst="rect">
            <a:avLst/>
          </a:prstGeom>
          <a:noFill/>
          <a:ln/>
        </p:spPr>
        <p:txBody>
          <a:bodyPr wrap="square" lIns="0" tIns="0" rIns="0" bIns="0" rtlCol="0" anchor="t"/>
          <a:lstStyle/>
          <a:p>
            <a:pPr marL="0" indent="0" algn="ctr">
              <a:buNone/>
            </a:pPr>
            <a:r>
              <a:rPr lang="en-US" sz="1200" dirty="0">
                <a:solidFill>
                  <a:srgbClr val="4A5560"/>
                </a:solidFill>
                <a:latin typeface="Arial" pitchFamily="34" charset="0"/>
                <a:ea typeface="Arial" pitchFamily="34" charset="-122"/>
                <a:cs typeface="Arial" pitchFamily="34" charset="-120"/>
              </a:rPr>
              <a:t>même schéma</a:t>
            </a:r>
            <a:endParaRPr lang="en-US" sz="1200" dirty="0"/>
          </a:p>
        </p:txBody>
      </p:sp>
      <p:sp>
        <p:nvSpPr>
          <p:cNvPr id="32" name="Text 30"/>
          <p:cNvSpPr/>
          <p:nvPr/>
        </p:nvSpPr>
        <p:spPr>
          <a:xfrm>
            <a:off x="6300216" y="4453128"/>
            <a:ext cx="1426464" cy="530352"/>
          </a:xfrm>
          <a:prstGeom prst="roundRect">
            <a:avLst>
              <a:gd name="adj" fmla="val 13793"/>
            </a:avLst>
          </a:prstGeom>
          <a:solidFill>
            <a:srgbClr val="FFFDF8"/>
          </a:solidFill>
          <a:ln w="12700">
            <a:solidFill>
              <a:srgbClr val="1F6F5E"/>
            </a:solidFill>
          </a:ln>
        </p:spPr>
        <p:txBody>
          <a:bodyPr wrap="square" lIns="0" tIns="0" rIns="0" bIns="0" rtlCol="0" anchor="ctr"/>
          <a:lstStyle/>
          <a:p>
            <a:pPr marL="0" indent="0" algn="ctr">
              <a:buNone/>
            </a:pPr>
            <a:r>
              <a:rPr lang="en-US" sz="1600" b="1" dirty="0">
                <a:solidFill>
                  <a:srgbClr val="1A2630"/>
                </a:solidFill>
                <a:latin typeface="Arial" pitchFamily="34" charset="0"/>
                <a:ea typeface="Arial" pitchFamily="34" charset="-122"/>
                <a:cs typeface="Arial" pitchFamily="34" charset="-120"/>
              </a:rPr>
              <a:t>SQLite</a:t>
            </a:r>
            <a:endParaRPr lang="en-US" sz="1600" dirty="0"/>
          </a:p>
        </p:txBody>
      </p:sp>
      <p:sp>
        <p:nvSpPr>
          <p:cNvPr id="33" name="Text 31"/>
          <p:cNvSpPr txBox="1"/>
          <p:nvPr/>
        </p:nvSpPr>
        <p:spPr>
          <a:xfrm>
            <a:off x="6208776" y="5093208"/>
            <a:ext cx="1609344" cy="237744"/>
          </a:xfrm>
          <a:prstGeom prst="rect">
            <a:avLst/>
          </a:prstGeom>
          <a:noFill/>
          <a:ln/>
        </p:spPr>
        <p:txBody>
          <a:bodyPr wrap="square" lIns="0" tIns="0" rIns="0" bIns="0" rtlCol="0" anchor="t"/>
          <a:lstStyle/>
          <a:p>
            <a:pPr marL="0" indent="0" algn="ctr">
              <a:buNone/>
            </a:pPr>
            <a:r>
              <a:rPr lang="en-US" sz="1200" dirty="0">
                <a:solidFill>
                  <a:srgbClr val="4A5560"/>
                </a:solidFill>
                <a:latin typeface="Arial" pitchFamily="34" charset="0"/>
                <a:ea typeface="Arial" pitchFamily="34" charset="-122"/>
                <a:cs typeface="Arial" pitchFamily="34" charset="-120"/>
              </a:rPr>
              <a:t>7 tables</a:t>
            </a:r>
            <a:endParaRPr lang="en-US" sz="1200" dirty="0"/>
          </a:p>
        </p:txBody>
      </p:sp>
      <p:sp>
        <p:nvSpPr>
          <p:cNvPr id="34" name="Text 32"/>
          <p:cNvSpPr txBox="1"/>
          <p:nvPr/>
        </p:nvSpPr>
        <p:spPr>
          <a:xfrm>
            <a:off x="7909560" y="4453128"/>
            <a:ext cx="3291840" cy="530352"/>
          </a:xfrm>
          <a:prstGeom prst="rect">
            <a:avLst/>
          </a:prstGeom>
          <a:noFill/>
          <a:ln/>
        </p:spPr>
        <p:txBody>
          <a:bodyPr wrap="square" lIns="0" tIns="0" rIns="0" bIns="0" rtlCol="0" anchor="ctr"/>
          <a:lstStyle/>
          <a:p>
            <a:pPr marL="0" indent="0">
              <a:buNone/>
            </a:pPr>
            <a:r>
              <a:rPr lang="en-US" sz="1400" i="1" dirty="0">
                <a:solidFill>
                  <a:srgbClr val="4A5560"/>
                </a:solidFill>
                <a:latin typeface="Arial" pitchFamily="34" charset="0"/>
                <a:ea typeface="Arial" pitchFamily="34" charset="-122"/>
                <a:cs typeface="Arial" pitchFamily="34" charset="-120"/>
              </a:rPr>
              <a:t>puis même chemin que le parcours 1</a:t>
            </a:r>
            <a:endParaRPr lang="en-US" sz="1400" dirty="0"/>
          </a:p>
        </p:txBody>
      </p:sp>
      <p:sp>
        <p:nvSpPr>
          <p:cNvPr id="35" name="Slide Number Placeholder 0"/>
          <p:cNvSpPr>
            <a:spLocks noGrp="1"/>
          </p:cNvSpPr>
          <p:nvPr>
            <p:ph type="sldNum" sz="quarter" idx="4294967295"/>
          </p:nvPr>
        </p:nvSpPr>
        <p:spPr>
          <a:xfrm>
            <a:off x="10735056" y="6236208"/>
            <a:ext cx="640080" cy="237744"/>
          </a:xfrm>
          <a:prstGeom prst="rect">
            <a:avLst/>
          </a:prstGeom>
          <a:extLst>
            <a:ext uri="{C572A759-6A51-4108-AA02-DFA0A04FC94B}">
              <ma14:wrappingTextBoxFlag xmlns="" xmlns:ma14="http://schemas.microsoft.com/office/mac/drawingml/2011/main" val="0"/>
            </a:ext>
          </a:extLst>
        </p:spPr>
        <p:txBody>
          <a:bodyPr lIns="0" tIns="0" rIns="0" bIns="0"/>
          <a:lstStyle>
            <a:lvl1pPr>
              <a:defRPr sz="1200">
                <a:solidFill>
                  <a:srgbClr val="7A848C"/>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6500487" y="978408"/>
            <a:ext cx="5376672" cy="237744"/>
          </a:xfrm>
          <a:prstGeom prst="rect">
            <a:avLst/>
          </a:prstGeom>
          <a:noFill/>
          <a:ln/>
        </p:spPr>
        <p:txBody>
          <a:bodyPr wrap="square" lIns="0" tIns="0" rIns="0" bIns="0" rtlCol="0" anchor="t"/>
          <a:lstStyle/>
          <a:p>
            <a:pPr marL="0" indent="0">
              <a:buNone/>
            </a:pPr>
            <a:r>
              <a:rPr lang="en-US" sz="1200" b="1" kern="0" spc="200" dirty="0">
                <a:solidFill>
                  <a:srgbClr val="6FD1B5"/>
                </a:solidFill>
                <a:latin typeface="Arial" pitchFamily="34" charset="0"/>
                <a:ea typeface="Arial" pitchFamily="34" charset="-122"/>
                <a:cs typeface="Arial" pitchFamily="34" charset="-120"/>
              </a:rPr>
              <a:t>MODÈLE DE DONNÉES</a:t>
            </a:r>
            <a:endParaRPr lang="en-US" sz="1200" dirty="0"/>
          </a:p>
        </p:txBody>
      </p:sp>
      <p:sp>
        <p:nvSpPr>
          <p:cNvPr id="4" name="Text 0"/>
          <p:cNvSpPr>
            <a:spLocks noGrp="1"/>
          </p:cNvSpPr>
          <p:nvPr>
            <p:ph type="title" idx="100" hasCustomPrompt="1"/>
          </p:nvPr>
        </p:nvSpPr>
        <p:spPr>
          <a:xfrm>
            <a:off x="6500487" y="1371600"/>
            <a:ext cx="5376672" cy="1097280"/>
          </a:xfrm>
          <a:prstGeom prst="rect">
            <a:avLst/>
          </a:prstGeom>
          <a:noFill/>
          <a:ln/>
        </p:spPr>
        <p:txBody>
          <a:bodyPr wrap="square" lIns="0" tIns="0" rIns="0" bIns="0" rtlCol="0" anchor="t"/>
          <a:lstStyle/>
          <a:p>
            <a:pPr marL="0" indent="0" algn="l">
              <a:buNone/>
            </a:pPr>
            <a:r>
              <a:rPr lang="en-US" sz="3600" b="1" dirty="0">
                <a:solidFill>
                  <a:srgbClr val="F5F3EE"/>
                </a:solidFill>
                <a:latin typeface="Arial" pitchFamily="34" charset="0"/>
                <a:ea typeface="Arial" pitchFamily="34" charset="-122"/>
                <a:cs typeface="Arial" pitchFamily="34" charset="-120"/>
              </a:rPr>
              <a:t>Quelles données pour une facture ?</a:t>
            </a:r>
            <a:endParaRPr lang="en-US" sz="3600" dirty="0"/>
          </a:p>
        </p:txBody>
      </p:sp>
      <p:sp>
        <p:nvSpPr>
          <p:cNvPr id="25" name="Slide Number Placeholder 0"/>
          <p:cNvSpPr>
            <a:spLocks noGrp="1"/>
          </p:cNvSpPr>
          <p:nvPr>
            <p:ph type="sldNum" sz="quarter" idx="4294967295"/>
          </p:nvPr>
        </p:nvSpPr>
        <p:spPr>
          <a:xfrm>
            <a:off x="10735056" y="6236208"/>
            <a:ext cx="640080" cy="237744"/>
          </a:xfrm>
          <a:prstGeom prst="rect">
            <a:avLst/>
          </a:prstGeom>
          <a:extLst>
            <a:ext uri="{C572A759-6A51-4108-AA02-DFA0A04FC94B}">
              <ma14:wrappingTextBoxFlag xmlns="" xmlns:ma14="http://schemas.microsoft.com/office/mac/drawingml/2011/main" val="0"/>
            </a:ext>
          </a:extLst>
        </p:spPr>
        <p:txBody>
          <a:bodyPr lIns="0" tIns="0" rIns="0" bIns="0"/>
          <a:lstStyle>
            <a:lvl1pPr>
              <a:defRPr sz="1200">
                <a:solidFill>
                  <a:srgbClr val="8FA1AD"/>
                </a:solidFill>
                <a:latin typeface="Arial"/>
                <a:ea typeface="Arial"/>
                <a:cs typeface="Arial"/>
              </a:defRPr>
            </a:lvl1pPr>
          </a:lstStyle>
          <a:p>
            <a:pPr algn="r"/>
            <a:fld id="{F7021451-1387-4CA6-816F-3879F97B5CBC}" type="slidenum">
              <a:rPr lang="en-US" b="0"/>
              <a:t>3</a:t>
            </a:fld>
            <a:endParaRPr lang="en-US"/>
          </a:p>
        </p:txBody>
      </p:sp>
      <p:pic>
        <p:nvPicPr>
          <p:cNvPr id="19" name="Image 18">
            <a:extLst>
              <a:ext uri="{FF2B5EF4-FFF2-40B4-BE49-F238E27FC236}">
                <a16:creationId xmlns:a16="http://schemas.microsoft.com/office/drawing/2014/main" id="{3C035C9A-81CA-C667-3BBC-36B98B8823F4}"/>
              </a:ext>
            </a:extLst>
          </p:cNvPr>
          <p:cNvPicPr>
            <a:picLocks noChangeAspect="1"/>
          </p:cNvPicPr>
          <p:nvPr/>
        </p:nvPicPr>
        <p:blipFill>
          <a:blip r:embed="rId3"/>
          <a:stretch>
            <a:fillRect/>
          </a:stretch>
        </p:blipFill>
        <p:spPr>
          <a:xfrm>
            <a:off x="173318" y="1530407"/>
            <a:ext cx="5922682" cy="3667163"/>
          </a:xfrm>
          <a:prstGeom prst="rect">
            <a:avLst/>
          </a:prstGeom>
        </p:spPr>
      </p:pic>
      <p:sp>
        <p:nvSpPr>
          <p:cNvPr id="21" name="Text 0">
            <a:extLst>
              <a:ext uri="{FF2B5EF4-FFF2-40B4-BE49-F238E27FC236}">
                <a16:creationId xmlns:a16="http://schemas.microsoft.com/office/drawing/2014/main" id="{B621C42D-A7B3-8A06-5B2D-1485FF3FB087}"/>
              </a:ext>
            </a:extLst>
          </p:cNvPr>
          <p:cNvSpPr txBox="1"/>
          <p:nvPr/>
        </p:nvSpPr>
        <p:spPr>
          <a:xfrm>
            <a:off x="6500487" y="2670048"/>
            <a:ext cx="5376672" cy="237744"/>
          </a:xfrm>
          <a:prstGeom prst="rect">
            <a:avLst/>
          </a:prstGeom>
          <a:noFill/>
          <a:ln/>
        </p:spPr>
        <p:txBody>
          <a:bodyPr wrap="square" lIns="0" tIns="0" rIns="0" bIns="0" rtlCol="0" anchor="t"/>
          <a:lstStyle/>
          <a:p>
            <a:pPr marL="0" indent="0">
              <a:buNone/>
            </a:pPr>
            <a:r>
              <a:rPr lang="en-US" sz="1200" b="1" kern="0" spc="200" dirty="0" err="1">
                <a:solidFill>
                  <a:srgbClr val="6FD1B5"/>
                </a:solidFill>
                <a:latin typeface="Arial" pitchFamily="34" charset="0"/>
                <a:ea typeface="Arial" pitchFamily="34" charset="-122"/>
                <a:cs typeface="Arial" pitchFamily="34" charset="-120"/>
              </a:rPr>
              <a:t>Qu’est</a:t>
            </a:r>
            <a:r>
              <a:rPr lang="en-US" sz="1200" b="1" kern="0" spc="200" dirty="0">
                <a:solidFill>
                  <a:srgbClr val="6FD1B5"/>
                </a:solidFill>
                <a:latin typeface="Arial" pitchFamily="34" charset="0"/>
                <a:ea typeface="Arial" pitchFamily="34" charset="-122"/>
                <a:cs typeface="Arial" pitchFamily="34" charset="-120"/>
              </a:rPr>
              <a:t> </a:t>
            </a:r>
            <a:r>
              <a:rPr lang="en-US" sz="1200" b="1" kern="0" spc="200" dirty="0" err="1">
                <a:solidFill>
                  <a:srgbClr val="6FD1B5"/>
                </a:solidFill>
                <a:latin typeface="Arial" pitchFamily="34" charset="0"/>
                <a:ea typeface="Arial" pitchFamily="34" charset="-122"/>
                <a:cs typeface="Arial" pitchFamily="34" charset="-120"/>
              </a:rPr>
              <a:t>ce</a:t>
            </a:r>
            <a:r>
              <a:rPr lang="en-US" sz="1200" b="1" kern="0" spc="200" dirty="0">
                <a:solidFill>
                  <a:srgbClr val="6FD1B5"/>
                </a:solidFill>
                <a:latin typeface="Arial" pitchFamily="34" charset="0"/>
                <a:ea typeface="Arial" pitchFamily="34" charset="-122"/>
                <a:cs typeface="Arial" pitchFamily="34" charset="-120"/>
              </a:rPr>
              <a:t> </a:t>
            </a:r>
            <a:r>
              <a:rPr lang="en-US" sz="1200" b="1" kern="0" spc="200" dirty="0" err="1">
                <a:solidFill>
                  <a:srgbClr val="6FD1B5"/>
                </a:solidFill>
                <a:latin typeface="Arial" pitchFamily="34" charset="0"/>
                <a:ea typeface="Arial" pitchFamily="34" charset="-122"/>
                <a:cs typeface="Arial" pitchFamily="34" charset="-120"/>
              </a:rPr>
              <a:t>qu’une</a:t>
            </a:r>
            <a:r>
              <a:rPr lang="en-US" sz="1200" b="1" kern="0" spc="200" dirty="0">
                <a:solidFill>
                  <a:srgbClr val="6FD1B5"/>
                </a:solidFill>
                <a:latin typeface="Arial" pitchFamily="34" charset="0"/>
                <a:ea typeface="Arial" pitchFamily="34" charset="-122"/>
                <a:cs typeface="Arial" pitchFamily="34" charset="-120"/>
              </a:rPr>
              <a:t> facture dans </a:t>
            </a:r>
            <a:r>
              <a:rPr lang="en-US" sz="1200" b="1" kern="0" spc="200" dirty="0" err="1">
                <a:solidFill>
                  <a:srgbClr val="6FD1B5"/>
                </a:solidFill>
                <a:latin typeface="Arial" pitchFamily="34" charset="0"/>
                <a:ea typeface="Arial" pitchFamily="34" charset="-122"/>
                <a:cs typeface="Arial" pitchFamily="34" charset="-120"/>
              </a:rPr>
              <a:t>nos</a:t>
            </a:r>
            <a:r>
              <a:rPr lang="en-US" sz="1200" b="1" kern="0" spc="200" dirty="0">
                <a:solidFill>
                  <a:srgbClr val="6FD1B5"/>
                </a:solidFill>
                <a:latin typeface="Arial" pitchFamily="34" charset="0"/>
                <a:ea typeface="Arial" pitchFamily="34" charset="-122"/>
                <a:cs typeface="Arial" pitchFamily="34" charset="-120"/>
              </a:rPr>
              <a:t> </a:t>
            </a:r>
            <a:r>
              <a:rPr lang="en-US" sz="1200" b="1" kern="0" spc="200" dirty="0" err="1">
                <a:solidFill>
                  <a:srgbClr val="6FD1B5"/>
                </a:solidFill>
                <a:latin typeface="Arial" pitchFamily="34" charset="0"/>
                <a:ea typeface="Arial" pitchFamily="34" charset="-122"/>
                <a:cs typeface="Arial" pitchFamily="34" charset="-120"/>
              </a:rPr>
              <a:t>donnés</a:t>
            </a:r>
            <a:r>
              <a:rPr lang="en-US" sz="1200" b="1" kern="0" spc="200" dirty="0">
                <a:solidFill>
                  <a:srgbClr val="6FD1B5"/>
                </a:solidFill>
                <a:latin typeface="Arial" pitchFamily="34" charset="0"/>
                <a:ea typeface="Arial" pitchFamily="34" charset="-122"/>
                <a:cs typeface="Arial" pitchFamily="34" charset="-120"/>
              </a:rPr>
              <a:t>?</a:t>
            </a:r>
            <a:endParaRPr lang="en-US" sz="1200" dirty="0"/>
          </a:p>
        </p:txBody>
      </p:sp>
      <p:sp>
        <p:nvSpPr>
          <p:cNvPr id="22" name="ZoneTexte 21">
            <a:extLst>
              <a:ext uri="{FF2B5EF4-FFF2-40B4-BE49-F238E27FC236}">
                <a16:creationId xmlns:a16="http://schemas.microsoft.com/office/drawing/2014/main" id="{C3FDEB6C-FB5D-5F49-F071-DA83AAC4F265}"/>
              </a:ext>
            </a:extLst>
          </p:cNvPr>
          <p:cNvSpPr txBox="1"/>
          <p:nvPr/>
        </p:nvSpPr>
        <p:spPr>
          <a:xfrm>
            <a:off x="7022353" y="6347012"/>
            <a:ext cx="184731" cy="369332"/>
          </a:xfrm>
          <a:prstGeom prst="rect">
            <a:avLst/>
          </a:prstGeom>
          <a:noFill/>
        </p:spPr>
        <p:txBody>
          <a:bodyPr wrap="none" rtlCol="0">
            <a:spAutoFit/>
          </a:bodyPr>
          <a:lstStyle/>
          <a:p>
            <a:endParaRPr lang="fr-F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13816" y="813816"/>
            <a:ext cx="10561320" cy="237744"/>
          </a:xfrm>
          <a:prstGeom prst="rect">
            <a:avLst/>
          </a:prstGeom>
          <a:noFill/>
          <a:ln/>
        </p:spPr>
        <p:txBody>
          <a:bodyPr wrap="square" lIns="0" tIns="0" rIns="0" bIns="0" rtlCol="0" anchor="t"/>
          <a:lstStyle/>
          <a:p>
            <a:pPr marL="0" indent="0">
              <a:buNone/>
            </a:pPr>
            <a:r>
              <a:rPr lang="en-US" sz="1200" b="1" kern="0" spc="200" dirty="0">
                <a:solidFill>
                  <a:srgbClr val="1F6F5E"/>
                </a:solidFill>
                <a:latin typeface="Arial" pitchFamily="34" charset="0"/>
                <a:ea typeface="Arial" pitchFamily="34" charset="-122"/>
                <a:cs typeface="Arial" pitchFamily="34" charset="-120"/>
              </a:rPr>
              <a:t>UN OUTIL, UN RÔLE</a:t>
            </a:r>
            <a:endParaRPr lang="en-US" sz="1200" dirty="0"/>
          </a:p>
        </p:txBody>
      </p:sp>
      <p:sp>
        <p:nvSpPr>
          <p:cNvPr id="3" name="Text 0"/>
          <p:cNvSpPr>
            <a:spLocks noGrp="1"/>
          </p:cNvSpPr>
          <p:nvPr>
            <p:ph type="title" idx="100" hasCustomPrompt="1"/>
          </p:nvPr>
        </p:nvSpPr>
        <p:spPr>
          <a:xfrm>
            <a:off x="813816" y="1124712"/>
            <a:ext cx="10561320" cy="548640"/>
          </a:xfrm>
          <a:prstGeom prst="rect">
            <a:avLst/>
          </a:prstGeom>
          <a:noFill/>
          <a:ln/>
        </p:spPr>
        <p:txBody>
          <a:bodyPr wrap="square" lIns="0" tIns="0" rIns="0" bIns="0" rtlCol="0" anchor="t"/>
          <a:lstStyle/>
          <a:p>
            <a:pPr marL="0" indent="0" algn="l">
              <a:buNone/>
            </a:pPr>
            <a:r>
              <a:rPr lang="en-US" sz="3600" b="1" dirty="0">
                <a:solidFill>
                  <a:srgbClr val="1A2630"/>
                </a:solidFill>
                <a:latin typeface="Arial" pitchFamily="34" charset="0"/>
                <a:ea typeface="Arial" pitchFamily="34" charset="-122"/>
                <a:cs typeface="Arial" pitchFamily="34" charset="-120"/>
              </a:rPr>
              <a:t>Stack utilisée</a:t>
            </a:r>
            <a:endParaRPr lang="en-US" sz="3600" dirty="0"/>
          </a:p>
        </p:txBody>
      </p:sp>
      <p:sp>
        <p:nvSpPr>
          <p:cNvPr id="28" name="Slide Number Placeholder 0"/>
          <p:cNvSpPr>
            <a:spLocks noGrp="1"/>
          </p:cNvSpPr>
          <p:nvPr>
            <p:ph type="sldNum" sz="quarter" idx="4294967295"/>
          </p:nvPr>
        </p:nvSpPr>
        <p:spPr>
          <a:xfrm>
            <a:off x="10735056" y="6236208"/>
            <a:ext cx="640080" cy="237744"/>
          </a:xfrm>
          <a:prstGeom prst="rect">
            <a:avLst/>
          </a:prstGeom>
          <a:extLst>
            <a:ext uri="{C572A759-6A51-4108-AA02-DFA0A04FC94B}">
              <ma14:wrappingTextBoxFlag xmlns="" xmlns:ma14="http://schemas.microsoft.com/office/mac/drawingml/2011/main" val="0"/>
            </a:ext>
          </a:extLst>
        </p:spPr>
        <p:txBody>
          <a:bodyPr lIns="0" tIns="0" rIns="0" bIns="0"/>
          <a:lstStyle>
            <a:lvl1pPr>
              <a:defRPr sz="1200">
                <a:solidFill>
                  <a:srgbClr val="7A848C"/>
                </a:solidFill>
                <a:latin typeface="Arial"/>
                <a:ea typeface="Arial"/>
                <a:cs typeface="Arial"/>
              </a:defRPr>
            </a:lvl1pPr>
          </a:lstStyle>
          <a:p>
            <a:pPr algn="r"/>
            <a:fld id="{F7021451-1387-4CA6-816F-3879F97B5CBC}" type="slidenum">
              <a:rPr lang="en-US" b="0"/>
              <a:t>4</a:t>
            </a:fld>
            <a:endParaRPr lang="en-US"/>
          </a:p>
        </p:txBody>
      </p:sp>
      <p:sp>
        <p:nvSpPr>
          <p:cNvPr id="29" name="Rounded Rectangle 28"/>
          <p:cNvSpPr/>
          <p:nvPr/>
        </p:nvSpPr>
        <p:spPr>
          <a:xfrm>
            <a:off x="813816" y="1938528"/>
            <a:ext cx="5074920" cy="1783080"/>
          </a:xfrm>
          <a:prstGeom prst="roundRect">
            <a:avLst/>
          </a:prstGeom>
          <a:solidFill>
            <a:srgbClr val="F7F9F7"/>
          </a:solidFill>
          <a:ln w="12700">
            <a:solidFill>
              <a:srgbClr val="D7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779776" y="2139696"/>
            <a:ext cx="2743200" cy="219456"/>
          </a:xfrm>
          <a:prstGeom prst="rect">
            <a:avLst/>
          </a:prstGeom>
          <a:noFill/>
        </p:spPr>
        <p:txBody>
          <a:bodyPr wrap="none" lIns="0" tIns="0" rIns="0" bIns="0" anchor="ctr">
            <a:spAutoFit/>
          </a:bodyPr>
          <a:lstStyle/>
          <a:p>
            <a:pPr algn="l">
              <a:spcBef>
                <a:spcPts val="0"/>
              </a:spcBef>
              <a:spcAft>
                <a:spcPts val="0"/>
              </a:spcAft>
            </a:pPr>
            <a:r>
              <a:rPr sz="1000" b="1">
                <a:solidFill>
                  <a:srgbClr val="1F6F5E"/>
                </a:solidFill>
                <a:latin typeface="Arial"/>
              </a:rPr>
              <a:t>INTERFACE WEB</a:t>
            </a:r>
          </a:p>
        </p:txBody>
      </p:sp>
      <p:sp>
        <p:nvSpPr>
          <p:cNvPr id="31" name="TextBox 30"/>
          <p:cNvSpPr txBox="1"/>
          <p:nvPr/>
        </p:nvSpPr>
        <p:spPr>
          <a:xfrm>
            <a:off x="2779776" y="2414016"/>
            <a:ext cx="2788920" cy="393192"/>
          </a:xfrm>
          <a:prstGeom prst="rect">
            <a:avLst/>
          </a:prstGeom>
          <a:noFill/>
        </p:spPr>
        <p:txBody>
          <a:bodyPr wrap="none" lIns="0" tIns="0" rIns="0" bIns="0" anchor="ctr">
            <a:spAutoFit/>
          </a:bodyPr>
          <a:lstStyle/>
          <a:p>
            <a:pPr algn="l">
              <a:spcBef>
                <a:spcPts val="0"/>
              </a:spcBef>
              <a:spcAft>
                <a:spcPts val="0"/>
              </a:spcAft>
            </a:pPr>
            <a:r>
              <a:rPr sz="1800" b="1">
                <a:solidFill>
                  <a:srgbClr val="1A2630"/>
                </a:solidFill>
                <a:latin typeface="Arial"/>
              </a:rPr>
              <a:t>HTML · CSS · JavaScript</a:t>
            </a:r>
          </a:p>
        </p:txBody>
      </p:sp>
      <p:sp>
        <p:nvSpPr>
          <p:cNvPr id="32" name="TextBox 31"/>
          <p:cNvSpPr txBox="1"/>
          <p:nvPr/>
        </p:nvSpPr>
        <p:spPr>
          <a:xfrm>
            <a:off x="2779776" y="2926080"/>
            <a:ext cx="2788920" cy="438912"/>
          </a:xfrm>
          <a:prstGeom prst="rect">
            <a:avLst/>
          </a:prstGeom>
          <a:noFill/>
        </p:spPr>
        <p:txBody>
          <a:bodyPr wrap="none" lIns="0" tIns="0" rIns="0" bIns="0" anchor="ctr">
            <a:spAutoFit/>
          </a:bodyPr>
          <a:lstStyle/>
          <a:p>
            <a:pPr algn="l">
              <a:spcBef>
                <a:spcPts val="0"/>
              </a:spcBef>
              <a:spcAft>
                <a:spcPts val="0"/>
              </a:spcAft>
            </a:pPr>
            <a:r>
              <a:rPr sz="1200" b="0">
                <a:solidFill>
                  <a:srgbClr val="5B6871"/>
                </a:solidFill>
                <a:latin typeface="Arial"/>
              </a:rPr>
              <a:t>Saisie et affichage dans le navigateur</a:t>
            </a:r>
          </a:p>
        </p:txBody>
      </p:sp>
      <p:sp>
        <p:nvSpPr>
          <p:cNvPr id="33" name="Rounded Rectangle 32"/>
          <p:cNvSpPr/>
          <p:nvPr/>
        </p:nvSpPr>
        <p:spPr>
          <a:xfrm>
            <a:off x="6208776" y="1938528"/>
            <a:ext cx="5074920" cy="1783080"/>
          </a:xfrm>
          <a:prstGeom prst="roundRect">
            <a:avLst/>
          </a:prstGeom>
          <a:solidFill>
            <a:srgbClr val="F7F9F7"/>
          </a:solidFill>
          <a:ln w="12700">
            <a:solidFill>
              <a:srgbClr val="D7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174736" y="2139696"/>
            <a:ext cx="2743200" cy="219456"/>
          </a:xfrm>
          <a:prstGeom prst="rect">
            <a:avLst/>
          </a:prstGeom>
          <a:noFill/>
        </p:spPr>
        <p:txBody>
          <a:bodyPr wrap="none" lIns="0" tIns="0" rIns="0" bIns="0" anchor="ctr">
            <a:spAutoFit/>
          </a:bodyPr>
          <a:lstStyle/>
          <a:p>
            <a:pPr algn="l">
              <a:spcBef>
                <a:spcPts val="0"/>
              </a:spcBef>
              <a:spcAft>
                <a:spcPts val="0"/>
              </a:spcAft>
            </a:pPr>
            <a:r>
              <a:rPr sz="1000" b="1">
                <a:solidFill>
                  <a:srgbClr val="1F6F5E"/>
                </a:solidFill>
                <a:latin typeface="Arial"/>
              </a:rPr>
              <a:t>SERVEUR</a:t>
            </a:r>
          </a:p>
        </p:txBody>
      </p:sp>
      <p:sp>
        <p:nvSpPr>
          <p:cNvPr id="35" name="TextBox 34"/>
          <p:cNvSpPr txBox="1"/>
          <p:nvPr/>
        </p:nvSpPr>
        <p:spPr>
          <a:xfrm>
            <a:off x="8174736" y="2414016"/>
            <a:ext cx="2788920" cy="393192"/>
          </a:xfrm>
          <a:prstGeom prst="rect">
            <a:avLst/>
          </a:prstGeom>
          <a:noFill/>
        </p:spPr>
        <p:txBody>
          <a:bodyPr wrap="none" lIns="0" tIns="0" rIns="0" bIns="0" anchor="ctr">
            <a:spAutoFit/>
          </a:bodyPr>
          <a:lstStyle/>
          <a:p>
            <a:pPr algn="l">
              <a:spcBef>
                <a:spcPts val="0"/>
              </a:spcBef>
              <a:spcAft>
                <a:spcPts val="0"/>
              </a:spcAft>
            </a:pPr>
            <a:r>
              <a:rPr sz="1800" b="1">
                <a:solidFill>
                  <a:srgbClr val="1A2630"/>
                </a:solidFill>
                <a:latin typeface="Arial"/>
              </a:rPr>
              <a:t>Python · Flask</a:t>
            </a:r>
          </a:p>
        </p:txBody>
      </p:sp>
      <p:sp>
        <p:nvSpPr>
          <p:cNvPr id="36" name="TextBox 35"/>
          <p:cNvSpPr txBox="1"/>
          <p:nvPr/>
        </p:nvSpPr>
        <p:spPr>
          <a:xfrm>
            <a:off x="8174736" y="2926080"/>
            <a:ext cx="2788920" cy="438912"/>
          </a:xfrm>
          <a:prstGeom prst="rect">
            <a:avLst/>
          </a:prstGeom>
          <a:noFill/>
        </p:spPr>
        <p:txBody>
          <a:bodyPr wrap="none" lIns="0" tIns="0" rIns="0" bIns="0" anchor="ctr">
            <a:spAutoFit/>
          </a:bodyPr>
          <a:lstStyle/>
          <a:p>
            <a:pPr algn="l">
              <a:spcBef>
                <a:spcPts val="0"/>
              </a:spcBef>
              <a:spcAft>
                <a:spcPts val="0"/>
              </a:spcAft>
            </a:pPr>
            <a:r>
              <a:rPr sz="1200" b="0">
                <a:solidFill>
                  <a:srgbClr val="5B6871"/>
                </a:solidFill>
                <a:latin typeface="Arial"/>
              </a:rPr>
              <a:t>API, validation et logique métier</a:t>
            </a:r>
          </a:p>
        </p:txBody>
      </p:sp>
      <p:sp>
        <p:nvSpPr>
          <p:cNvPr id="37" name="Rounded Rectangle 36"/>
          <p:cNvSpPr/>
          <p:nvPr/>
        </p:nvSpPr>
        <p:spPr>
          <a:xfrm>
            <a:off x="813816" y="3995928"/>
            <a:ext cx="5074920" cy="1783080"/>
          </a:xfrm>
          <a:prstGeom prst="roundRect">
            <a:avLst/>
          </a:prstGeom>
          <a:solidFill>
            <a:srgbClr val="F7F9F7"/>
          </a:solidFill>
          <a:ln w="12700">
            <a:solidFill>
              <a:srgbClr val="D7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779776" y="4197096"/>
            <a:ext cx="2743200" cy="219456"/>
          </a:xfrm>
          <a:prstGeom prst="rect">
            <a:avLst/>
          </a:prstGeom>
          <a:noFill/>
        </p:spPr>
        <p:txBody>
          <a:bodyPr wrap="none" lIns="0" tIns="0" rIns="0" bIns="0" anchor="ctr">
            <a:spAutoFit/>
          </a:bodyPr>
          <a:lstStyle/>
          <a:p>
            <a:pPr algn="l">
              <a:spcBef>
                <a:spcPts val="0"/>
              </a:spcBef>
              <a:spcAft>
                <a:spcPts val="0"/>
              </a:spcAft>
            </a:pPr>
            <a:r>
              <a:rPr sz="1000" b="1">
                <a:solidFill>
                  <a:srgbClr val="1F6F5E"/>
                </a:solidFill>
                <a:latin typeface="Arial"/>
              </a:rPr>
              <a:t>BASE DE DONNÉES</a:t>
            </a:r>
          </a:p>
        </p:txBody>
      </p:sp>
      <p:sp>
        <p:nvSpPr>
          <p:cNvPr id="39" name="TextBox 38"/>
          <p:cNvSpPr txBox="1"/>
          <p:nvPr/>
        </p:nvSpPr>
        <p:spPr>
          <a:xfrm>
            <a:off x="2779776" y="4471416"/>
            <a:ext cx="2788920" cy="393192"/>
          </a:xfrm>
          <a:prstGeom prst="rect">
            <a:avLst/>
          </a:prstGeom>
          <a:noFill/>
        </p:spPr>
        <p:txBody>
          <a:bodyPr wrap="none" lIns="0" tIns="0" rIns="0" bIns="0" anchor="ctr">
            <a:spAutoFit/>
          </a:bodyPr>
          <a:lstStyle/>
          <a:p>
            <a:pPr algn="l">
              <a:spcBef>
                <a:spcPts val="0"/>
              </a:spcBef>
              <a:spcAft>
                <a:spcPts val="0"/>
              </a:spcAft>
            </a:pPr>
            <a:r>
              <a:rPr sz="1800" b="1">
                <a:solidFill>
                  <a:srgbClr val="1A2630"/>
                </a:solidFill>
                <a:latin typeface="Arial"/>
              </a:rPr>
              <a:t>SQLite</a:t>
            </a:r>
          </a:p>
        </p:txBody>
      </p:sp>
      <p:sp>
        <p:nvSpPr>
          <p:cNvPr id="40" name="TextBox 39"/>
          <p:cNvSpPr txBox="1"/>
          <p:nvPr/>
        </p:nvSpPr>
        <p:spPr>
          <a:xfrm>
            <a:off x="2779776" y="4983480"/>
            <a:ext cx="2788920" cy="438912"/>
          </a:xfrm>
          <a:prstGeom prst="rect">
            <a:avLst/>
          </a:prstGeom>
          <a:noFill/>
        </p:spPr>
        <p:txBody>
          <a:bodyPr wrap="none" lIns="0" tIns="0" rIns="0" bIns="0" anchor="ctr">
            <a:spAutoFit/>
          </a:bodyPr>
          <a:lstStyle/>
          <a:p>
            <a:pPr algn="l">
              <a:spcBef>
                <a:spcPts val="0"/>
              </a:spcBef>
              <a:spcAft>
                <a:spcPts val="0"/>
              </a:spcAft>
            </a:pPr>
            <a:r>
              <a:rPr sz="1200" b="0">
                <a:solidFill>
                  <a:srgbClr val="5B6871"/>
                </a:solidFill>
                <a:latin typeface="Arial"/>
              </a:rPr>
              <a:t>Stockage des factures et de leurs relations</a:t>
            </a:r>
          </a:p>
        </p:txBody>
      </p:sp>
      <p:sp>
        <p:nvSpPr>
          <p:cNvPr id="41" name="Rounded Rectangle 40"/>
          <p:cNvSpPr/>
          <p:nvPr/>
        </p:nvSpPr>
        <p:spPr>
          <a:xfrm>
            <a:off x="6208776" y="3995928"/>
            <a:ext cx="5074920" cy="1783080"/>
          </a:xfrm>
          <a:prstGeom prst="roundRect">
            <a:avLst/>
          </a:prstGeom>
          <a:solidFill>
            <a:srgbClr val="F7F9F7"/>
          </a:solidFill>
          <a:ln w="12700">
            <a:solidFill>
              <a:srgbClr val="D7DE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74736" y="4197096"/>
            <a:ext cx="2743200" cy="219456"/>
          </a:xfrm>
          <a:prstGeom prst="rect">
            <a:avLst/>
          </a:prstGeom>
          <a:noFill/>
        </p:spPr>
        <p:txBody>
          <a:bodyPr wrap="none" lIns="0" tIns="0" rIns="0" bIns="0" anchor="ctr">
            <a:spAutoFit/>
          </a:bodyPr>
          <a:lstStyle/>
          <a:p>
            <a:pPr algn="l">
              <a:spcBef>
                <a:spcPts val="0"/>
              </a:spcBef>
              <a:spcAft>
                <a:spcPts val="0"/>
              </a:spcAft>
            </a:pPr>
            <a:r>
              <a:rPr sz="1000" b="1">
                <a:solidFill>
                  <a:srgbClr val="1F6F5E"/>
                </a:solidFill>
                <a:latin typeface="Arial"/>
              </a:rPr>
              <a:t>FORMATS ET VALIDATION</a:t>
            </a:r>
          </a:p>
        </p:txBody>
      </p:sp>
      <p:sp>
        <p:nvSpPr>
          <p:cNvPr id="43" name="TextBox 42"/>
          <p:cNvSpPr txBox="1"/>
          <p:nvPr/>
        </p:nvSpPr>
        <p:spPr>
          <a:xfrm>
            <a:off x="8174736" y="4471416"/>
            <a:ext cx="2788920" cy="393192"/>
          </a:xfrm>
          <a:prstGeom prst="rect">
            <a:avLst/>
          </a:prstGeom>
          <a:noFill/>
        </p:spPr>
        <p:txBody>
          <a:bodyPr wrap="none" lIns="0" tIns="0" rIns="0" bIns="0" anchor="ctr">
            <a:spAutoFit/>
          </a:bodyPr>
          <a:lstStyle/>
          <a:p>
            <a:pPr algn="l">
              <a:spcBef>
                <a:spcPts val="0"/>
              </a:spcBef>
              <a:spcAft>
                <a:spcPts val="0"/>
              </a:spcAft>
            </a:pPr>
            <a:r>
              <a:rPr sz="1800" b="1">
                <a:solidFill>
                  <a:srgbClr val="1A2630"/>
                </a:solidFill>
                <a:latin typeface="Arial"/>
              </a:rPr>
              <a:t>JSON · XML</a:t>
            </a:r>
          </a:p>
        </p:txBody>
      </p:sp>
      <p:sp>
        <p:nvSpPr>
          <p:cNvPr id="44" name="TextBox 43"/>
          <p:cNvSpPr txBox="1"/>
          <p:nvPr/>
        </p:nvSpPr>
        <p:spPr>
          <a:xfrm>
            <a:off x="8174736" y="4983480"/>
            <a:ext cx="2788920" cy="438912"/>
          </a:xfrm>
          <a:prstGeom prst="rect">
            <a:avLst/>
          </a:prstGeom>
          <a:noFill/>
        </p:spPr>
        <p:txBody>
          <a:bodyPr wrap="none" lIns="0" tIns="0" rIns="0" bIns="0" anchor="ctr">
            <a:spAutoFit/>
          </a:bodyPr>
          <a:lstStyle/>
          <a:p>
            <a:pPr algn="l">
              <a:spcBef>
                <a:spcPts val="0"/>
              </a:spcBef>
              <a:spcAft>
                <a:spcPts val="0"/>
              </a:spcAft>
            </a:pPr>
            <a:r>
              <a:rPr sz="1200" b="0">
                <a:solidFill>
                  <a:srgbClr val="5B6871"/>
                </a:solidFill>
                <a:latin typeface="Arial"/>
              </a:rPr>
              <a:t>JSON Schema, XSD et transformation XSLT</a:t>
            </a:r>
          </a:p>
        </p:txBody>
      </p:sp>
      <p:pic>
        <p:nvPicPr>
          <p:cNvPr id="45" name="Picture 44" descr="image.png"/>
          <p:cNvPicPr>
            <a:picLocks noChangeAspect="1"/>
          </p:cNvPicPr>
          <p:nvPr/>
        </p:nvPicPr>
        <p:blipFill>
          <a:blip r:embed="rId3"/>
          <a:stretch>
            <a:fillRect/>
          </a:stretch>
        </p:blipFill>
        <p:spPr>
          <a:xfrm>
            <a:off x="1097280" y="2564891"/>
            <a:ext cx="502920" cy="502920"/>
          </a:xfrm>
          <a:prstGeom prst="rect">
            <a:avLst/>
          </a:prstGeom>
        </p:spPr>
      </p:pic>
      <p:pic>
        <p:nvPicPr>
          <p:cNvPr id="46" name="Picture 45" descr="image.png"/>
          <p:cNvPicPr>
            <a:picLocks noChangeAspect="1"/>
          </p:cNvPicPr>
          <p:nvPr/>
        </p:nvPicPr>
        <p:blipFill>
          <a:blip r:embed="rId4"/>
          <a:stretch>
            <a:fillRect/>
          </a:stretch>
        </p:blipFill>
        <p:spPr>
          <a:xfrm>
            <a:off x="1728216" y="2461290"/>
            <a:ext cx="502920" cy="710123"/>
          </a:xfrm>
          <a:prstGeom prst="rect">
            <a:avLst/>
          </a:prstGeom>
        </p:spPr>
      </p:pic>
      <p:pic>
        <p:nvPicPr>
          <p:cNvPr id="47" name="Picture 46" descr="image.png"/>
          <p:cNvPicPr>
            <a:picLocks noChangeAspect="1"/>
          </p:cNvPicPr>
          <p:nvPr/>
        </p:nvPicPr>
        <p:blipFill>
          <a:blip r:embed="rId5"/>
          <a:stretch>
            <a:fillRect/>
          </a:stretch>
        </p:blipFill>
        <p:spPr>
          <a:xfrm>
            <a:off x="2002536" y="2926080"/>
            <a:ext cx="603504" cy="603504"/>
          </a:xfrm>
          <a:prstGeom prst="rect">
            <a:avLst/>
          </a:prstGeom>
        </p:spPr>
      </p:pic>
      <p:pic>
        <p:nvPicPr>
          <p:cNvPr id="48" name="Picture 47" descr="image.png"/>
          <p:cNvPicPr>
            <a:picLocks noChangeAspect="1"/>
          </p:cNvPicPr>
          <p:nvPr/>
        </p:nvPicPr>
        <p:blipFill>
          <a:blip r:embed="rId6"/>
          <a:stretch>
            <a:fillRect/>
          </a:stretch>
        </p:blipFill>
        <p:spPr>
          <a:xfrm>
            <a:off x="6611112" y="2331720"/>
            <a:ext cx="1097280" cy="1097280"/>
          </a:xfrm>
          <a:prstGeom prst="rect">
            <a:avLst/>
          </a:prstGeom>
        </p:spPr>
      </p:pic>
      <p:pic>
        <p:nvPicPr>
          <p:cNvPr id="49" name="Picture 48" descr="image.png"/>
          <p:cNvPicPr>
            <a:picLocks noChangeAspect="1"/>
          </p:cNvPicPr>
          <p:nvPr/>
        </p:nvPicPr>
        <p:blipFill>
          <a:blip r:embed="rId7"/>
          <a:stretch>
            <a:fillRect/>
          </a:stretch>
        </p:blipFill>
        <p:spPr>
          <a:xfrm>
            <a:off x="1113357" y="4471416"/>
            <a:ext cx="1463040" cy="692658"/>
          </a:xfrm>
          <a:prstGeom prst="rect">
            <a:avLst/>
          </a:prstGeom>
        </p:spPr>
      </p:pic>
      <p:pic>
        <p:nvPicPr>
          <p:cNvPr id="50" name="Picture 49" descr="image.png"/>
          <p:cNvPicPr>
            <a:picLocks noChangeAspect="1"/>
          </p:cNvPicPr>
          <p:nvPr/>
        </p:nvPicPr>
        <p:blipFill>
          <a:blip r:embed="rId8"/>
          <a:stretch>
            <a:fillRect/>
          </a:stretch>
        </p:blipFill>
        <p:spPr>
          <a:xfrm>
            <a:off x="6675120" y="4489704"/>
            <a:ext cx="804672" cy="804672"/>
          </a:xfrm>
          <a:prstGeom prst="rect">
            <a:avLst/>
          </a:prstGeom>
        </p:spPr>
      </p:pic>
      <p:pic>
        <p:nvPicPr>
          <p:cNvPr id="51" name="Picture 50" descr="image.png"/>
          <p:cNvPicPr>
            <a:picLocks noChangeAspect="1"/>
          </p:cNvPicPr>
          <p:nvPr/>
        </p:nvPicPr>
        <p:blipFill>
          <a:blip r:embed="rId9"/>
          <a:stretch>
            <a:fillRect/>
          </a:stretch>
        </p:blipFill>
        <p:spPr>
          <a:xfrm>
            <a:off x="7132320" y="4315968"/>
            <a:ext cx="804672" cy="8046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7" name="Rounded Rectangle 52">
            <a:extLst>
              <a:ext uri="{FF2B5EF4-FFF2-40B4-BE49-F238E27FC236}">
                <a16:creationId xmlns:a16="http://schemas.microsoft.com/office/drawing/2014/main" id="{5C79C896-C4A7-3C5C-7D24-37977665F191}"/>
              </a:ext>
            </a:extLst>
          </p:cNvPr>
          <p:cNvSpPr/>
          <p:nvPr/>
        </p:nvSpPr>
        <p:spPr>
          <a:xfrm>
            <a:off x="2057400" y="5440680"/>
            <a:ext cx="8092440" cy="502920"/>
          </a:xfrm>
          <a:prstGeom prst="roundRect">
            <a:avLst/>
          </a:prstGeom>
          <a:solidFill>
            <a:srgbClr val="F1F7F4"/>
          </a:solidFill>
          <a:ln w="12700">
            <a:solidFill>
              <a:srgbClr val="CFDA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lide Number Placeholder 0"/>
          <p:cNvSpPr>
            <a:spLocks noGrp="1"/>
          </p:cNvSpPr>
          <p:nvPr>
            <p:ph type="sldNum" sz="quarter" idx="4294967295"/>
          </p:nvPr>
        </p:nvSpPr>
        <p:spPr>
          <a:xfrm>
            <a:off x="10735056" y="6236208"/>
            <a:ext cx="640080" cy="237744"/>
          </a:xfrm>
          <a:prstGeom prst="rect">
            <a:avLst/>
          </a:prstGeom>
          <a:extLst>
            <a:ext uri="{C572A759-6A51-4108-AA02-DFA0A04FC94B}">
              <ma14:wrappingTextBoxFlag xmlns="" xmlns:ma14="http://schemas.microsoft.com/office/mac/drawingml/2011/main" val="0"/>
            </a:ext>
          </a:extLst>
        </p:spPr>
        <p:txBody>
          <a:bodyPr lIns="0" tIns="0" rIns="0" bIns="0"/>
          <a:lstStyle>
            <a:lvl1pPr>
              <a:defRPr sz="1200">
                <a:solidFill>
                  <a:srgbClr val="7A848C"/>
                </a:solidFill>
                <a:latin typeface="Arial"/>
                <a:ea typeface="Arial"/>
                <a:cs typeface="Arial"/>
              </a:defRPr>
            </a:lvl1pPr>
          </a:lstStyle>
          <a:p>
            <a:pPr algn="r"/>
            <a:fld id="{F7021451-1387-4CA6-816F-3879F97B5CBC}" type="slidenum">
              <a:rPr lang="en-US" b="0"/>
              <a:t>5</a:t>
            </a:fld>
            <a:endParaRPr lang="en-US"/>
          </a:p>
        </p:txBody>
      </p:sp>
      <p:sp>
        <p:nvSpPr>
          <p:cNvPr id="26" name="TextBox 25"/>
          <p:cNvSpPr txBox="1"/>
          <p:nvPr/>
        </p:nvSpPr>
        <p:spPr>
          <a:xfrm>
            <a:off x="822960" y="656082"/>
            <a:ext cx="10561320" cy="237744"/>
          </a:xfrm>
          <a:prstGeom prst="rect">
            <a:avLst/>
          </a:prstGeom>
          <a:noFill/>
        </p:spPr>
        <p:txBody>
          <a:bodyPr wrap="none" lIns="0" tIns="0" rIns="0" bIns="0" anchor="ctr">
            <a:spAutoFit/>
          </a:bodyPr>
          <a:lstStyle/>
          <a:p>
            <a:pPr algn="l">
              <a:spcBef>
                <a:spcPts val="0"/>
              </a:spcBef>
              <a:spcAft>
                <a:spcPts val="0"/>
              </a:spcAft>
            </a:pPr>
            <a:r>
              <a:rPr sz="1200" b="1" dirty="0">
                <a:solidFill>
                  <a:srgbClr val="1F6F5E"/>
                </a:solidFill>
                <a:latin typeface="Arial"/>
              </a:rPr>
              <a:t>FORMULAIRE → JSON → SQLITE</a:t>
            </a:r>
          </a:p>
        </p:txBody>
      </p:sp>
      <p:sp>
        <p:nvSpPr>
          <p:cNvPr id="27" name="TextBox 26"/>
          <p:cNvSpPr txBox="1"/>
          <p:nvPr/>
        </p:nvSpPr>
        <p:spPr>
          <a:xfrm>
            <a:off x="822960" y="973836"/>
            <a:ext cx="10561320" cy="594360"/>
          </a:xfrm>
          <a:prstGeom prst="rect">
            <a:avLst/>
          </a:prstGeom>
          <a:noFill/>
        </p:spPr>
        <p:txBody>
          <a:bodyPr wrap="none" lIns="0" tIns="0" rIns="0" bIns="0" anchor="ctr">
            <a:spAutoFit/>
          </a:bodyPr>
          <a:lstStyle/>
          <a:p>
            <a:pPr algn="l">
              <a:spcBef>
                <a:spcPts val="0"/>
              </a:spcBef>
              <a:spcAft>
                <a:spcPts val="0"/>
              </a:spcAft>
            </a:pPr>
            <a:r>
              <a:rPr sz="3600" b="1" dirty="0" err="1">
                <a:solidFill>
                  <a:srgbClr val="1A2630"/>
                </a:solidFill>
                <a:latin typeface="Arial"/>
              </a:rPr>
              <a:t>Créer</a:t>
            </a:r>
            <a:r>
              <a:rPr sz="3600" b="1" dirty="0">
                <a:solidFill>
                  <a:srgbClr val="1A2630"/>
                </a:solidFill>
                <a:latin typeface="Arial"/>
              </a:rPr>
              <a:t> et </a:t>
            </a:r>
            <a:r>
              <a:rPr sz="3600" b="1" dirty="0" err="1">
                <a:solidFill>
                  <a:srgbClr val="1A2630"/>
                </a:solidFill>
                <a:latin typeface="Arial"/>
              </a:rPr>
              <a:t>contrôler</a:t>
            </a:r>
            <a:r>
              <a:rPr sz="3600" b="1" dirty="0">
                <a:solidFill>
                  <a:srgbClr val="1A2630"/>
                </a:solidFill>
                <a:latin typeface="Arial"/>
              </a:rPr>
              <a:t> </a:t>
            </a:r>
            <a:r>
              <a:rPr sz="3600" b="1" dirty="0" err="1">
                <a:solidFill>
                  <a:srgbClr val="1A2630"/>
                </a:solidFill>
                <a:latin typeface="Arial"/>
              </a:rPr>
              <a:t>une</a:t>
            </a:r>
            <a:r>
              <a:rPr sz="3600" b="1" dirty="0">
                <a:solidFill>
                  <a:srgbClr val="1A2630"/>
                </a:solidFill>
                <a:latin typeface="Arial"/>
              </a:rPr>
              <a:t> facture</a:t>
            </a:r>
          </a:p>
        </p:txBody>
      </p:sp>
      <p:sp>
        <p:nvSpPr>
          <p:cNvPr id="28" name="Rounded Rectangle 27"/>
          <p:cNvSpPr/>
          <p:nvPr/>
        </p:nvSpPr>
        <p:spPr>
          <a:xfrm>
            <a:off x="2057400" y="1822695"/>
            <a:ext cx="8092440" cy="502920"/>
          </a:xfrm>
          <a:prstGeom prst="roundRect">
            <a:avLst/>
          </a:prstGeom>
          <a:solidFill>
            <a:srgbClr val="F1F7F4"/>
          </a:solidFill>
          <a:ln w="12700">
            <a:solidFill>
              <a:srgbClr val="CFDA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194560" y="1909563"/>
            <a:ext cx="329184" cy="329184"/>
          </a:xfrm>
          <a:prstGeom prst="ellipse">
            <a:avLst/>
          </a:prstGeom>
          <a:solidFill>
            <a:srgbClr val="1F6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194560" y="1909563"/>
            <a:ext cx="329184" cy="329184"/>
          </a:xfrm>
          <a:prstGeom prst="rect">
            <a:avLst/>
          </a:prstGeom>
          <a:noFill/>
        </p:spPr>
        <p:txBody>
          <a:bodyPr wrap="none" lIns="0" tIns="0" rIns="0" bIns="0" anchor="ctr">
            <a:spAutoFit/>
          </a:bodyPr>
          <a:lstStyle/>
          <a:p>
            <a:pPr algn="ctr">
              <a:spcBef>
                <a:spcPts val="0"/>
              </a:spcBef>
              <a:spcAft>
                <a:spcPts val="0"/>
              </a:spcAft>
            </a:pPr>
            <a:r>
              <a:rPr sz="1100" b="1">
                <a:solidFill>
                  <a:srgbClr val="FFFFFF"/>
                </a:solidFill>
                <a:latin typeface="Arial"/>
              </a:rPr>
              <a:t>1</a:t>
            </a:r>
          </a:p>
        </p:txBody>
      </p:sp>
      <p:sp>
        <p:nvSpPr>
          <p:cNvPr id="31" name="TextBox 30"/>
          <p:cNvSpPr txBox="1"/>
          <p:nvPr/>
        </p:nvSpPr>
        <p:spPr>
          <a:xfrm>
            <a:off x="2679192" y="1818736"/>
            <a:ext cx="2788920" cy="475488"/>
          </a:xfrm>
          <a:prstGeom prst="rect">
            <a:avLst/>
          </a:prstGeom>
          <a:noFill/>
        </p:spPr>
        <p:txBody>
          <a:bodyPr wrap="none" lIns="0" tIns="0" rIns="0" bIns="0" anchor="ctr">
            <a:spAutoFit/>
          </a:bodyPr>
          <a:lstStyle/>
          <a:p>
            <a:pPr algn="l">
              <a:spcBef>
                <a:spcPts val="0"/>
              </a:spcBef>
              <a:spcAft>
                <a:spcPts val="0"/>
              </a:spcAft>
            </a:pPr>
            <a:r>
              <a:rPr sz="1700" b="1" dirty="0" err="1">
                <a:solidFill>
                  <a:srgbClr val="1A2630"/>
                </a:solidFill>
                <a:latin typeface="Arial"/>
              </a:rPr>
              <a:t>Formulaire</a:t>
            </a:r>
            <a:endParaRPr sz="1700" b="1" dirty="0">
              <a:solidFill>
                <a:srgbClr val="1A2630"/>
              </a:solidFill>
              <a:latin typeface="Arial"/>
            </a:endParaRPr>
          </a:p>
        </p:txBody>
      </p:sp>
      <p:sp>
        <p:nvSpPr>
          <p:cNvPr id="32" name="TextBox 31"/>
          <p:cNvSpPr txBox="1"/>
          <p:nvPr/>
        </p:nvSpPr>
        <p:spPr>
          <a:xfrm>
            <a:off x="5440680" y="1836411"/>
            <a:ext cx="4343400" cy="475488"/>
          </a:xfrm>
          <a:prstGeom prst="rect">
            <a:avLst/>
          </a:prstGeom>
          <a:noFill/>
        </p:spPr>
        <p:txBody>
          <a:bodyPr wrap="none" lIns="0" tIns="0" rIns="0" bIns="0" anchor="ctr">
            <a:spAutoFit/>
          </a:bodyPr>
          <a:lstStyle/>
          <a:p>
            <a:pPr algn="l">
              <a:spcBef>
                <a:spcPts val="0"/>
              </a:spcBef>
              <a:spcAft>
                <a:spcPts val="0"/>
              </a:spcAft>
            </a:pPr>
            <a:r>
              <a:rPr sz="1200" b="0">
                <a:solidFill>
                  <a:srgbClr val="5B6871"/>
                </a:solidFill>
                <a:latin typeface="Arial"/>
              </a:rPr>
              <a:t>Saisie des données de la facture</a:t>
            </a:r>
          </a:p>
        </p:txBody>
      </p:sp>
      <p:sp>
        <p:nvSpPr>
          <p:cNvPr id="34" name="Rounded Rectangle 33"/>
          <p:cNvSpPr/>
          <p:nvPr/>
        </p:nvSpPr>
        <p:spPr>
          <a:xfrm>
            <a:off x="2057400" y="2551176"/>
            <a:ext cx="8092440" cy="502920"/>
          </a:xfrm>
          <a:prstGeom prst="roundRect">
            <a:avLst/>
          </a:prstGeom>
          <a:solidFill>
            <a:srgbClr val="FFFFFF"/>
          </a:solidFill>
          <a:ln w="12700">
            <a:solidFill>
              <a:srgbClr val="CFDA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194560" y="2638044"/>
            <a:ext cx="329184" cy="329184"/>
          </a:xfrm>
          <a:prstGeom prst="ellipse">
            <a:avLst/>
          </a:prstGeom>
          <a:solidFill>
            <a:srgbClr val="1F6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194560" y="2638044"/>
            <a:ext cx="329184" cy="329184"/>
          </a:xfrm>
          <a:prstGeom prst="rect">
            <a:avLst/>
          </a:prstGeom>
          <a:noFill/>
        </p:spPr>
        <p:txBody>
          <a:bodyPr wrap="none" lIns="0" tIns="0" rIns="0" bIns="0" anchor="ctr">
            <a:spAutoFit/>
          </a:bodyPr>
          <a:lstStyle/>
          <a:p>
            <a:pPr algn="ctr">
              <a:spcBef>
                <a:spcPts val="0"/>
              </a:spcBef>
              <a:spcAft>
                <a:spcPts val="0"/>
              </a:spcAft>
            </a:pPr>
            <a:r>
              <a:rPr sz="1100" b="1">
                <a:solidFill>
                  <a:srgbClr val="FFFFFF"/>
                </a:solidFill>
                <a:latin typeface="Arial"/>
              </a:rPr>
              <a:t>2</a:t>
            </a:r>
          </a:p>
        </p:txBody>
      </p:sp>
      <p:sp>
        <p:nvSpPr>
          <p:cNvPr id="37" name="TextBox 36"/>
          <p:cNvSpPr txBox="1"/>
          <p:nvPr/>
        </p:nvSpPr>
        <p:spPr>
          <a:xfrm>
            <a:off x="2679192" y="2564892"/>
            <a:ext cx="2788920" cy="475488"/>
          </a:xfrm>
          <a:prstGeom prst="rect">
            <a:avLst/>
          </a:prstGeom>
          <a:noFill/>
        </p:spPr>
        <p:txBody>
          <a:bodyPr wrap="none" lIns="0" tIns="0" rIns="0" bIns="0" anchor="ctr">
            <a:spAutoFit/>
          </a:bodyPr>
          <a:lstStyle/>
          <a:p>
            <a:pPr algn="l">
              <a:spcBef>
                <a:spcPts val="0"/>
              </a:spcBef>
              <a:spcAft>
                <a:spcPts val="0"/>
              </a:spcAft>
            </a:pPr>
            <a:r>
              <a:rPr sz="1700" b="1" dirty="0" err="1">
                <a:solidFill>
                  <a:srgbClr val="1A2630"/>
                </a:solidFill>
                <a:latin typeface="Arial"/>
              </a:rPr>
              <a:t>Objet</a:t>
            </a:r>
            <a:r>
              <a:rPr sz="1700" b="1" dirty="0">
                <a:solidFill>
                  <a:srgbClr val="1A2630"/>
                </a:solidFill>
                <a:latin typeface="Arial"/>
              </a:rPr>
              <a:t> JavaScript</a:t>
            </a:r>
          </a:p>
        </p:txBody>
      </p:sp>
      <p:sp>
        <p:nvSpPr>
          <p:cNvPr id="38" name="TextBox 37"/>
          <p:cNvSpPr txBox="1"/>
          <p:nvPr/>
        </p:nvSpPr>
        <p:spPr>
          <a:xfrm>
            <a:off x="5440680" y="2710303"/>
            <a:ext cx="2696957" cy="184666"/>
          </a:xfrm>
          <a:prstGeom prst="rect">
            <a:avLst/>
          </a:prstGeom>
          <a:noFill/>
        </p:spPr>
        <p:txBody>
          <a:bodyPr wrap="none" lIns="0" tIns="0" rIns="0" bIns="0" anchor="ctr">
            <a:spAutoFit/>
          </a:bodyPr>
          <a:lstStyle/>
          <a:p>
            <a:pPr algn="l">
              <a:spcBef>
                <a:spcPts val="0"/>
              </a:spcBef>
              <a:spcAft>
                <a:spcPts val="0"/>
              </a:spcAft>
            </a:pPr>
            <a:r>
              <a:rPr lang="fr-FR" sz="1200" dirty="0">
                <a:solidFill>
                  <a:srgbClr val="5B6871"/>
                </a:solidFill>
                <a:latin typeface="Arial"/>
              </a:rPr>
              <a:t>Transformation des donné en objet </a:t>
            </a:r>
            <a:r>
              <a:rPr lang="fr-FR" sz="1200" dirty="0" err="1">
                <a:solidFill>
                  <a:srgbClr val="5B6871"/>
                </a:solidFill>
                <a:latin typeface="Arial"/>
              </a:rPr>
              <a:t>json</a:t>
            </a:r>
            <a:endParaRPr sz="1200" b="0" dirty="0">
              <a:solidFill>
                <a:srgbClr val="5B6871"/>
              </a:solidFill>
              <a:latin typeface="Arial"/>
            </a:endParaRPr>
          </a:p>
        </p:txBody>
      </p:sp>
      <p:sp>
        <p:nvSpPr>
          <p:cNvPr id="40" name="TextBox 39"/>
          <p:cNvSpPr txBox="1"/>
          <p:nvPr/>
        </p:nvSpPr>
        <p:spPr>
          <a:xfrm>
            <a:off x="8321040" y="2721299"/>
            <a:ext cx="1056042" cy="153888"/>
          </a:xfrm>
          <a:prstGeom prst="rect">
            <a:avLst/>
          </a:prstGeom>
          <a:noFill/>
        </p:spPr>
        <p:txBody>
          <a:bodyPr wrap="square" lIns="0" tIns="0" rIns="0" bIns="0" anchor="ctr">
            <a:spAutoFit/>
          </a:bodyPr>
          <a:lstStyle/>
          <a:p>
            <a:pPr algn="l">
              <a:spcBef>
                <a:spcPts val="0"/>
              </a:spcBef>
              <a:spcAft>
                <a:spcPts val="0"/>
              </a:spcAft>
            </a:pPr>
            <a:r>
              <a:rPr sz="1000" b="1" dirty="0" err="1">
                <a:solidFill>
                  <a:srgbClr val="1F6F5E"/>
                </a:solidFill>
                <a:latin typeface="Arial"/>
              </a:rPr>
              <a:t>JSON.stringify</a:t>
            </a:r>
            <a:r>
              <a:rPr sz="1000" b="1" dirty="0">
                <a:solidFill>
                  <a:srgbClr val="1F6F5E"/>
                </a:solidFill>
                <a:latin typeface="Arial"/>
              </a:rPr>
              <a:t>()</a:t>
            </a:r>
          </a:p>
        </p:txBody>
      </p:sp>
      <p:sp>
        <p:nvSpPr>
          <p:cNvPr id="41" name="Rounded Rectangle 40"/>
          <p:cNvSpPr/>
          <p:nvPr/>
        </p:nvSpPr>
        <p:spPr>
          <a:xfrm>
            <a:off x="2057400" y="3273552"/>
            <a:ext cx="8092440" cy="502920"/>
          </a:xfrm>
          <a:prstGeom prst="roundRect">
            <a:avLst/>
          </a:prstGeom>
          <a:solidFill>
            <a:srgbClr val="F1F7F4"/>
          </a:solidFill>
          <a:ln w="12700">
            <a:solidFill>
              <a:srgbClr val="CFDA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2194560" y="3360420"/>
            <a:ext cx="329184" cy="329184"/>
          </a:xfrm>
          <a:prstGeom prst="ellipse">
            <a:avLst/>
          </a:prstGeom>
          <a:solidFill>
            <a:srgbClr val="1F6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194560" y="3360420"/>
            <a:ext cx="329184" cy="329184"/>
          </a:xfrm>
          <a:prstGeom prst="rect">
            <a:avLst/>
          </a:prstGeom>
          <a:noFill/>
        </p:spPr>
        <p:txBody>
          <a:bodyPr wrap="none" lIns="0" tIns="0" rIns="0" bIns="0" anchor="ctr">
            <a:spAutoFit/>
          </a:bodyPr>
          <a:lstStyle/>
          <a:p>
            <a:pPr algn="ctr">
              <a:spcBef>
                <a:spcPts val="0"/>
              </a:spcBef>
              <a:spcAft>
                <a:spcPts val="0"/>
              </a:spcAft>
            </a:pPr>
            <a:r>
              <a:rPr sz="1100" b="1">
                <a:solidFill>
                  <a:srgbClr val="FFFFFF"/>
                </a:solidFill>
                <a:latin typeface="Arial"/>
              </a:rPr>
              <a:t>3</a:t>
            </a:r>
          </a:p>
        </p:txBody>
      </p:sp>
      <p:sp>
        <p:nvSpPr>
          <p:cNvPr id="44" name="TextBox 43"/>
          <p:cNvSpPr txBox="1"/>
          <p:nvPr/>
        </p:nvSpPr>
        <p:spPr>
          <a:xfrm>
            <a:off x="2679192" y="3287268"/>
            <a:ext cx="2788920" cy="475488"/>
          </a:xfrm>
          <a:prstGeom prst="rect">
            <a:avLst/>
          </a:prstGeom>
          <a:noFill/>
        </p:spPr>
        <p:txBody>
          <a:bodyPr wrap="none" lIns="0" tIns="0" rIns="0" bIns="0" anchor="ctr">
            <a:spAutoFit/>
          </a:bodyPr>
          <a:lstStyle/>
          <a:p>
            <a:pPr algn="l">
              <a:spcBef>
                <a:spcPts val="0"/>
              </a:spcBef>
              <a:spcAft>
                <a:spcPts val="0"/>
              </a:spcAft>
            </a:pPr>
            <a:r>
              <a:rPr sz="1700" b="1">
                <a:solidFill>
                  <a:srgbClr val="1A2630"/>
                </a:solidFill>
                <a:latin typeface="Arial"/>
              </a:rPr>
              <a:t>JSON envoyé à Flask</a:t>
            </a:r>
          </a:p>
        </p:txBody>
      </p:sp>
      <p:sp>
        <p:nvSpPr>
          <p:cNvPr id="45" name="TextBox 44"/>
          <p:cNvSpPr txBox="1"/>
          <p:nvPr/>
        </p:nvSpPr>
        <p:spPr>
          <a:xfrm>
            <a:off x="5440680" y="3287268"/>
            <a:ext cx="4343400" cy="475488"/>
          </a:xfrm>
          <a:prstGeom prst="rect">
            <a:avLst/>
          </a:prstGeom>
          <a:noFill/>
        </p:spPr>
        <p:txBody>
          <a:bodyPr wrap="none" lIns="0" tIns="0" rIns="0" bIns="0" anchor="ctr">
            <a:spAutoFit/>
          </a:bodyPr>
          <a:lstStyle/>
          <a:p>
            <a:pPr algn="l">
              <a:spcBef>
                <a:spcPts val="0"/>
              </a:spcBef>
              <a:spcAft>
                <a:spcPts val="0"/>
              </a:spcAft>
            </a:pPr>
            <a:r>
              <a:rPr sz="1200" b="0">
                <a:solidFill>
                  <a:srgbClr val="5B6871"/>
                </a:solidFill>
                <a:latin typeface="Arial"/>
              </a:rPr>
              <a:t>Envoi au serveur avec une requête POST</a:t>
            </a:r>
          </a:p>
        </p:txBody>
      </p:sp>
      <p:sp>
        <p:nvSpPr>
          <p:cNvPr id="47" name="Rounded Rectangle 46"/>
          <p:cNvSpPr/>
          <p:nvPr/>
        </p:nvSpPr>
        <p:spPr>
          <a:xfrm>
            <a:off x="2057400" y="3995928"/>
            <a:ext cx="8092440" cy="502920"/>
          </a:xfrm>
          <a:prstGeom prst="roundRect">
            <a:avLst/>
          </a:prstGeom>
          <a:solidFill>
            <a:srgbClr val="FFFFFF"/>
          </a:solidFill>
          <a:ln w="12700">
            <a:solidFill>
              <a:srgbClr val="CFDA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2194560" y="4082796"/>
            <a:ext cx="329184" cy="329184"/>
          </a:xfrm>
          <a:prstGeom prst="ellipse">
            <a:avLst/>
          </a:prstGeom>
          <a:solidFill>
            <a:srgbClr val="1F6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194560" y="4082796"/>
            <a:ext cx="329184" cy="329184"/>
          </a:xfrm>
          <a:prstGeom prst="rect">
            <a:avLst/>
          </a:prstGeom>
          <a:noFill/>
        </p:spPr>
        <p:txBody>
          <a:bodyPr wrap="none" lIns="0" tIns="0" rIns="0" bIns="0" anchor="ctr">
            <a:spAutoFit/>
          </a:bodyPr>
          <a:lstStyle/>
          <a:p>
            <a:pPr algn="ctr">
              <a:spcBef>
                <a:spcPts val="0"/>
              </a:spcBef>
              <a:spcAft>
                <a:spcPts val="0"/>
              </a:spcAft>
            </a:pPr>
            <a:r>
              <a:rPr sz="1100" b="1" dirty="0">
                <a:solidFill>
                  <a:srgbClr val="FFFFFF"/>
                </a:solidFill>
                <a:latin typeface="Arial"/>
              </a:rPr>
              <a:t>4</a:t>
            </a:r>
          </a:p>
        </p:txBody>
      </p:sp>
      <p:sp>
        <p:nvSpPr>
          <p:cNvPr id="50" name="TextBox 49"/>
          <p:cNvSpPr txBox="1"/>
          <p:nvPr/>
        </p:nvSpPr>
        <p:spPr>
          <a:xfrm>
            <a:off x="2679192" y="4009644"/>
            <a:ext cx="2788920" cy="475488"/>
          </a:xfrm>
          <a:prstGeom prst="rect">
            <a:avLst/>
          </a:prstGeom>
          <a:noFill/>
        </p:spPr>
        <p:txBody>
          <a:bodyPr wrap="none" lIns="0" tIns="0" rIns="0" bIns="0" anchor="ctr">
            <a:spAutoFit/>
          </a:bodyPr>
          <a:lstStyle/>
          <a:p>
            <a:pPr algn="l">
              <a:spcBef>
                <a:spcPts val="0"/>
              </a:spcBef>
              <a:spcAft>
                <a:spcPts val="0"/>
              </a:spcAft>
            </a:pPr>
            <a:r>
              <a:rPr sz="1700" b="1">
                <a:solidFill>
                  <a:srgbClr val="1A2630"/>
                </a:solidFill>
                <a:latin typeface="Arial"/>
              </a:rPr>
              <a:t>Validation JSON Schema</a:t>
            </a:r>
          </a:p>
        </p:txBody>
      </p:sp>
      <p:sp>
        <p:nvSpPr>
          <p:cNvPr id="51" name="TextBox 50"/>
          <p:cNvSpPr txBox="1"/>
          <p:nvPr/>
        </p:nvSpPr>
        <p:spPr>
          <a:xfrm>
            <a:off x="5440680" y="4009644"/>
            <a:ext cx="4343400" cy="475488"/>
          </a:xfrm>
          <a:prstGeom prst="rect">
            <a:avLst/>
          </a:prstGeom>
          <a:noFill/>
        </p:spPr>
        <p:txBody>
          <a:bodyPr wrap="none" lIns="0" tIns="0" rIns="0" bIns="0" anchor="ctr">
            <a:spAutoFit/>
          </a:bodyPr>
          <a:lstStyle/>
          <a:p>
            <a:pPr algn="l">
              <a:spcBef>
                <a:spcPts val="0"/>
              </a:spcBef>
              <a:spcAft>
                <a:spcPts val="0"/>
              </a:spcAft>
            </a:pPr>
            <a:r>
              <a:rPr sz="1200" b="0">
                <a:solidFill>
                  <a:srgbClr val="5B6871"/>
                </a:solidFill>
                <a:latin typeface="Arial"/>
              </a:rPr>
              <a:t>Structure, types et champs obligatoires</a:t>
            </a:r>
          </a:p>
        </p:txBody>
      </p:sp>
      <p:sp>
        <p:nvSpPr>
          <p:cNvPr id="53" name="Rounded Rectangle 52"/>
          <p:cNvSpPr/>
          <p:nvPr/>
        </p:nvSpPr>
        <p:spPr>
          <a:xfrm>
            <a:off x="2057400" y="4718304"/>
            <a:ext cx="8092440" cy="502920"/>
          </a:xfrm>
          <a:prstGeom prst="roundRect">
            <a:avLst/>
          </a:prstGeom>
          <a:solidFill>
            <a:srgbClr val="F1F7F4"/>
          </a:solidFill>
          <a:ln w="12700">
            <a:solidFill>
              <a:srgbClr val="CFDA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194560" y="4805172"/>
            <a:ext cx="329184" cy="329184"/>
          </a:xfrm>
          <a:prstGeom prst="ellipse">
            <a:avLst/>
          </a:prstGeom>
          <a:solidFill>
            <a:srgbClr val="1F6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194560" y="4805172"/>
            <a:ext cx="329184" cy="329184"/>
          </a:xfrm>
          <a:prstGeom prst="rect">
            <a:avLst/>
          </a:prstGeom>
          <a:noFill/>
        </p:spPr>
        <p:txBody>
          <a:bodyPr wrap="none" lIns="0" tIns="0" rIns="0" bIns="0" anchor="ctr">
            <a:spAutoFit/>
          </a:bodyPr>
          <a:lstStyle/>
          <a:p>
            <a:pPr algn="ctr">
              <a:spcBef>
                <a:spcPts val="0"/>
              </a:spcBef>
              <a:spcAft>
                <a:spcPts val="0"/>
              </a:spcAft>
            </a:pPr>
            <a:r>
              <a:rPr sz="1100" b="1">
                <a:solidFill>
                  <a:srgbClr val="FFFFFF"/>
                </a:solidFill>
                <a:latin typeface="Arial"/>
              </a:rPr>
              <a:t>5</a:t>
            </a:r>
          </a:p>
        </p:txBody>
      </p:sp>
      <p:sp>
        <p:nvSpPr>
          <p:cNvPr id="56" name="TextBox 55"/>
          <p:cNvSpPr txBox="1"/>
          <p:nvPr/>
        </p:nvSpPr>
        <p:spPr>
          <a:xfrm>
            <a:off x="2679192" y="4732020"/>
            <a:ext cx="2788920" cy="475488"/>
          </a:xfrm>
          <a:prstGeom prst="rect">
            <a:avLst/>
          </a:prstGeom>
          <a:noFill/>
        </p:spPr>
        <p:txBody>
          <a:bodyPr wrap="none" lIns="0" tIns="0" rIns="0" bIns="0" anchor="ctr">
            <a:spAutoFit/>
          </a:bodyPr>
          <a:lstStyle/>
          <a:p>
            <a:pPr algn="l">
              <a:spcBef>
                <a:spcPts val="0"/>
              </a:spcBef>
              <a:spcAft>
                <a:spcPts val="0"/>
              </a:spcAft>
            </a:pPr>
            <a:r>
              <a:rPr sz="1700" b="1">
                <a:solidFill>
                  <a:srgbClr val="1A2630"/>
                </a:solidFill>
                <a:latin typeface="Arial"/>
              </a:rPr>
              <a:t>Contrôles métier</a:t>
            </a:r>
          </a:p>
        </p:txBody>
      </p:sp>
      <p:sp>
        <p:nvSpPr>
          <p:cNvPr id="57" name="TextBox 56"/>
          <p:cNvSpPr txBox="1"/>
          <p:nvPr/>
        </p:nvSpPr>
        <p:spPr>
          <a:xfrm>
            <a:off x="5440680" y="4732020"/>
            <a:ext cx="4343400" cy="475488"/>
          </a:xfrm>
          <a:prstGeom prst="rect">
            <a:avLst/>
          </a:prstGeom>
          <a:noFill/>
        </p:spPr>
        <p:txBody>
          <a:bodyPr wrap="none" lIns="0" tIns="0" rIns="0" bIns="0" anchor="ctr">
            <a:spAutoFit/>
          </a:bodyPr>
          <a:lstStyle/>
          <a:p>
            <a:pPr algn="l">
              <a:spcBef>
                <a:spcPts val="0"/>
              </a:spcBef>
              <a:spcAft>
                <a:spcPts val="0"/>
              </a:spcAft>
            </a:pPr>
            <a:r>
              <a:rPr sz="1200" b="0">
                <a:solidFill>
                  <a:srgbClr val="5B6871"/>
                </a:solidFill>
                <a:latin typeface="Arial"/>
              </a:rPr>
              <a:t>Date, références des logements et total</a:t>
            </a:r>
          </a:p>
        </p:txBody>
      </p:sp>
      <p:sp>
        <p:nvSpPr>
          <p:cNvPr id="60" name="Oval 59"/>
          <p:cNvSpPr/>
          <p:nvPr/>
        </p:nvSpPr>
        <p:spPr>
          <a:xfrm>
            <a:off x="2194560" y="5527548"/>
            <a:ext cx="329184" cy="3291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679192" y="5561335"/>
            <a:ext cx="1990097" cy="261610"/>
          </a:xfrm>
          <a:prstGeom prst="rect">
            <a:avLst/>
          </a:prstGeom>
          <a:noFill/>
        </p:spPr>
        <p:txBody>
          <a:bodyPr wrap="none" lIns="0" tIns="0" rIns="0" bIns="0" anchor="ctr">
            <a:spAutoFit/>
          </a:bodyPr>
          <a:lstStyle/>
          <a:p>
            <a:pPr algn="l">
              <a:spcBef>
                <a:spcPts val="0"/>
              </a:spcBef>
              <a:spcAft>
                <a:spcPts val="0"/>
              </a:spcAft>
            </a:pPr>
            <a:r>
              <a:rPr sz="1700" b="1" dirty="0">
                <a:latin typeface="Arial"/>
              </a:rPr>
              <a:t>Transaction SQLite</a:t>
            </a:r>
          </a:p>
        </p:txBody>
      </p:sp>
      <p:sp>
        <p:nvSpPr>
          <p:cNvPr id="63" name="TextBox 62"/>
          <p:cNvSpPr txBox="1"/>
          <p:nvPr/>
        </p:nvSpPr>
        <p:spPr>
          <a:xfrm>
            <a:off x="5440680" y="5599807"/>
            <a:ext cx="3078343" cy="184666"/>
          </a:xfrm>
          <a:prstGeom prst="rect">
            <a:avLst/>
          </a:prstGeom>
          <a:noFill/>
        </p:spPr>
        <p:txBody>
          <a:bodyPr wrap="none" lIns="0" tIns="0" rIns="0" bIns="0" anchor="ctr">
            <a:spAutoFit/>
          </a:bodyPr>
          <a:lstStyle/>
          <a:p>
            <a:pPr algn="l">
              <a:spcBef>
                <a:spcPts val="0"/>
              </a:spcBef>
              <a:spcAft>
                <a:spcPts val="0"/>
              </a:spcAft>
            </a:pPr>
            <a:r>
              <a:rPr sz="1200" b="0" dirty="0" err="1">
                <a:solidFill>
                  <a:schemeClr val="tx1">
                    <a:lumMod val="65000"/>
                    <a:lumOff val="35000"/>
                  </a:schemeClr>
                </a:solidFill>
                <a:latin typeface="Arial"/>
              </a:rPr>
              <a:t>Toutes</a:t>
            </a:r>
            <a:r>
              <a:rPr sz="1200" b="0" dirty="0">
                <a:solidFill>
                  <a:schemeClr val="tx1">
                    <a:lumMod val="65000"/>
                    <a:lumOff val="35000"/>
                  </a:schemeClr>
                </a:solidFill>
                <a:latin typeface="Arial"/>
              </a:rPr>
              <a:t> les données </a:t>
            </a:r>
            <a:r>
              <a:rPr sz="1200" b="0" dirty="0" err="1">
                <a:solidFill>
                  <a:schemeClr val="tx1">
                    <a:lumMod val="65000"/>
                    <a:lumOff val="35000"/>
                  </a:schemeClr>
                </a:solidFill>
                <a:latin typeface="Arial"/>
              </a:rPr>
              <a:t>sont</a:t>
            </a:r>
            <a:r>
              <a:rPr sz="1200" b="0" dirty="0">
                <a:solidFill>
                  <a:schemeClr val="tx1">
                    <a:lumMod val="65000"/>
                    <a:lumOff val="35000"/>
                  </a:schemeClr>
                </a:solidFill>
                <a:latin typeface="Arial"/>
              </a:rPr>
              <a:t> </a:t>
            </a:r>
            <a:r>
              <a:rPr sz="1200" b="0" dirty="0" err="1">
                <a:solidFill>
                  <a:schemeClr val="tx1">
                    <a:lumMod val="65000"/>
                    <a:lumOff val="35000"/>
                  </a:schemeClr>
                </a:solidFill>
                <a:latin typeface="Arial"/>
              </a:rPr>
              <a:t>insérées</a:t>
            </a:r>
            <a:r>
              <a:rPr sz="1200" b="0" dirty="0">
                <a:solidFill>
                  <a:schemeClr val="tx1">
                    <a:lumMod val="65000"/>
                    <a:lumOff val="35000"/>
                  </a:schemeClr>
                </a:solidFill>
                <a:latin typeface="Arial"/>
              </a:rPr>
              <a:t>, </a:t>
            </a:r>
            <a:r>
              <a:rPr sz="1200" b="0" dirty="0" err="1">
                <a:solidFill>
                  <a:schemeClr val="tx1">
                    <a:lumMod val="65000"/>
                    <a:lumOff val="35000"/>
                  </a:schemeClr>
                </a:solidFill>
                <a:latin typeface="Arial"/>
              </a:rPr>
              <a:t>ou</a:t>
            </a:r>
            <a:r>
              <a:rPr sz="1200" b="0" dirty="0">
                <a:solidFill>
                  <a:schemeClr val="tx1">
                    <a:lumMod val="65000"/>
                    <a:lumOff val="35000"/>
                  </a:schemeClr>
                </a:solidFill>
                <a:latin typeface="Arial"/>
              </a:rPr>
              <a:t> </a:t>
            </a:r>
            <a:r>
              <a:rPr sz="1200" b="0" dirty="0" err="1">
                <a:solidFill>
                  <a:schemeClr val="tx1">
                    <a:lumMod val="65000"/>
                    <a:lumOff val="35000"/>
                  </a:schemeClr>
                </a:solidFill>
                <a:latin typeface="Arial"/>
              </a:rPr>
              <a:t>aucune</a:t>
            </a:r>
            <a:endParaRPr sz="1200" b="0" dirty="0">
              <a:solidFill>
                <a:schemeClr val="tx1">
                  <a:lumMod val="65000"/>
                  <a:lumOff val="35000"/>
                </a:schemeClr>
              </a:solidFill>
              <a:latin typeface="Arial"/>
            </a:endParaRPr>
          </a:p>
        </p:txBody>
      </p:sp>
      <p:sp>
        <p:nvSpPr>
          <p:cNvPr id="13" name="Oval 47">
            <a:extLst>
              <a:ext uri="{FF2B5EF4-FFF2-40B4-BE49-F238E27FC236}">
                <a16:creationId xmlns:a16="http://schemas.microsoft.com/office/drawing/2014/main" id="{B63E7578-9E75-D90B-22A5-81B9D2A079E1}"/>
              </a:ext>
            </a:extLst>
          </p:cNvPr>
          <p:cNvSpPr/>
          <p:nvPr/>
        </p:nvSpPr>
        <p:spPr>
          <a:xfrm>
            <a:off x="2194560" y="5527548"/>
            <a:ext cx="329184" cy="329184"/>
          </a:xfrm>
          <a:prstGeom prst="ellipse">
            <a:avLst/>
          </a:prstGeom>
          <a:solidFill>
            <a:srgbClr val="1F6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319878" y="5607501"/>
            <a:ext cx="78547" cy="169277"/>
          </a:xfrm>
          <a:prstGeom prst="rect">
            <a:avLst/>
          </a:prstGeom>
          <a:noFill/>
        </p:spPr>
        <p:txBody>
          <a:bodyPr wrap="none" lIns="0" tIns="0" rIns="0" bIns="0" anchor="ctr">
            <a:spAutoFit/>
          </a:bodyPr>
          <a:lstStyle/>
          <a:p>
            <a:pPr algn="ctr">
              <a:spcBef>
                <a:spcPts val="0"/>
              </a:spcBef>
              <a:spcAft>
                <a:spcPts val="0"/>
              </a:spcAft>
            </a:pPr>
            <a:r>
              <a:rPr sz="1100" b="1" dirty="0">
                <a:solidFill>
                  <a:schemeClr val="bg1"/>
                </a:solidFill>
                <a:latin typeface="Arial"/>
              </a:rPr>
              <a:t>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13816" y="813816"/>
            <a:ext cx="10561320" cy="237744"/>
          </a:xfrm>
          <a:prstGeom prst="rect">
            <a:avLst/>
          </a:prstGeom>
          <a:noFill/>
          <a:ln/>
        </p:spPr>
        <p:txBody>
          <a:bodyPr wrap="square" lIns="0" tIns="0" rIns="0" bIns="0" rtlCol="0" anchor="t"/>
          <a:lstStyle/>
          <a:p>
            <a:pPr marL="0" indent="0">
              <a:buNone/>
            </a:pPr>
            <a:r>
              <a:rPr lang="en-US" sz="1200" b="1" kern="0" spc="200" dirty="0">
                <a:solidFill>
                  <a:srgbClr val="1F6F5E"/>
                </a:solidFill>
                <a:latin typeface="Arial" pitchFamily="34" charset="0"/>
                <a:ea typeface="Arial" pitchFamily="34" charset="-122"/>
                <a:cs typeface="Arial" pitchFamily="34" charset="-120"/>
              </a:rPr>
              <a:t>UNE SECONDE ENTRÉE</a:t>
            </a:r>
            <a:endParaRPr lang="en-US" sz="1200" dirty="0"/>
          </a:p>
        </p:txBody>
      </p:sp>
      <p:sp>
        <p:nvSpPr>
          <p:cNvPr id="3" name="Text 0"/>
          <p:cNvSpPr>
            <a:spLocks noGrp="1"/>
          </p:cNvSpPr>
          <p:nvPr>
            <p:ph type="title" idx="100" hasCustomPrompt="1"/>
          </p:nvPr>
        </p:nvSpPr>
        <p:spPr>
          <a:xfrm>
            <a:off x="813816" y="1124712"/>
            <a:ext cx="10561320" cy="548640"/>
          </a:xfrm>
          <a:prstGeom prst="rect">
            <a:avLst/>
          </a:prstGeom>
          <a:noFill/>
          <a:ln/>
        </p:spPr>
        <p:txBody>
          <a:bodyPr wrap="square" lIns="0" tIns="0" rIns="0" bIns="0" rtlCol="0" anchor="t"/>
          <a:lstStyle/>
          <a:p>
            <a:pPr marL="0" indent="0" algn="l">
              <a:buNone/>
            </a:pPr>
            <a:r>
              <a:rPr lang="en-US" sz="3600" b="1" dirty="0">
                <a:solidFill>
                  <a:srgbClr val="1A2630"/>
                </a:solidFill>
                <a:latin typeface="Arial" pitchFamily="34" charset="0"/>
                <a:ea typeface="Arial" pitchFamily="34" charset="-122"/>
                <a:cs typeface="Arial" pitchFamily="34" charset="-120"/>
              </a:rPr>
              <a:t>L’offre en texte libre</a:t>
            </a:r>
            <a:endParaRPr lang="en-US" sz="3600" dirty="0"/>
          </a:p>
        </p:txBody>
      </p:sp>
      <p:sp>
        <p:nvSpPr>
          <p:cNvPr id="4" name="Shape 2"/>
          <p:cNvSpPr/>
          <p:nvPr/>
        </p:nvSpPr>
        <p:spPr>
          <a:xfrm>
            <a:off x="813816" y="1965960"/>
            <a:ext cx="5074920" cy="2240280"/>
          </a:xfrm>
          <a:prstGeom prst="roundRect">
            <a:avLst>
              <a:gd name="adj" fmla="val 3265"/>
            </a:avLst>
          </a:prstGeom>
          <a:solidFill>
            <a:srgbClr val="FFFDF8"/>
          </a:solidFill>
          <a:ln w="6350">
            <a:solidFill>
              <a:srgbClr val="DDD8CC"/>
            </a:solidFill>
            <a:prstDash val="solid"/>
          </a:ln>
        </p:spPr>
        <p:txBody>
          <a:bodyPr/>
          <a:lstStyle/>
          <a:p>
            <a:endParaRPr lang="fr-FR"/>
          </a:p>
        </p:txBody>
      </p:sp>
      <p:sp>
        <p:nvSpPr>
          <p:cNvPr id="5" name="Text 3"/>
          <p:cNvSpPr txBox="1"/>
          <p:nvPr/>
        </p:nvSpPr>
        <p:spPr>
          <a:xfrm>
            <a:off x="1069848" y="2194560"/>
            <a:ext cx="4572000" cy="237744"/>
          </a:xfrm>
          <a:prstGeom prst="rect">
            <a:avLst/>
          </a:prstGeom>
          <a:noFill/>
          <a:ln/>
        </p:spPr>
        <p:txBody>
          <a:bodyPr wrap="square" lIns="0" tIns="0" rIns="0" bIns="0" rtlCol="0" anchor="t"/>
          <a:lstStyle/>
          <a:p>
            <a:pPr marL="0" indent="0">
              <a:buNone/>
            </a:pPr>
            <a:r>
              <a:rPr lang="en-US" sz="1200" b="1" kern="0" spc="200" dirty="0">
                <a:solidFill>
                  <a:srgbClr val="4A5560"/>
                </a:solidFill>
                <a:latin typeface="Arial" pitchFamily="34" charset="0"/>
                <a:ea typeface="Arial" pitchFamily="34" charset="-122"/>
                <a:cs typeface="Arial" pitchFamily="34" charset="-120"/>
              </a:rPr>
              <a:t>EXTRAIT D’UNE DESCRIPTION</a:t>
            </a:r>
            <a:endParaRPr lang="en-US" sz="1200" dirty="0"/>
          </a:p>
        </p:txBody>
      </p:sp>
      <p:sp>
        <p:nvSpPr>
          <p:cNvPr id="6" name="Text 4"/>
          <p:cNvSpPr txBox="1"/>
          <p:nvPr/>
        </p:nvSpPr>
        <p:spPr>
          <a:xfrm>
            <a:off x="1069848" y="2560320"/>
            <a:ext cx="4572000" cy="1051560"/>
          </a:xfrm>
          <a:prstGeom prst="rect">
            <a:avLst/>
          </a:prstGeom>
          <a:noFill/>
          <a:ln/>
        </p:spPr>
        <p:txBody>
          <a:bodyPr wrap="square" lIns="0" tIns="0" rIns="0" bIns="0" rtlCol="0" anchor="t"/>
          <a:lstStyle/>
          <a:p>
            <a:pPr marL="0" indent="0">
              <a:lnSpc>
                <a:spcPct val="115000"/>
              </a:lnSpc>
              <a:buNone/>
            </a:pPr>
            <a:r>
              <a:rPr lang="en-US" sz="1800" i="1" dirty="0">
                <a:solidFill>
                  <a:srgbClr val="1A2630"/>
                </a:solidFill>
                <a:latin typeface="Arial" pitchFamily="34" charset="0"/>
                <a:ea typeface="Arial" pitchFamily="34" charset="-122"/>
                <a:cs typeface="Arial" pitchFamily="34" charset="-120"/>
              </a:rPr>
              <a:t>« Appartement meublé :</a:t>
            </a:r>
            <a:endParaRPr lang="en-US" sz="1800" dirty="0"/>
          </a:p>
          <a:p>
            <a:pPr marL="0" indent="0">
              <a:lnSpc>
                <a:spcPct val="115000"/>
              </a:lnSpc>
              <a:buNone/>
            </a:pPr>
            <a:r>
              <a:rPr lang="en-US" sz="1800" i="1" dirty="0">
                <a:solidFill>
                  <a:srgbClr val="1A2630"/>
                </a:solidFill>
                <a:latin typeface="Arial" pitchFamily="34" charset="0"/>
                <a:ea typeface="Arial" pitchFamily="34" charset="-122"/>
                <a:cs typeface="Arial" pitchFamily="34" charset="-120"/>
              </a:rPr>
              <a:t>loyer 600 €, charges 50 €,</a:t>
            </a:r>
            <a:endParaRPr lang="en-US" sz="1800" dirty="0"/>
          </a:p>
          <a:p>
            <a:pPr marL="0" indent="0">
              <a:lnSpc>
                <a:spcPct val="115000"/>
              </a:lnSpc>
              <a:buNone/>
            </a:pPr>
            <a:r>
              <a:rPr lang="en-US" sz="1800" i="1" dirty="0">
                <a:solidFill>
                  <a:srgbClr val="1A2630"/>
                </a:solidFill>
                <a:latin typeface="Arial" pitchFamily="34" charset="0"/>
                <a:ea typeface="Arial" pitchFamily="34" charset="-122"/>
                <a:cs typeface="Arial" pitchFamily="34" charset="-120"/>
              </a:rPr>
              <a:t>dépôt de garantie 200 €. »</a:t>
            </a:r>
            <a:endParaRPr lang="en-US" sz="1800" dirty="0"/>
          </a:p>
        </p:txBody>
      </p:sp>
      <p:sp>
        <p:nvSpPr>
          <p:cNvPr id="7" name="Text 5"/>
          <p:cNvSpPr txBox="1"/>
          <p:nvPr/>
        </p:nvSpPr>
        <p:spPr>
          <a:xfrm>
            <a:off x="1069848" y="3749040"/>
            <a:ext cx="4572000" cy="237744"/>
          </a:xfrm>
          <a:prstGeom prst="rect">
            <a:avLst/>
          </a:prstGeom>
          <a:noFill/>
          <a:ln/>
        </p:spPr>
        <p:txBody>
          <a:bodyPr wrap="square" lIns="0" tIns="0" rIns="0" bIns="0" rtlCol="0" anchor="t"/>
          <a:lstStyle/>
          <a:p>
            <a:pPr marL="0" indent="0">
              <a:buNone/>
            </a:pPr>
            <a:r>
              <a:rPr lang="en-US" sz="1200" dirty="0">
                <a:solidFill>
                  <a:srgbClr val="4A5560"/>
                </a:solidFill>
                <a:latin typeface="Arial" pitchFamily="34" charset="0"/>
                <a:ea typeface="Arial" pitchFamily="34" charset="-122"/>
                <a:cs typeface="Arial" pitchFamily="34" charset="-120"/>
              </a:rPr>
              <a:t>À compléter avec l’émetteur, le client et les adresses.</a:t>
            </a:r>
            <a:endParaRPr lang="en-US" sz="1200" dirty="0"/>
          </a:p>
        </p:txBody>
      </p:sp>
      <p:sp>
        <p:nvSpPr>
          <p:cNvPr id="8" name="Text 6"/>
          <p:cNvSpPr txBox="1"/>
          <p:nvPr/>
        </p:nvSpPr>
        <p:spPr>
          <a:xfrm>
            <a:off x="6300216" y="2011680"/>
            <a:ext cx="5074920" cy="237744"/>
          </a:xfrm>
          <a:prstGeom prst="rect">
            <a:avLst/>
          </a:prstGeom>
          <a:noFill/>
          <a:ln/>
        </p:spPr>
        <p:txBody>
          <a:bodyPr wrap="square" lIns="0" tIns="0" rIns="0" bIns="0" rtlCol="0" anchor="t"/>
          <a:lstStyle/>
          <a:p>
            <a:pPr marL="0" indent="0">
              <a:buNone/>
            </a:pPr>
            <a:r>
              <a:rPr lang="en-US" sz="1200" b="1" kern="0" spc="200" dirty="0">
                <a:solidFill>
                  <a:srgbClr val="1F6F5E"/>
                </a:solidFill>
                <a:latin typeface="Arial" pitchFamily="34" charset="0"/>
                <a:ea typeface="Arial" pitchFamily="34" charset="-122"/>
                <a:cs typeface="Arial" pitchFamily="34" charset="-120"/>
              </a:rPr>
              <a:t>CE QUE LE SERVEUR ENVOIE À ILaaS</a:t>
            </a:r>
            <a:endParaRPr lang="en-US" sz="1200" dirty="0"/>
          </a:p>
        </p:txBody>
      </p:sp>
      <p:sp>
        <p:nvSpPr>
          <p:cNvPr id="9" name="Text 7"/>
          <p:cNvSpPr txBox="1"/>
          <p:nvPr/>
        </p:nvSpPr>
        <p:spPr>
          <a:xfrm>
            <a:off x="6300216" y="2514600"/>
            <a:ext cx="548640" cy="384048"/>
          </a:xfrm>
          <a:prstGeom prst="rect">
            <a:avLst/>
          </a:prstGeom>
          <a:noFill/>
          <a:ln/>
        </p:spPr>
        <p:txBody>
          <a:bodyPr wrap="square" lIns="0" tIns="0" rIns="0" bIns="0" rtlCol="0" anchor="ctr"/>
          <a:lstStyle/>
          <a:p>
            <a:pPr marL="0" indent="0">
              <a:buNone/>
            </a:pPr>
            <a:r>
              <a:rPr lang="en-US" sz="2200" b="1" dirty="0">
                <a:solidFill>
                  <a:srgbClr val="1F6F5E"/>
                </a:solidFill>
                <a:latin typeface="Arial" pitchFamily="34" charset="0"/>
                <a:ea typeface="Arial" pitchFamily="34" charset="-122"/>
                <a:cs typeface="Arial" pitchFamily="34" charset="-120"/>
              </a:rPr>
              <a:t>01</a:t>
            </a:r>
            <a:endParaRPr lang="en-US" sz="2200" dirty="0"/>
          </a:p>
        </p:txBody>
      </p:sp>
      <p:sp>
        <p:nvSpPr>
          <p:cNvPr id="10" name="Text 8"/>
          <p:cNvSpPr txBox="1"/>
          <p:nvPr/>
        </p:nvSpPr>
        <p:spPr>
          <a:xfrm>
            <a:off x="6949440" y="2514600"/>
            <a:ext cx="4425696" cy="384048"/>
          </a:xfrm>
          <a:prstGeom prst="rect">
            <a:avLst/>
          </a:prstGeom>
          <a:noFill/>
          <a:ln/>
        </p:spPr>
        <p:txBody>
          <a:bodyPr wrap="square" lIns="0" tIns="0" rIns="0" bIns="0" rtlCol="0" anchor="ctr"/>
          <a:lstStyle/>
          <a:p>
            <a:pPr marL="0" indent="0">
              <a:buNone/>
            </a:pPr>
            <a:r>
              <a:rPr lang="en-US" sz="1600" dirty="0">
                <a:solidFill>
                  <a:srgbClr val="1A2630"/>
                </a:solidFill>
                <a:latin typeface="Arial" pitchFamily="34" charset="0"/>
                <a:ea typeface="Arial" pitchFamily="34" charset="-122"/>
                <a:cs typeface="Arial" pitchFamily="34" charset="-120"/>
              </a:rPr>
              <a:t>La description de l’utilisateur</a:t>
            </a:r>
            <a:endParaRPr lang="en-US" sz="1600" dirty="0"/>
          </a:p>
        </p:txBody>
      </p:sp>
      <p:sp>
        <p:nvSpPr>
          <p:cNvPr id="11" name="Text 9"/>
          <p:cNvSpPr txBox="1"/>
          <p:nvPr/>
        </p:nvSpPr>
        <p:spPr>
          <a:xfrm>
            <a:off x="6300216" y="3136392"/>
            <a:ext cx="548640" cy="384048"/>
          </a:xfrm>
          <a:prstGeom prst="rect">
            <a:avLst/>
          </a:prstGeom>
          <a:noFill/>
          <a:ln/>
        </p:spPr>
        <p:txBody>
          <a:bodyPr wrap="square" lIns="0" tIns="0" rIns="0" bIns="0" rtlCol="0" anchor="ctr"/>
          <a:lstStyle/>
          <a:p>
            <a:pPr marL="0" indent="0">
              <a:buNone/>
            </a:pPr>
            <a:r>
              <a:rPr lang="en-US" sz="2200" b="1" dirty="0">
                <a:solidFill>
                  <a:srgbClr val="1F6F5E"/>
                </a:solidFill>
                <a:latin typeface="Arial" pitchFamily="34" charset="0"/>
                <a:ea typeface="Arial" pitchFamily="34" charset="-122"/>
                <a:cs typeface="Arial" pitchFamily="34" charset="-120"/>
              </a:rPr>
              <a:t>02</a:t>
            </a:r>
            <a:endParaRPr lang="en-US" sz="2200" dirty="0"/>
          </a:p>
        </p:txBody>
      </p:sp>
      <p:sp>
        <p:nvSpPr>
          <p:cNvPr id="12" name="Text 10"/>
          <p:cNvSpPr txBox="1"/>
          <p:nvPr/>
        </p:nvSpPr>
        <p:spPr>
          <a:xfrm>
            <a:off x="6949440" y="3136392"/>
            <a:ext cx="4425696" cy="384048"/>
          </a:xfrm>
          <a:prstGeom prst="rect">
            <a:avLst/>
          </a:prstGeom>
          <a:noFill/>
          <a:ln/>
        </p:spPr>
        <p:txBody>
          <a:bodyPr wrap="square" lIns="0" tIns="0" rIns="0" bIns="0" rtlCol="0" anchor="ctr"/>
          <a:lstStyle/>
          <a:p>
            <a:pPr marL="0" indent="0">
              <a:buNone/>
            </a:pPr>
            <a:r>
              <a:rPr lang="en-US" sz="1600" dirty="0">
                <a:solidFill>
                  <a:srgbClr val="1A2630"/>
                </a:solidFill>
                <a:latin typeface="Arial" pitchFamily="34" charset="0"/>
                <a:ea typeface="Arial" pitchFamily="34" charset="-122"/>
                <a:cs typeface="Arial" pitchFamily="34" charset="-120"/>
              </a:rPr>
              <a:t>Le JSON Schema attendu</a:t>
            </a:r>
            <a:endParaRPr lang="en-US" sz="1600" dirty="0"/>
          </a:p>
        </p:txBody>
      </p:sp>
      <p:sp>
        <p:nvSpPr>
          <p:cNvPr id="13" name="Text 11"/>
          <p:cNvSpPr txBox="1"/>
          <p:nvPr/>
        </p:nvSpPr>
        <p:spPr>
          <a:xfrm>
            <a:off x="6300216" y="3758184"/>
            <a:ext cx="548640" cy="384048"/>
          </a:xfrm>
          <a:prstGeom prst="rect">
            <a:avLst/>
          </a:prstGeom>
          <a:noFill/>
          <a:ln/>
        </p:spPr>
        <p:txBody>
          <a:bodyPr wrap="square" lIns="0" tIns="0" rIns="0" bIns="0" rtlCol="0" anchor="ctr"/>
          <a:lstStyle/>
          <a:p>
            <a:pPr marL="0" indent="0">
              <a:buNone/>
            </a:pPr>
            <a:r>
              <a:rPr lang="en-US" sz="2200" b="1" dirty="0">
                <a:solidFill>
                  <a:srgbClr val="1F6F5E"/>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6949440" y="3758184"/>
            <a:ext cx="4425696" cy="384048"/>
          </a:xfrm>
          <a:prstGeom prst="rect">
            <a:avLst/>
          </a:prstGeom>
          <a:noFill/>
          <a:ln/>
        </p:spPr>
        <p:txBody>
          <a:bodyPr wrap="square" lIns="0" tIns="0" rIns="0" bIns="0" rtlCol="0" anchor="ctr"/>
          <a:lstStyle/>
          <a:p>
            <a:pPr marL="0" indent="0">
              <a:buNone/>
            </a:pPr>
            <a:r>
              <a:rPr lang="en-US" sz="1600" dirty="0">
                <a:solidFill>
                  <a:srgbClr val="1A2630"/>
                </a:solidFill>
                <a:latin typeface="Arial" pitchFamily="34" charset="0"/>
                <a:ea typeface="Arial" pitchFamily="34" charset="-122"/>
                <a:cs typeface="Arial" pitchFamily="34" charset="-120"/>
              </a:rPr>
              <a:t>Un exemple de facture structurée</a:t>
            </a:r>
            <a:endParaRPr lang="en-US" sz="1600" dirty="0"/>
          </a:p>
        </p:txBody>
      </p:sp>
      <p:sp>
        <p:nvSpPr>
          <p:cNvPr id="15" name="Text 13"/>
          <p:cNvSpPr/>
          <p:nvPr/>
        </p:nvSpPr>
        <p:spPr>
          <a:xfrm>
            <a:off x="813816" y="4663440"/>
            <a:ext cx="1426464" cy="530352"/>
          </a:xfrm>
          <a:prstGeom prst="roundRect">
            <a:avLst>
              <a:gd name="adj" fmla="val 13793"/>
            </a:avLst>
          </a:prstGeom>
          <a:solidFill>
            <a:srgbClr val="13202B"/>
          </a:solidFill>
          <a:ln w="12700">
            <a:solidFill>
              <a:srgbClr val="13202B"/>
            </a:solidFill>
          </a:ln>
        </p:spPr>
        <p:txBody>
          <a:bodyPr wrap="square" lIns="0" tIns="0" rIns="0" bIns="0" rtlCol="0" anchor="ctr"/>
          <a:lstStyle/>
          <a:p>
            <a:pPr marL="0" indent="0" algn="ctr">
              <a:buNone/>
            </a:pPr>
            <a:r>
              <a:rPr lang="en-US" sz="1600" b="1" dirty="0">
                <a:solidFill>
                  <a:srgbClr val="F5F3EE"/>
                </a:solidFill>
                <a:latin typeface="Arial" pitchFamily="34" charset="0"/>
                <a:ea typeface="Arial" pitchFamily="34" charset="-122"/>
                <a:cs typeface="Arial" pitchFamily="34" charset="-120"/>
              </a:rPr>
              <a:t>Texte libre</a:t>
            </a:r>
            <a:endParaRPr lang="en-US" sz="1600" dirty="0"/>
          </a:p>
        </p:txBody>
      </p:sp>
      <p:sp>
        <p:nvSpPr>
          <p:cNvPr id="16" name="Shape 14"/>
          <p:cNvSpPr/>
          <p:nvPr/>
        </p:nvSpPr>
        <p:spPr>
          <a:xfrm>
            <a:off x="2304288" y="4860036"/>
            <a:ext cx="274320" cy="137160"/>
          </a:xfrm>
          <a:prstGeom prst="rightArrow">
            <a:avLst/>
          </a:prstGeom>
          <a:solidFill>
            <a:srgbClr val="1F6F5E"/>
          </a:solidFill>
          <a:ln w="12700">
            <a:solidFill>
              <a:srgbClr val="1F6F5E"/>
            </a:solidFill>
            <a:prstDash val="solid"/>
          </a:ln>
        </p:spPr>
        <p:txBody>
          <a:bodyPr/>
          <a:lstStyle/>
          <a:p>
            <a:endParaRPr lang="fr-FR"/>
          </a:p>
        </p:txBody>
      </p:sp>
      <p:sp>
        <p:nvSpPr>
          <p:cNvPr id="17" name="Text 15"/>
          <p:cNvSpPr/>
          <p:nvPr/>
        </p:nvSpPr>
        <p:spPr>
          <a:xfrm>
            <a:off x="2642616" y="4663440"/>
            <a:ext cx="1426464" cy="530352"/>
          </a:xfrm>
          <a:prstGeom prst="roundRect">
            <a:avLst>
              <a:gd name="adj" fmla="val 13793"/>
            </a:avLst>
          </a:prstGeom>
          <a:solidFill>
            <a:srgbClr val="FFFDF8"/>
          </a:solidFill>
          <a:ln w="12700">
            <a:solidFill>
              <a:srgbClr val="1F6F5E"/>
            </a:solidFill>
          </a:ln>
        </p:spPr>
        <p:txBody>
          <a:bodyPr wrap="square" lIns="0" tIns="0" rIns="0" bIns="0" rtlCol="0" anchor="ctr"/>
          <a:lstStyle/>
          <a:p>
            <a:pPr marL="0" indent="0" algn="ctr">
              <a:buNone/>
            </a:pPr>
            <a:r>
              <a:rPr lang="en-US" sz="1600" b="1" dirty="0">
                <a:solidFill>
                  <a:srgbClr val="1A2630"/>
                </a:solidFill>
                <a:latin typeface="Arial" pitchFamily="34" charset="0"/>
                <a:ea typeface="Arial" pitchFamily="34" charset="-122"/>
                <a:cs typeface="Arial" pitchFamily="34" charset="-120"/>
              </a:rPr>
              <a:t>ILaaS</a:t>
            </a:r>
            <a:endParaRPr lang="en-US" sz="1600" dirty="0"/>
          </a:p>
        </p:txBody>
      </p:sp>
      <p:sp>
        <p:nvSpPr>
          <p:cNvPr id="18" name="Shape 16"/>
          <p:cNvSpPr/>
          <p:nvPr/>
        </p:nvSpPr>
        <p:spPr>
          <a:xfrm>
            <a:off x="4133088" y="4860036"/>
            <a:ext cx="274320" cy="137160"/>
          </a:xfrm>
          <a:prstGeom prst="rightArrow">
            <a:avLst/>
          </a:prstGeom>
          <a:solidFill>
            <a:srgbClr val="1F6F5E"/>
          </a:solidFill>
          <a:ln w="12700">
            <a:solidFill>
              <a:srgbClr val="1F6F5E"/>
            </a:solidFill>
            <a:prstDash val="solid"/>
          </a:ln>
        </p:spPr>
        <p:txBody>
          <a:bodyPr/>
          <a:lstStyle/>
          <a:p>
            <a:endParaRPr lang="fr-FR"/>
          </a:p>
        </p:txBody>
      </p:sp>
      <p:sp>
        <p:nvSpPr>
          <p:cNvPr id="19" name="Text 17"/>
          <p:cNvSpPr/>
          <p:nvPr/>
        </p:nvSpPr>
        <p:spPr>
          <a:xfrm>
            <a:off x="4471416" y="4663440"/>
            <a:ext cx="1426464" cy="530352"/>
          </a:xfrm>
          <a:prstGeom prst="roundRect">
            <a:avLst>
              <a:gd name="adj" fmla="val 13793"/>
            </a:avLst>
          </a:prstGeom>
          <a:solidFill>
            <a:srgbClr val="FFFDF8"/>
          </a:solidFill>
          <a:ln w="12700">
            <a:solidFill>
              <a:srgbClr val="1F6F5E"/>
            </a:solidFill>
          </a:ln>
        </p:spPr>
        <p:txBody>
          <a:bodyPr wrap="square" lIns="0" tIns="0" rIns="0" bIns="0" rtlCol="0" anchor="ctr"/>
          <a:lstStyle/>
          <a:p>
            <a:pPr marL="0" indent="0" algn="ctr">
              <a:buNone/>
            </a:pPr>
            <a:r>
              <a:rPr lang="en-US" sz="1600" b="1" dirty="0">
                <a:solidFill>
                  <a:srgbClr val="1A2630"/>
                </a:solidFill>
                <a:latin typeface="Arial" pitchFamily="34" charset="0"/>
                <a:ea typeface="Arial" pitchFamily="34" charset="-122"/>
                <a:cs typeface="Arial" pitchFamily="34" charset="-120"/>
              </a:rPr>
              <a:t>JSON</a:t>
            </a:r>
            <a:endParaRPr lang="en-US" sz="1600" dirty="0"/>
          </a:p>
        </p:txBody>
      </p:sp>
      <p:sp>
        <p:nvSpPr>
          <p:cNvPr id="20" name="Shape 18"/>
          <p:cNvSpPr/>
          <p:nvPr/>
        </p:nvSpPr>
        <p:spPr>
          <a:xfrm>
            <a:off x="5961888" y="4860036"/>
            <a:ext cx="274320" cy="137160"/>
          </a:xfrm>
          <a:prstGeom prst="rightArrow">
            <a:avLst/>
          </a:prstGeom>
          <a:solidFill>
            <a:srgbClr val="1F6F5E"/>
          </a:solidFill>
          <a:ln w="12700">
            <a:solidFill>
              <a:srgbClr val="1F6F5E"/>
            </a:solidFill>
            <a:prstDash val="solid"/>
          </a:ln>
        </p:spPr>
        <p:txBody>
          <a:bodyPr/>
          <a:lstStyle/>
          <a:p>
            <a:endParaRPr lang="fr-FR"/>
          </a:p>
        </p:txBody>
      </p:sp>
      <p:sp>
        <p:nvSpPr>
          <p:cNvPr id="21" name="Text 19"/>
          <p:cNvSpPr/>
          <p:nvPr/>
        </p:nvSpPr>
        <p:spPr>
          <a:xfrm>
            <a:off x="6300216" y="4663440"/>
            <a:ext cx="1426464" cy="530352"/>
          </a:xfrm>
          <a:prstGeom prst="roundRect">
            <a:avLst>
              <a:gd name="adj" fmla="val 13793"/>
            </a:avLst>
          </a:prstGeom>
          <a:solidFill>
            <a:srgbClr val="FFFDF8"/>
          </a:solidFill>
          <a:ln w="12700">
            <a:solidFill>
              <a:srgbClr val="1F6F5E"/>
            </a:solidFill>
          </a:ln>
        </p:spPr>
        <p:txBody>
          <a:bodyPr wrap="square" lIns="0" tIns="0" rIns="0" bIns="0" rtlCol="0" anchor="ctr"/>
          <a:lstStyle/>
          <a:p>
            <a:pPr marL="0" indent="0" algn="ctr">
              <a:buNone/>
            </a:pPr>
            <a:r>
              <a:rPr lang="en-US" sz="1600" b="1" dirty="0">
                <a:solidFill>
                  <a:srgbClr val="1A2630"/>
                </a:solidFill>
                <a:latin typeface="Arial" pitchFamily="34" charset="0"/>
                <a:ea typeface="Arial" pitchFamily="34" charset="-122"/>
                <a:cs typeface="Arial" pitchFamily="34" charset="-120"/>
              </a:rPr>
              <a:t>Validation</a:t>
            </a:r>
            <a:endParaRPr lang="en-US" sz="1600" dirty="0"/>
          </a:p>
        </p:txBody>
      </p:sp>
      <p:sp>
        <p:nvSpPr>
          <p:cNvPr id="22" name="Shape 20"/>
          <p:cNvSpPr/>
          <p:nvPr/>
        </p:nvSpPr>
        <p:spPr>
          <a:xfrm>
            <a:off x="7790688" y="4860036"/>
            <a:ext cx="274320" cy="137160"/>
          </a:xfrm>
          <a:prstGeom prst="rightArrow">
            <a:avLst/>
          </a:prstGeom>
          <a:solidFill>
            <a:srgbClr val="1F6F5E"/>
          </a:solidFill>
          <a:ln w="12700">
            <a:solidFill>
              <a:srgbClr val="1F6F5E"/>
            </a:solidFill>
            <a:prstDash val="solid"/>
          </a:ln>
        </p:spPr>
        <p:txBody>
          <a:bodyPr/>
          <a:lstStyle/>
          <a:p>
            <a:endParaRPr lang="fr-FR"/>
          </a:p>
        </p:txBody>
      </p:sp>
      <p:sp>
        <p:nvSpPr>
          <p:cNvPr id="23" name="Text 21"/>
          <p:cNvSpPr/>
          <p:nvPr/>
        </p:nvSpPr>
        <p:spPr>
          <a:xfrm>
            <a:off x="8129016" y="4663440"/>
            <a:ext cx="1426464" cy="530352"/>
          </a:xfrm>
          <a:prstGeom prst="roundRect">
            <a:avLst>
              <a:gd name="adj" fmla="val 13793"/>
            </a:avLst>
          </a:prstGeom>
          <a:solidFill>
            <a:srgbClr val="E07A3A"/>
          </a:solidFill>
          <a:ln w="12700">
            <a:solidFill>
              <a:srgbClr val="E07A3A"/>
            </a:solidFill>
          </a:ln>
        </p:spPr>
        <p:txBody>
          <a:bodyPr wrap="square" lIns="0" tIns="0" rIns="0" bIns="0" rtlCol="0" anchor="ctr"/>
          <a:lstStyle/>
          <a:p>
            <a:pPr marL="0" indent="0" algn="ctr">
              <a:buNone/>
            </a:pPr>
            <a:r>
              <a:rPr lang="en-US" sz="1600" b="1" dirty="0">
                <a:solidFill>
                  <a:srgbClr val="13202B"/>
                </a:solidFill>
                <a:latin typeface="Arial" pitchFamily="34" charset="0"/>
                <a:ea typeface="Arial" pitchFamily="34" charset="-122"/>
                <a:cs typeface="Arial" pitchFamily="34" charset="-120"/>
              </a:rPr>
              <a:t>SQLite</a:t>
            </a:r>
            <a:endParaRPr lang="en-US" sz="1600" dirty="0"/>
          </a:p>
        </p:txBody>
      </p:sp>
      <p:sp>
        <p:nvSpPr>
          <p:cNvPr id="24" name="Text 22"/>
          <p:cNvSpPr txBox="1"/>
          <p:nvPr/>
        </p:nvSpPr>
        <p:spPr>
          <a:xfrm>
            <a:off x="813816" y="5486400"/>
            <a:ext cx="10561320" cy="274320"/>
          </a:xfrm>
          <a:prstGeom prst="rect">
            <a:avLst/>
          </a:prstGeom>
          <a:noFill/>
          <a:ln/>
        </p:spPr>
        <p:txBody>
          <a:bodyPr wrap="square" lIns="0" tIns="0" rIns="0" bIns="0" rtlCol="0" anchor="t"/>
          <a:lstStyle/>
          <a:p>
            <a:pPr marL="0" indent="0">
              <a:buNone/>
            </a:pPr>
            <a:r>
              <a:rPr lang="en-US" sz="1400" dirty="0">
                <a:solidFill>
                  <a:srgbClr val="4A5560"/>
                </a:solidFill>
                <a:latin typeface="Arial" pitchFamily="34" charset="0"/>
                <a:ea typeface="Arial" pitchFamily="34" charset="-122"/>
                <a:cs typeface="Arial" pitchFamily="34" charset="-120"/>
              </a:rPr>
              <a:t>Appel API  mêmes contrôles que le </a:t>
            </a:r>
            <a:r>
              <a:rPr lang="en-US" sz="1400" dirty="0" err="1">
                <a:solidFill>
                  <a:srgbClr val="4A5560"/>
                </a:solidFill>
                <a:latin typeface="Arial" pitchFamily="34" charset="0"/>
                <a:ea typeface="Arial" pitchFamily="34" charset="-122"/>
                <a:cs typeface="Arial" pitchFamily="34" charset="-120"/>
              </a:rPr>
              <a:t>formulaire</a:t>
            </a:r>
            <a:endParaRPr lang="en-US" sz="1400" dirty="0"/>
          </a:p>
        </p:txBody>
      </p:sp>
      <p:sp>
        <p:nvSpPr>
          <p:cNvPr id="25" name="Slide Number Placeholder 0"/>
          <p:cNvSpPr>
            <a:spLocks noGrp="1"/>
          </p:cNvSpPr>
          <p:nvPr>
            <p:ph type="sldNum" sz="quarter" idx="4294967295"/>
          </p:nvPr>
        </p:nvSpPr>
        <p:spPr>
          <a:xfrm>
            <a:off x="10735056" y="6236208"/>
            <a:ext cx="640080" cy="237744"/>
          </a:xfrm>
          <a:prstGeom prst="rect">
            <a:avLst/>
          </a:prstGeom>
          <a:extLst>
            <a:ext uri="{C572A759-6A51-4108-AA02-DFA0A04FC94B}">
              <ma14:wrappingTextBoxFlag xmlns="" xmlns:ma14="http://schemas.microsoft.com/office/mac/drawingml/2011/main" val="0"/>
            </a:ext>
          </a:extLst>
        </p:spPr>
        <p:txBody>
          <a:bodyPr lIns="0" tIns="0" rIns="0" bIns="0"/>
          <a:lstStyle>
            <a:lvl1pPr>
              <a:defRPr sz="1200">
                <a:solidFill>
                  <a:srgbClr val="7A848C"/>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13816" y="813816"/>
            <a:ext cx="10561320" cy="237744"/>
          </a:xfrm>
          <a:prstGeom prst="rect">
            <a:avLst/>
          </a:prstGeom>
          <a:noFill/>
          <a:ln/>
        </p:spPr>
        <p:txBody>
          <a:bodyPr wrap="square" lIns="0" tIns="0" rIns="0" bIns="0" rtlCol="0" anchor="t"/>
          <a:lstStyle/>
          <a:p>
            <a:pPr marL="0" indent="0">
              <a:buNone/>
            </a:pPr>
            <a:r>
              <a:rPr lang="en-US" sz="1200" b="1" kern="0" spc="200" dirty="0">
                <a:solidFill>
                  <a:srgbClr val="1F6F5E"/>
                </a:solidFill>
                <a:latin typeface="Arial" pitchFamily="34" charset="0"/>
                <a:ea typeface="Arial" pitchFamily="34" charset="-122"/>
                <a:cs typeface="Arial" pitchFamily="34" charset="-120"/>
              </a:rPr>
              <a:t>RESTITUER LES DONNÉES</a:t>
            </a:r>
            <a:endParaRPr lang="en-US" sz="1200" dirty="0"/>
          </a:p>
        </p:txBody>
      </p:sp>
      <p:sp>
        <p:nvSpPr>
          <p:cNvPr id="3" name="Text 0"/>
          <p:cNvSpPr>
            <a:spLocks noGrp="1"/>
          </p:cNvSpPr>
          <p:nvPr>
            <p:ph type="title" idx="100" hasCustomPrompt="1"/>
          </p:nvPr>
        </p:nvSpPr>
        <p:spPr>
          <a:xfrm>
            <a:off x="813816" y="1124712"/>
            <a:ext cx="10561320" cy="548640"/>
          </a:xfrm>
          <a:prstGeom prst="rect">
            <a:avLst/>
          </a:prstGeom>
          <a:noFill/>
          <a:ln/>
        </p:spPr>
        <p:txBody>
          <a:bodyPr wrap="square" lIns="0" tIns="0" rIns="0" bIns="0" rtlCol="0" anchor="t"/>
          <a:lstStyle/>
          <a:p>
            <a:pPr marL="0" indent="0" algn="l">
              <a:buNone/>
            </a:pPr>
            <a:r>
              <a:rPr lang="en-US" sz="3600" b="1" dirty="0">
                <a:solidFill>
                  <a:srgbClr val="1A2630"/>
                </a:solidFill>
                <a:latin typeface="Arial" pitchFamily="34" charset="0"/>
                <a:ea typeface="Arial" pitchFamily="34" charset="-122"/>
                <a:cs typeface="Arial" pitchFamily="34" charset="-120"/>
              </a:rPr>
              <a:t>Le chemin inverse : de la BDD au HTML</a:t>
            </a:r>
            <a:endParaRPr lang="en-US" sz="3600" dirty="0"/>
          </a:p>
        </p:txBody>
      </p:sp>
      <p:sp>
        <p:nvSpPr>
          <p:cNvPr id="4" name="Text 2"/>
          <p:cNvSpPr/>
          <p:nvPr/>
        </p:nvSpPr>
        <p:spPr>
          <a:xfrm>
            <a:off x="813816" y="1965960"/>
            <a:ext cx="1371600" cy="530352"/>
          </a:xfrm>
          <a:prstGeom prst="roundRect">
            <a:avLst>
              <a:gd name="adj" fmla="val 13793"/>
            </a:avLst>
          </a:prstGeom>
          <a:solidFill>
            <a:srgbClr val="13202B"/>
          </a:solidFill>
          <a:ln w="12700">
            <a:solidFill>
              <a:srgbClr val="13202B"/>
            </a:solidFill>
          </a:ln>
        </p:spPr>
        <p:txBody>
          <a:bodyPr wrap="square" lIns="0" tIns="0" rIns="0" bIns="0" rtlCol="0" anchor="ctr"/>
          <a:lstStyle/>
          <a:p>
            <a:pPr marL="0" indent="0" algn="ctr">
              <a:buNone/>
            </a:pPr>
            <a:r>
              <a:rPr lang="en-US" sz="1600" b="1" dirty="0">
                <a:solidFill>
                  <a:srgbClr val="F5F3EE"/>
                </a:solidFill>
                <a:latin typeface="Arial" pitchFamily="34" charset="0"/>
                <a:ea typeface="Arial" pitchFamily="34" charset="-122"/>
                <a:cs typeface="Arial" pitchFamily="34" charset="-120"/>
              </a:rPr>
              <a:t>SQLite</a:t>
            </a:r>
            <a:endParaRPr lang="en-US" sz="1600" dirty="0"/>
          </a:p>
        </p:txBody>
      </p:sp>
      <p:sp>
        <p:nvSpPr>
          <p:cNvPr id="5" name="Shape 3"/>
          <p:cNvSpPr/>
          <p:nvPr/>
        </p:nvSpPr>
        <p:spPr>
          <a:xfrm>
            <a:off x="2231136" y="2162556"/>
            <a:ext cx="274320" cy="137160"/>
          </a:xfrm>
          <a:prstGeom prst="rightArrow">
            <a:avLst/>
          </a:prstGeom>
          <a:solidFill>
            <a:srgbClr val="1F6F5E"/>
          </a:solidFill>
          <a:ln w="12700">
            <a:solidFill>
              <a:srgbClr val="1F6F5E"/>
            </a:solidFill>
            <a:prstDash val="solid"/>
          </a:ln>
        </p:spPr>
        <p:txBody>
          <a:bodyPr/>
          <a:lstStyle/>
          <a:p>
            <a:endParaRPr lang="fr-FR"/>
          </a:p>
        </p:txBody>
      </p:sp>
      <p:sp>
        <p:nvSpPr>
          <p:cNvPr id="6" name="Text 4"/>
          <p:cNvSpPr/>
          <p:nvPr/>
        </p:nvSpPr>
        <p:spPr>
          <a:xfrm>
            <a:off x="2551176" y="1965960"/>
            <a:ext cx="1371600" cy="530352"/>
          </a:xfrm>
          <a:prstGeom prst="roundRect">
            <a:avLst>
              <a:gd name="adj" fmla="val 13793"/>
            </a:avLst>
          </a:prstGeom>
          <a:solidFill>
            <a:srgbClr val="FFFDF8"/>
          </a:solidFill>
          <a:ln w="12700">
            <a:solidFill>
              <a:srgbClr val="1F6F5E"/>
            </a:solidFill>
          </a:ln>
        </p:spPr>
        <p:txBody>
          <a:bodyPr wrap="square" lIns="0" tIns="0" rIns="0" bIns="0" rtlCol="0" anchor="ctr"/>
          <a:lstStyle/>
          <a:p>
            <a:pPr marL="0" indent="0" algn="ctr">
              <a:buNone/>
            </a:pPr>
            <a:r>
              <a:rPr lang="en-US" sz="1600" b="1" dirty="0">
                <a:solidFill>
                  <a:srgbClr val="1A2630"/>
                </a:solidFill>
                <a:latin typeface="Arial" pitchFamily="34" charset="0"/>
                <a:ea typeface="Arial" pitchFamily="34" charset="-122"/>
                <a:cs typeface="Arial" pitchFamily="34" charset="-120"/>
              </a:rPr>
              <a:t>XML</a:t>
            </a:r>
            <a:endParaRPr lang="en-US" sz="1600" dirty="0"/>
          </a:p>
        </p:txBody>
      </p:sp>
      <p:sp>
        <p:nvSpPr>
          <p:cNvPr id="7" name="Shape 5"/>
          <p:cNvSpPr/>
          <p:nvPr/>
        </p:nvSpPr>
        <p:spPr>
          <a:xfrm>
            <a:off x="3968496" y="2162556"/>
            <a:ext cx="274320" cy="137160"/>
          </a:xfrm>
          <a:prstGeom prst="rightArrow">
            <a:avLst/>
          </a:prstGeom>
          <a:solidFill>
            <a:srgbClr val="1F6F5E"/>
          </a:solidFill>
          <a:ln w="12700">
            <a:solidFill>
              <a:srgbClr val="1F6F5E"/>
            </a:solidFill>
            <a:prstDash val="solid"/>
          </a:ln>
        </p:spPr>
        <p:txBody>
          <a:bodyPr/>
          <a:lstStyle/>
          <a:p>
            <a:endParaRPr lang="fr-FR"/>
          </a:p>
        </p:txBody>
      </p:sp>
      <p:sp>
        <p:nvSpPr>
          <p:cNvPr id="8" name="Text 6"/>
          <p:cNvSpPr/>
          <p:nvPr/>
        </p:nvSpPr>
        <p:spPr>
          <a:xfrm>
            <a:off x="4288536" y="1965960"/>
            <a:ext cx="1371600" cy="530352"/>
          </a:xfrm>
          <a:prstGeom prst="roundRect">
            <a:avLst>
              <a:gd name="adj" fmla="val 13793"/>
            </a:avLst>
          </a:prstGeom>
          <a:solidFill>
            <a:srgbClr val="FFFDF8"/>
          </a:solidFill>
          <a:ln w="12700">
            <a:solidFill>
              <a:srgbClr val="1F6F5E"/>
            </a:solidFill>
          </a:ln>
        </p:spPr>
        <p:txBody>
          <a:bodyPr wrap="square" lIns="0" tIns="0" rIns="0" bIns="0" rtlCol="0" anchor="ctr"/>
          <a:lstStyle/>
          <a:p>
            <a:pPr marL="0" indent="0" algn="ctr">
              <a:buNone/>
            </a:pPr>
            <a:r>
              <a:rPr lang="en-US" sz="1600" b="1" dirty="0">
                <a:solidFill>
                  <a:srgbClr val="1A2630"/>
                </a:solidFill>
                <a:latin typeface="Arial" pitchFamily="34" charset="0"/>
                <a:ea typeface="Arial" pitchFamily="34" charset="-122"/>
                <a:cs typeface="Arial" pitchFamily="34" charset="-120"/>
              </a:rPr>
              <a:t>XSLT</a:t>
            </a:r>
            <a:endParaRPr lang="en-US" sz="1600" dirty="0"/>
          </a:p>
        </p:txBody>
      </p:sp>
      <p:sp>
        <p:nvSpPr>
          <p:cNvPr id="9" name="Shape 7"/>
          <p:cNvSpPr/>
          <p:nvPr/>
        </p:nvSpPr>
        <p:spPr>
          <a:xfrm>
            <a:off x="5705856" y="2162556"/>
            <a:ext cx="274320" cy="137160"/>
          </a:xfrm>
          <a:prstGeom prst="rightArrow">
            <a:avLst/>
          </a:prstGeom>
          <a:solidFill>
            <a:srgbClr val="1F6F5E"/>
          </a:solidFill>
          <a:ln w="12700">
            <a:solidFill>
              <a:srgbClr val="1F6F5E"/>
            </a:solidFill>
            <a:prstDash val="solid"/>
          </a:ln>
        </p:spPr>
        <p:txBody>
          <a:bodyPr/>
          <a:lstStyle/>
          <a:p>
            <a:endParaRPr lang="fr-FR"/>
          </a:p>
        </p:txBody>
      </p:sp>
      <p:sp>
        <p:nvSpPr>
          <p:cNvPr id="10" name="Text 8"/>
          <p:cNvSpPr/>
          <p:nvPr/>
        </p:nvSpPr>
        <p:spPr>
          <a:xfrm>
            <a:off x="6025896" y="1965960"/>
            <a:ext cx="1371600" cy="530352"/>
          </a:xfrm>
          <a:prstGeom prst="roundRect">
            <a:avLst>
              <a:gd name="adj" fmla="val 13793"/>
            </a:avLst>
          </a:prstGeom>
          <a:solidFill>
            <a:srgbClr val="E07A3A"/>
          </a:solidFill>
          <a:ln w="12700">
            <a:solidFill>
              <a:srgbClr val="E07A3A"/>
            </a:solidFill>
          </a:ln>
        </p:spPr>
        <p:txBody>
          <a:bodyPr wrap="square" lIns="0" tIns="0" rIns="0" bIns="0" rtlCol="0" anchor="ctr"/>
          <a:lstStyle/>
          <a:p>
            <a:pPr marL="0" indent="0" algn="ctr">
              <a:buNone/>
            </a:pPr>
            <a:r>
              <a:rPr lang="en-US" sz="1600" b="1" dirty="0">
                <a:solidFill>
                  <a:srgbClr val="13202B"/>
                </a:solidFill>
                <a:latin typeface="Arial" pitchFamily="34" charset="0"/>
                <a:ea typeface="Arial" pitchFamily="34" charset="-122"/>
                <a:cs typeface="Arial" pitchFamily="34" charset="-120"/>
              </a:rPr>
              <a:t>HTML</a:t>
            </a:r>
            <a:endParaRPr lang="en-US" sz="1600" dirty="0"/>
          </a:p>
        </p:txBody>
      </p:sp>
      <p:sp>
        <p:nvSpPr>
          <p:cNvPr id="11" name="Shape 9"/>
          <p:cNvSpPr/>
          <p:nvPr/>
        </p:nvSpPr>
        <p:spPr>
          <a:xfrm>
            <a:off x="813816" y="2848656"/>
            <a:ext cx="6583680" cy="2170055"/>
          </a:xfrm>
          <a:prstGeom prst="roundRect">
            <a:avLst>
              <a:gd name="adj" fmla="val 3019"/>
            </a:avLst>
          </a:prstGeom>
          <a:solidFill>
            <a:srgbClr val="13202B"/>
          </a:solidFill>
          <a:ln w="12700">
            <a:solidFill>
              <a:srgbClr val="13202B"/>
            </a:solidFill>
            <a:prstDash val="solid"/>
          </a:ln>
        </p:spPr>
        <p:txBody>
          <a:bodyPr/>
          <a:lstStyle/>
          <a:p>
            <a:endParaRPr lang="fr-FR"/>
          </a:p>
        </p:txBody>
      </p:sp>
      <p:sp>
        <p:nvSpPr>
          <p:cNvPr id="13" name="Text 11"/>
          <p:cNvSpPr txBox="1"/>
          <p:nvPr/>
        </p:nvSpPr>
        <p:spPr>
          <a:xfrm>
            <a:off x="1069848" y="3208200"/>
            <a:ext cx="6126480" cy="1600200"/>
          </a:xfrm>
          <a:prstGeom prst="rect">
            <a:avLst/>
          </a:prstGeom>
          <a:noFill/>
          <a:ln/>
        </p:spPr>
        <p:txBody>
          <a:bodyPr wrap="square" lIns="0" tIns="0" rIns="0" bIns="0" rtlCol="0" anchor="t"/>
          <a:lstStyle/>
          <a:p>
            <a:pPr marL="0" indent="0">
              <a:lnSpc>
                <a:spcPct val="130000"/>
              </a:lnSpc>
              <a:buNone/>
            </a:pPr>
            <a:r>
              <a:rPr lang="en-US" sz="1400" dirty="0">
                <a:solidFill>
                  <a:srgbClr val="E6EDF2"/>
                </a:solidFill>
                <a:latin typeface="Courier New" pitchFamily="34" charset="0"/>
                <a:ea typeface="Courier New" pitchFamily="34" charset="-122"/>
                <a:cs typeface="Courier New" pitchFamily="34" charset="-120"/>
              </a:rPr>
              <a:t>&lt;ligne_facture refLogement="LOG-001"&gt;</a:t>
            </a:r>
            <a:endParaRPr lang="en-US" sz="1400" dirty="0"/>
          </a:p>
          <a:p>
            <a:pPr marL="0" indent="0">
              <a:lnSpc>
                <a:spcPct val="130000"/>
              </a:lnSpc>
              <a:buNone/>
            </a:pPr>
            <a:r>
              <a:rPr lang="en-US" sz="1400" dirty="0">
                <a:solidFill>
                  <a:srgbClr val="E6EDF2"/>
                </a:solidFill>
                <a:latin typeface="Courier New" pitchFamily="34" charset="0"/>
                <a:ea typeface="Courier New" pitchFamily="34" charset="-122"/>
                <a:cs typeface="Courier New" pitchFamily="34" charset="-120"/>
              </a:rPr>
              <a:t>  &lt;libelle&gt;Loyer mensuel&lt;/libelle&gt;</a:t>
            </a:r>
            <a:endParaRPr lang="en-US" sz="1400" dirty="0"/>
          </a:p>
          <a:p>
            <a:pPr marL="0" indent="0">
              <a:lnSpc>
                <a:spcPct val="130000"/>
              </a:lnSpc>
              <a:buNone/>
            </a:pPr>
            <a:r>
              <a:rPr lang="en-US" sz="1400" dirty="0">
                <a:solidFill>
                  <a:srgbClr val="E6EDF2"/>
                </a:solidFill>
                <a:latin typeface="Courier New" pitchFamily="34" charset="0"/>
                <a:ea typeface="Courier New" pitchFamily="34" charset="-122"/>
                <a:cs typeface="Courier New" pitchFamily="34" charset="-120"/>
              </a:rPr>
              <a:t>  &lt;montant&gt;600.0&lt;/montant&gt;</a:t>
            </a:r>
            <a:endParaRPr lang="en-US" sz="1400" dirty="0"/>
          </a:p>
          <a:p>
            <a:pPr marL="0" indent="0">
              <a:lnSpc>
                <a:spcPct val="130000"/>
              </a:lnSpc>
              <a:buNone/>
            </a:pPr>
            <a:r>
              <a:rPr lang="en-US" sz="1400" dirty="0">
                <a:solidFill>
                  <a:srgbClr val="E6EDF2"/>
                </a:solidFill>
                <a:latin typeface="Courier New" pitchFamily="34" charset="0"/>
                <a:ea typeface="Courier New" pitchFamily="34" charset="-122"/>
                <a:cs typeface="Courier New" pitchFamily="34" charset="-120"/>
              </a:rPr>
              <a:t>&lt;/ligne_facture&gt;</a:t>
            </a:r>
            <a:endParaRPr lang="en-US" sz="1400" dirty="0"/>
          </a:p>
          <a:p>
            <a:pPr marL="0" indent="0">
              <a:lnSpc>
                <a:spcPct val="130000"/>
              </a:lnSpc>
              <a:buNone/>
            </a:pPr>
            <a:r>
              <a:rPr lang="en-US" sz="1400" dirty="0">
                <a:solidFill>
                  <a:srgbClr val="E6EDF2"/>
                </a:solidFill>
                <a:latin typeface="Courier New" pitchFamily="34" charset="0"/>
                <a:ea typeface="Courier New" pitchFamily="34" charset="-122"/>
                <a:cs typeface="Courier New" pitchFamily="34" charset="-120"/>
              </a:rPr>
              <a:t>&lt;total devise="EUR"&gt;850.0&lt;/total&gt;</a:t>
            </a:r>
            <a:endParaRPr lang="en-US" sz="1400" dirty="0"/>
          </a:p>
        </p:txBody>
      </p:sp>
      <p:pic>
        <p:nvPicPr>
          <p:cNvPr id="15" name="Image 0" descr="Capture de la facture FAC-001 affichée en HTML, total 850.00 EUR"/>
          <p:cNvPicPr>
            <a:picLocks noChangeAspect="1"/>
          </p:cNvPicPr>
          <p:nvPr/>
        </p:nvPicPr>
        <p:blipFill>
          <a:blip r:embed="rId3"/>
          <a:stretch>
            <a:fillRect/>
          </a:stretch>
        </p:blipFill>
        <p:spPr>
          <a:xfrm>
            <a:off x="8133253" y="1965960"/>
            <a:ext cx="3241883" cy="3611880"/>
          </a:xfrm>
          <a:prstGeom prst="rect">
            <a:avLst/>
          </a:prstGeom>
        </p:spPr>
      </p:pic>
      <p:sp>
        <p:nvSpPr>
          <p:cNvPr id="25" name="Slide Number Placeholder 0"/>
          <p:cNvSpPr>
            <a:spLocks noGrp="1"/>
          </p:cNvSpPr>
          <p:nvPr>
            <p:ph type="sldNum" sz="quarter" idx="4294967295"/>
          </p:nvPr>
        </p:nvSpPr>
        <p:spPr>
          <a:xfrm>
            <a:off x="10735056" y="6236208"/>
            <a:ext cx="640080" cy="237744"/>
          </a:xfrm>
          <a:prstGeom prst="rect">
            <a:avLst/>
          </a:prstGeom>
          <a:extLst>
            <a:ext uri="{C572A759-6A51-4108-AA02-DFA0A04FC94B}">
              <ma14:wrappingTextBoxFlag xmlns="" xmlns:ma14="http://schemas.microsoft.com/office/mac/drawingml/2011/main" val="0"/>
            </a:ext>
          </a:extLst>
        </p:spPr>
        <p:txBody>
          <a:bodyPr lIns="0" tIns="0" rIns="0" bIns="0"/>
          <a:lstStyle>
            <a:lvl1pPr>
              <a:defRPr sz="1200">
                <a:solidFill>
                  <a:srgbClr val="7A848C"/>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F6F5E"/>
        </a:solidFill>
        <a:effectLst/>
      </p:bgPr>
    </p:bg>
    <p:spTree>
      <p:nvGrpSpPr>
        <p:cNvPr id="1" name=""/>
        <p:cNvGrpSpPr/>
        <p:nvPr/>
      </p:nvGrpSpPr>
      <p:grpSpPr>
        <a:xfrm>
          <a:off x="0" y="0"/>
          <a:ext cx="0" cy="0"/>
          <a:chOff x="0" y="0"/>
          <a:chExt cx="0" cy="0"/>
        </a:xfrm>
      </p:grpSpPr>
      <p:sp>
        <p:nvSpPr>
          <p:cNvPr id="2" name="TextBox 1"/>
          <p:cNvSpPr txBox="1"/>
          <p:nvPr/>
        </p:nvSpPr>
        <p:spPr>
          <a:xfrm>
            <a:off x="0" y="2606040"/>
            <a:ext cx="12192000" cy="1097280"/>
          </a:xfrm>
          <a:prstGeom prst="rect">
            <a:avLst/>
          </a:prstGeom>
          <a:noFill/>
        </p:spPr>
        <p:txBody>
          <a:bodyPr wrap="none" lIns="0" tIns="0" rIns="0" bIns="0" anchor="ctr">
            <a:spAutoFit/>
          </a:bodyPr>
          <a:lstStyle/>
          <a:p>
            <a:pPr algn="ctr"/>
            <a:r>
              <a:rPr sz="6000" b="1">
                <a:solidFill>
                  <a:srgbClr val="FFFFFF"/>
                </a:solidFill>
                <a:latin typeface="Arial"/>
              </a:rPr>
              <a:t>DÉMO</a:t>
            </a:r>
          </a:p>
        </p:txBody>
      </p:sp>
    </p:spTree>
    <p:extLst>
      <p:ext uri="{BB962C8B-B14F-4D97-AF65-F5344CB8AC3E}">
        <p14:creationId xmlns:p14="http://schemas.microsoft.com/office/powerpoint/2010/main" val="8338325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923</Words>
  <Application>Microsoft Office PowerPoint</Application>
  <PresentationFormat>Grand écran</PresentationFormat>
  <Paragraphs>118</Paragraphs>
  <Slides>8</Slides>
  <Notes>7</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8</vt:i4>
      </vt:variant>
    </vt:vector>
  </HeadingPairs>
  <TitlesOfParts>
    <vt:vector size="11" baseType="lpstr">
      <vt:lpstr>Arial</vt:lpstr>
      <vt:lpstr>Courier New</vt:lpstr>
      <vt:lpstr>Office Theme</vt:lpstr>
      <vt:lpstr>App de creation de facture</vt:lpstr>
      <vt:lpstr>Parcours des données</vt:lpstr>
      <vt:lpstr>Quelles données pour une facture ?</vt:lpstr>
      <vt:lpstr>Stack utilisée</vt:lpstr>
      <vt:lpstr>Présentation PowerPoint</vt:lpstr>
      <vt:lpstr>L’offre en texte libre</vt:lpstr>
      <vt:lpstr>Le chemin inverse : de la BDD au HTML</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 l’offre de logement à la facture</dc:title>
  <dc:subject>PptxGenJS Presentation</dc:subject>
  <dc:creator>Mohamed Benguezzou, Rayan La Monica, Giovanni Cinque, Jughurta Mehenni, Mohamed-Amine Benkacem</dc:creator>
  <cp:lastModifiedBy>Mohamed Benguezzou</cp:lastModifiedBy>
  <cp:revision>7</cp:revision>
  <dcterms:created xsi:type="dcterms:W3CDTF">2026-10-06T20:06:23Z</dcterms:created>
  <dcterms:modified xsi:type="dcterms:W3CDTF">2026-10-06T22:05:09Z</dcterms:modified>
</cp:coreProperties>
</file>